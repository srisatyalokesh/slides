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notesMasterIdLst>
    <p:notesMasterId r:id="rId14"/>
  </p:notesMasterIdLst>
  <p:handoutMasterIdLst>
    <p:handoutMasterId r:id="rId15"/>
  </p:handoutMasterIdLst>
  <p:sldIdLst>
    <p:sldId id="679" r:id="rId2"/>
    <p:sldId id="330" r:id="rId3"/>
    <p:sldId id="2147470914" r:id="rId4"/>
    <p:sldId id="2147470950" r:id="rId5"/>
    <p:sldId id="2147470949" r:id="rId6"/>
    <p:sldId id="2147470951" r:id="rId7"/>
    <p:sldId id="2147470952" r:id="rId8"/>
    <p:sldId id="2147470953" r:id="rId9"/>
    <p:sldId id="2147470925" r:id="rId10"/>
    <p:sldId id="2147470948" r:id="rId11"/>
    <p:sldId id="2147470967" r:id="rId12"/>
    <p:sldId id="60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s" id="{385D34A4-7E3C-4778-8092-DA3D4E465E55}">
          <p14:sldIdLst>
            <p14:sldId id="679"/>
          </p14:sldIdLst>
        </p14:section>
        <p14:section name="CLI" id="{0664FFC0-5C97-4B28-BDFD-C07AFD1F212C}">
          <p14:sldIdLst>
            <p14:sldId id="330"/>
            <p14:sldId id="2147470914"/>
            <p14:sldId id="2147470950"/>
            <p14:sldId id="2147470949"/>
            <p14:sldId id="2147470951"/>
            <p14:sldId id="2147470952"/>
            <p14:sldId id="2147470953"/>
            <p14:sldId id="2147470925"/>
            <p14:sldId id="2147470948"/>
            <p14:sldId id="2147470967"/>
          </p14:sldIdLst>
        </p14:section>
        <p14:section name="Thank you" id="{08508A40-E246-4DD9-B36F-C59E0B83A954}">
          <p14:sldIdLst>
            <p14:sldId id="6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9FF0"/>
    <a:srgbClr val="7A3ACF"/>
    <a:srgbClr val="000000"/>
    <a:srgbClr val="080922"/>
    <a:srgbClr val="6C36CB"/>
    <a:srgbClr val="8BF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6E4E60-A342-483D-BBAA-2415AB4922F0}" v="7" dt="2026-04-19T09:13:11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46" autoAdjust="0"/>
    <p:restoredTop sz="75290" autoAdjust="0"/>
  </p:normalViewPr>
  <p:slideViewPr>
    <p:cSldViewPr snapToGrid="0">
      <p:cViewPr>
        <p:scale>
          <a:sx n="100" d="100"/>
          <a:sy n="100" d="100"/>
        </p:scale>
        <p:origin x="-946" y="-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093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 K" userId="91d75451-9371-4626-bb7d-6aed861dff58" providerId="ADAL" clId="{D4DA37DE-10E2-4E63-9883-520D4E98CEDC}"/>
    <pc:docChg chg="undo custSel addSld delSld modSld modSection">
      <pc:chgData name="Satya K" userId="91d75451-9371-4626-bb7d-6aed861dff58" providerId="ADAL" clId="{D4DA37DE-10E2-4E63-9883-520D4E98CEDC}" dt="2026-04-19T09:13:42.819" v="276" actId="1076"/>
      <pc:docMkLst>
        <pc:docMk/>
      </pc:docMkLst>
      <pc:sldChg chg="modNotesTx">
        <pc:chgData name="Satya K" userId="91d75451-9371-4626-bb7d-6aed861dff58" providerId="ADAL" clId="{D4DA37DE-10E2-4E63-9883-520D4E98CEDC}" dt="2026-04-19T09:03:09.598" v="1" actId="20577"/>
        <pc:sldMkLst>
          <pc:docMk/>
          <pc:sldMk cId="1564065204" sldId="330"/>
        </pc:sldMkLst>
      </pc:sldChg>
      <pc:sldChg chg="modNotesTx">
        <pc:chgData name="Satya K" userId="91d75451-9371-4626-bb7d-6aed861dff58" providerId="ADAL" clId="{D4DA37DE-10E2-4E63-9883-520D4E98CEDC}" dt="2026-04-19T09:03:06.631" v="0" actId="20577"/>
        <pc:sldMkLst>
          <pc:docMk/>
          <pc:sldMk cId="3998713514" sldId="679"/>
        </pc:sldMkLst>
      </pc:sldChg>
      <pc:sldChg chg="modNotesTx">
        <pc:chgData name="Satya K" userId="91d75451-9371-4626-bb7d-6aed861dff58" providerId="ADAL" clId="{D4DA37DE-10E2-4E63-9883-520D4E98CEDC}" dt="2026-04-19T09:03:17.569" v="2" actId="20577"/>
        <pc:sldMkLst>
          <pc:docMk/>
          <pc:sldMk cId="3991544562" sldId="2147470914"/>
        </pc:sldMkLst>
      </pc:sldChg>
      <pc:sldChg chg="modNotesTx">
        <pc:chgData name="Satya K" userId="91d75451-9371-4626-bb7d-6aed861dff58" providerId="ADAL" clId="{D4DA37DE-10E2-4E63-9883-520D4E98CEDC}" dt="2026-04-19T09:05:05.916" v="24" actId="20577"/>
        <pc:sldMkLst>
          <pc:docMk/>
          <pc:sldMk cId="4146158640" sldId="2147470925"/>
        </pc:sldMkLst>
      </pc:sldChg>
      <pc:sldChg chg="modNotesTx">
        <pc:chgData name="Satya K" userId="91d75451-9371-4626-bb7d-6aed861dff58" providerId="ADAL" clId="{D4DA37DE-10E2-4E63-9883-520D4E98CEDC}" dt="2026-04-19T09:03:40.269" v="6" actId="20577"/>
        <pc:sldMkLst>
          <pc:docMk/>
          <pc:sldMk cId="2468173646" sldId="2147470949"/>
        </pc:sldMkLst>
      </pc:sldChg>
      <pc:sldChg chg="modNotesTx">
        <pc:chgData name="Satya K" userId="91d75451-9371-4626-bb7d-6aed861dff58" providerId="ADAL" clId="{D4DA37DE-10E2-4E63-9883-520D4E98CEDC}" dt="2026-04-19T09:03:27.827" v="4" actId="20577"/>
        <pc:sldMkLst>
          <pc:docMk/>
          <pc:sldMk cId="1925687306" sldId="2147470950"/>
        </pc:sldMkLst>
      </pc:sldChg>
      <pc:sldChg chg="modNotesTx">
        <pc:chgData name="Satya K" userId="91d75451-9371-4626-bb7d-6aed861dff58" providerId="ADAL" clId="{D4DA37DE-10E2-4E63-9883-520D4E98CEDC}" dt="2026-04-19T09:03:54.745" v="7" actId="20577"/>
        <pc:sldMkLst>
          <pc:docMk/>
          <pc:sldMk cId="663574550" sldId="2147470951"/>
        </pc:sldMkLst>
      </pc:sldChg>
      <pc:sldChg chg="modNotesTx">
        <pc:chgData name="Satya K" userId="91d75451-9371-4626-bb7d-6aed861dff58" providerId="ADAL" clId="{D4DA37DE-10E2-4E63-9883-520D4E98CEDC}" dt="2026-04-19T09:04:15.578" v="11" actId="20577"/>
        <pc:sldMkLst>
          <pc:docMk/>
          <pc:sldMk cId="4207605570" sldId="2147470952"/>
        </pc:sldMkLst>
      </pc:sldChg>
      <pc:sldChg chg="modNotesTx">
        <pc:chgData name="Satya K" userId="91d75451-9371-4626-bb7d-6aed861dff58" providerId="ADAL" clId="{D4DA37DE-10E2-4E63-9883-520D4E98CEDC}" dt="2026-04-19T09:04:38.159" v="17" actId="20577"/>
        <pc:sldMkLst>
          <pc:docMk/>
          <pc:sldMk cId="21528847" sldId="2147470953"/>
        </pc:sldMkLst>
      </pc:sldChg>
      <pc:sldChg chg="new del">
        <pc:chgData name="Satya K" userId="91d75451-9371-4626-bb7d-6aed861dff58" providerId="ADAL" clId="{D4DA37DE-10E2-4E63-9883-520D4E98CEDC}" dt="2026-04-19T09:05:33.321" v="27" actId="2696"/>
        <pc:sldMkLst>
          <pc:docMk/>
          <pc:sldMk cId="2491804366" sldId="2147470954"/>
        </pc:sldMkLst>
      </pc:sldChg>
      <pc:sldChg chg="addSp delSp modSp add mod">
        <pc:chgData name="Satya K" userId="91d75451-9371-4626-bb7d-6aed861dff58" providerId="ADAL" clId="{D4DA37DE-10E2-4E63-9883-520D4E98CEDC}" dt="2026-04-19T09:13:42.819" v="276" actId="1076"/>
        <pc:sldMkLst>
          <pc:docMk/>
          <pc:sldMk cId="1400312343" sldId="2147470967"/>
        </pc:sldMkLst>
        <pc:spChg chg="add mod">
          <ac:chgData name="Satya K" userId="91d75451-9371-4626-bb7d-6aed861dff58" providerId="ADAL" clId="{D4DA37DE-10E2-4E63-9883-520D4E98CEDC}" dt="2026-04-19T09:08:53.921" v="67" actId="1076"/>
          <ac:spMkLst>
            <pc:docMk/>
            <pc:sldMk cId="1400312343" sldId="2147470967"/>
            <ac:spMk id="13" creationId="{8460C308-A2EC-00D6-F456-CC5B48D4AFDD}"/>
          </ac:spMkLst>
        </pc:spChg>
        <pc:spChg chg="add mod">
          <ac:chgData name="Satya K" userId="91d75451-9371-4626-bb7d-6aed861dff58" providerId="ADAL" clId="{D4DA37DE-10E2-4E63-9883-520D4E98CEDC}" dt="2026-04-19T09:11:52.876" v="131" actId="1076"/>
          <ac:spMkLst>
            <pc:docMk/>
            <pc:sldMk cId="1400312343" sldId="2147470967"/>
            <ac:spMk id="19" creationId="{8D52A538-0CBC-5F92-3B51-51A873227196}"/>
          </ac:spMkLst>
        </pc:spChg>
        <pc:spChg chg="add mod">
          <ac:chgData name="Satya K" userId="91d75451-9371-4626-bb7d-6aed861dff58" providerId="ADAL" clId="{D4DA37DE-10E2-4E63-9883-520D4E98CEDC}" dt="2026-04-19T09:13:05.388" v="238" actId="20577"/>
          <ac:spMkLst>
            <pc:docMk/>
            <pc:sldMk cId="1400312343" sldId="2147470967"/>
            <ac:spMk id="20" creationId="{DFF008C5-9274-DB36-1E2F-D64693280B44}"/>
          </ac:spMkLst>
        </pc:spChg>
        <pc:spChg chg="add mod">
          <ac:chgData name="Satya K" userId="91d75451-9371-4626-bb7d-6aed861dff58" providerId="ADAL" clId="{D4DA37DE-10E2-4E63-9883-520D4E98CEDC}" dt="2026-04-19T09:12:45.770" v="211" actId="1076"/>
          <ac:spMkLst>
            <pc:docMk/>
            <pc:sldMk cId="1400312343" sldId="2147470967"/>
            <ac:spMk id="21" creationId="{23CAF2C0-911A-7813-AA2E-4284F9565E8B}"/>
          </ac:spMkLst>
        </pc:spChg>
        <pc:spChg chg="add mod">
          <ac:chgData name="Satya K" userId="91d75451-9371-4626-bb7d-6aed861dff58" providerId="ADAL" clId="{D4DA37DE-10E2-4E63-9883-520D4E98CEDC}" dt="2026-04-19T09:13:42.819" v="276" actId="1076"/>
          <ac:spMkLst>
            <pc:docMk/>
            <pc:sldMk cId="1400312343" sldId="2147470967"/>
            <ac:spMk id="22" creationId="{29FE1F0D-EEF3-DA73-3D17-5B6AA633E92A}"/>
          </ac:spMkLst>
        </pc:spChg>
        <pc:picChg chg="add del mod">
          <ac:chgData name="Satya K" userId="91d75451-9371-4626-bb7d-6aed861dff58" providerId="ADAL" clId="{D4DA37DE-10E2-4E63-9883-520D4E98CEDC}" dt="2026-04-19T09:07:44.443" v="39" actId="478"/>
          <ac:picMkLst>
            <pc:docMk/>
            <pc:sldMk cId="1400312343" sldId="2147470967"/>
            <ac:picMk id="4" creationId="{929BC56F-D2D7-8D9C-9AB0-363335F6DBF4}"/>
          </ac:picMkLst>
        </pc:picChg>
        <pc:picChg chg="del mod">
          <ac:chgData name="Satya K" userId="91d75451-9371-4626-bb7d-6aed861dff58" providerId="ADAL" clId="{D4DA37DE-10E2-4E63-9883-520D4E98CEDC}" dt="2026-04-19T09:07:58.742" v="43" actId="478"/>
          <ac:picMkLst>
            <pc:docMk/>
            <pc:sldMk cId="1400312343" sldId="2147470967"/>
            <ac:picMk id="6" creationId="{AB8E8D97-EDC6-7271-8806-026FBDBFE037}"/>
          </ac:picMkLst>
        </pc:picChg>
        <pc:picChg chg="mod">
          <ac:chgData name="Satya K" userId="91d75451-9371-4626-bb7d-6aed861dff58" providerId="ADAL" clId="{D4DA37DE-10E2-4E63-9883-520D4E98CEDC}" dt="2026-04-19T09:10:40.101" v="80" actId="1076"/>
          <ac:picMkLst>
            <pc:docMk/>
            <pc:sldMk cId="1400312343" sldId="2147470967"/>
            <ac:picMk id="7" creationId="{ADD2A8E1-689C-5FF6-2EEA-77B8E56E0A1C}"/>
          </ac:picMkLst>
        </pc:picChg>
        <pc:picChg chg="add mod">
          <ac:chgData name="Satya K" userId="91d75451-9371-4626-bb7d-6aed861dff58" providerId="ADAL" clId="{D4DA37DE-10E2-4E63-9883-520D4E98CEDC}" dt="2026-04-19T09:11:47.805" v="130" actId="1076"/>
          <ac:picMkLst>
            <pc:docMk/>
            <pc:sldMk cId="1400312343" sldId="2147470967"/>
            <ac:picMk id="8" creationId="{1C00777C-ED37-BBDF-AD41-6D0DB136B866}"/>
          </ac:picMkLst>
        </pc:picChg>
        <pc:picChg chg="add del mod">
          <ac:chgData name="Satya K" userId="91d75451-9371-4626-bb7d-6aed861dff58" providerId="ADAL" clId="{D4DA37DE-10E2-4E63-9883-520D4E98CEDC}" dt="2026-04-19T09:08:14.798" v="45" actId="478"/>
          <ac:picMkLst>
            <pc:docMk/>
            <pc:sldMk cId="1400312343" sldId="2147470967"/>
            <ac:picMk id="9" creationId="{131239FD-5828-29A1-3568-AC271DEA2F68}"/>
          </ac:picMkLst>
        </pc:picChg>
        <pc:picChg chg="del">
          <ac:chgData name="Satya K" userId="91d75451-9371-4626-bb7d-6aed861dff58" providerId="ADAL" clId="{D4DA37DE-10E2-4E63-9883-520D4E98CEDC}" dt="2026-04-19T09:05:41.932" v="29" actId="478"/>
          <ac:picMkLst>
            <pc:docMk/>
            <pc:sldMk cId="1400312343" sldId="2147470967"/>
            <ac:picMk id="10" creationId="{CEB9D3C3-3DCD-BCA2-5212-35F71C19FFD5}"/>
          </ac:picMkLst>
        </pc:picChg>
        <pc:picChg chg="add mod">
          <ac:chgData name="Satya K" userId="91d75451-9371-4626-bb7d-6aed861dff58" providerId="ADAL" clId="{D4DA37DE-10E2-4E63-9883-520D4E98CEDC}" dt="2026-04-19T09:09:25.053" v="74" actId="1076"/>
          <ac:picMkLst>
            <pc:docMk/>
            <pc:sldMk cId="1400312343" sldId="2147470967"/>
            <ac:picMk id="12" creationId="{CC175F6B-3F77-7AAA-25C2-683F6A1EACEB}"/>
          </ac:picMkLst>
        </pc:picChg>
        <pc:picChg chg="del">
          <ac:chgData name="Satya K" userId="91d75451-9371-4626-bb7d-6aed861dff58" providerId="ADAL" clId="{D4DA37DE-10E2-4E63-9883-520D4E98CEDC}" dt="2026-04-19T09:05:39.437" v="28" actId="478"/>
          <ac:picMkLst>
            <pc:docMk/>
            <pc:sldMk cId="1400312343" sldId="2147470967"/>
            <ac:picMk id="15" creationId="{97A0C50C-C5F1-3951-DDAD-413A2953E870}"/>
          </ac:picMkLst>
        </pc:picChg>
        <pc:picChg chg="add mod">
          <ac:chgData name="Satya K" userId="91d75451-9371-4626-bb7d-6aed861dff58" providerId="ADAL" clId="{D4DA37DE-10E2-4E63-9883-520D4E98CEDC}" dt="2026-04-19T09:09:26.828" v="75" actId="1076"/>
          <ac:picMkLst>
            <pc:docMk/>
            <pc:sldMk cId="1400312343" sldId="2147470967"/>
            <ac:picMk id="16" creationId="{B6FA48BE-BE2F-F840-575E-F00699E690CB}"/>
          </ac:picMkLst>
        </pc:picChg>
        <pc:picChg chg="add mod">
          <ac:chgData name="Satya K" userId="91d75451-9371-4626-bb7d-6aed861dff58" providerId="ADAL" clId="{D4DA37DE-10E2-4E63-9883-520D4E98CEDC}" dt="2026-04-19T09:10:35.704" v="79" actId="1076"/>
          <ac:picMkLst>
            <pc:docMk/>
            <pc:sldMk cId="1400312343" sldId="2147470967"/>
            <ac:picMk id="18" creationId="{4CBA09F9-D034-3B5A-E3A6-6C6344274D0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78B027-873C-7CE8-EF99-E50AE015D6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BEEC3B-0A93-4D1A-3898-A0EF07120F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9C32B-9090-4D5E-8893-2200DA8B648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0F166-7BE4-1F4E-8B0F-7BFD37A9F0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AFD4D-477B-C4E4-AD08-2131BB8A3F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32C76-01A7-41D2-BA16-3BEC88438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67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B0C1E-A73E-4994-A7F0-AA72833EDF2C}" type="datetimeFigureOut"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E318D-D634-447D-804D-1A35DED75EB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43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35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CC903-1DA1-D605-A688-0EA10A77B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43261-B271-5010-F524-3406457C3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C85BC0-7F22-3399-D2F9-9F64B6C99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546A6-52A9-2AE7-850A-040CA34FF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6C1656-E6D2-D941-BA7D-9511EB8905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2743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670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is the real workflow most people follow…”</a:t>
            </a:r>
          </a:p>
          <a:p>
            <a:r>
              <a:rPr lang="en-US" dirty="0"/>
              <a:t>“You’re not building a product…</a:t>
            </a:r>
            <a:br>
              <a:rPr lang="en-US" dirty="0"/>
            </a:br>
            <a:r>
              <a:rPr lang="en-US" dirty="0"/>
              <a:t>you’re </a:t>
            </a:r>
            <a:r>
              <a:rPr lang="en-US" i="1" dirty="0"/>
              <a:t>negotiating with AI</a:t>
            </a:r>
            <a:r>
              <a:rPr lang="en-US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7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FA2B8-A5E6-6510-7D5C-2B37A7232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5023E2-3C18-5D6C-A8EF-89F3283DC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2FA14-AB49-588A-4832-1CEE8C9CD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“AI doesn’t think long-term…”</a:t>
            </a:r>
          </a:p>
          <a:p>
            <a:r>
              <a:rPr lang="en-US" dirty="0"/>
              <a:t>“It thinks: ‘What’s the fastest way to make this work right now?’”</a:t>
            </a:r>
            <a:br>
              <a:rPr lang="en-US" dirty="0"/>
            </a:br>
            <a:r>
              <a:rPr lang="en-US" dirty="0"/>
              <a:t>“AI will help you build something that works…and hackers will help you regret it.”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If your agent has no tools… no structure… </a:t>
            </a:r>
            <a:r>
              <a:rPr lang="en-US" b="1" dirty="0">
                <a:solidFill>
                  <a:schemeClr val="accent3"/>
                </a:solidFill>
                <a:latin typeface="Abadi" panose="020B0604020104020204" pitchFamily="34" charset="0"/>
              </a:rPr>
              <a:t>congratulations</a:t>
            </a: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  you hired an intern and gave them production access.”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022B3-05CF-66FB-EDA2-0B8127550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53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C3BC4-A05D-7F7B-76D3-58B2E25AE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B60E72-A7E8-686A-4963-F54C44635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F4376-5400-4A3A-18DB-DAB0769FB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“AI is like an intern…”</a:t>
            </a:r>
            <a:r>
              <a:rPr lang="en-US" dirty="0" err="1"/>
              <a:t>Pause.“A</a:t>
            </a:r>
            <a:r>
              <a:rPr lang="en-US" dirty="0"/>
              <a:t> very fast intern…slightly overconfident…and will </a:t>
            </a:r>
            <a:r>
              <a:rPr lang="en-US" i="1" dirty="0"/>
              <a:t>absolutely do the wrong thing confidently</a:t>
            </a:r>
            <a:r>
              <a:rPr lang="en-US" dirty="0"/>
              <a:t>.”</a:t>
            </a:r>
          </a:p>
          <a:p>
            <a:r>
              <a:rPr lang="en-US" dirty="0"/>
              <a:t>“You didn’t give it skills…</a:t>
            </a:r>
            <a:br>
              <a:rPr lang="en-US" dirty="0"/>
            </a:br>
            <a:r>
              <a:rPr lang="en-US" dirty="0"/>
              <a:t>you gave it </a:t>
            </a:r>
            <a:r>
              <a:rPr lang="en-US" i="1" dirty="0"/>
              <a:t>vibes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CFD1A-8D22-E041-82A0-07D17E1FC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12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8E845-1B5A-1CAE-79A0-91F45069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FB4A15-72F4-0646-3253-3BBF472D4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45E12E-3A43-5C35-A284-C97E20CC4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“Instead of coding… we start with a </a:t>
            </a:r>
            <a:r>
              <a:rPr lang="en-US" i="1" dirty="0"/>
              <a:t>design discussion</a:t>
            </a:r>
            <a:r>
              <a:rPr lang="en-US" dirty="0"/>
              <a:t>.”</a:t>
            </a:r>
          </a:p>
          <a:p>
            <a:r>
              <a:rPr lang="en-US" dirty="0"/>
              <a:t>“You are not asking AI to build…</a:t>
            </a:r>
            <a:br>
              <a:rPr lang="en-US" dirty="0"/>
            </a:br>
            <a:r>
              <a:rPr lang="en-US" dirty="0"/>
              <a:t>you are asking AI to </a:t>
            </a:r>
            <a:r>
              <a:rPr lang="en-US" i="1" dirty="0"/>
              <a:t>challenge your thinking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59C1A-F03F-A14F-10D5-FAE6B53F9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47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8322C-98A1-6BF2-1045-9D4E30B53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B74BD-BD74-1E23-6CCD-21B11DB90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671BB-3F31-6750-CC97-6CDE1C610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“Earlier… we were just throwing prompts at AI and hoping something works.”</a:t>
            </a:r>
          </a:p>
          <a:p>
            <a:r>
              <a:rPr lang="en-US" dirty="0"/>
              <a:t>“Now… we give AI a </a:t>
            </a:r>
            <a:r>
              <a:rPr lang="en-US" b="1" dirty="0"/>
              <a:t>clear system to execute</a:t>
            </a:r>
            <a:r>
              <a:rPr lang="en-US" dirty="0"/>
              <a:t>.”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“Don’t ask AI ‘what should I do next?’</a:t>
            </a:r>
            <a:br>
              <a:rPr lang="en-US" dirty="0"/>
            </a:br>
            <a:r>
              <a:rPr lang="en-US" dirty="0"/>
              <a:t>Tell it ‘this is the plan — execute step 3.’”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“The biggest shift is this…”</a:t>
            </a:r>
          </a:p>
          <a:p>
            <a:r>
              <a:rPr lang="en-US" dirty="0"/>
              <a:t>“You are no longer </a:t>
            </a:r>
            <a:r>
              <a:rPr lang="en-US" i="1" dirty="0"/>
              <a:t>prompting randomly</a:t>
            </a:r>
            <a:r>
              <a:rPr lang="en-US" dirty="0"/>
              <a:t>…”</a:t>
            </a:r>
          </a:p>
          <a:p>
            <a:r>
              <a:rPr lang="en-US" dirty="0"/>
              <a:t>“You are </a:t>
            </a:r>
            <a:r>
              <a:rPr lang="en-US" i="1" dirty="0"/>
              <a:t>running a development pipeline with AI</a:t>
            </a:r>
            <a:r>
              <a:rPr lang="en-US" dirty="0"/>
              <a:t>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8A04C-4422-3D8F-FB7E-1DE6A1B0B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84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BF9E2-B028-1D4A-824A-6FAF8B8FA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11799-576E-7F3E-4AB8-CA4E1065F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37FE0-BECD-E285-31B9-92B1F66FA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b="1" dirty="0"/>
              <a:t>Earlier loop: panic</a:t>
            </a:r>
            <a:br>
              <a:rPr lang="en-US" b="1" dirty="0"/>
            </a:br>
            <a:r>
              <a:rPr lang="en-US" b="1" dirty="0"/>
              <a:t>Current loop: progress”</a:t>
            </a:r>
          </a:p>
          <a:p>
            <a:endParaRPr lang="en-US" b="1" dirty="0"/>
          </a:p>
          <a:p>
            <a:r>
              <a:rPr lang="en-US" dirty="0"/>
              <a:t>“This workflow looks longer… But this is the </a:t>
            </a:r>
            <a:r>
              <a:rPr lang="en-US" i="1" dirty="0"/>
              <a:t>shortest path to something that actually works</a:t>
            </a:r>
            <a:r>
              <a:rPr lang="en-US" dirty="0"/>
              <a:t>.”</a:t>
            </a:r>
          </a:p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E5C35-030C-F81F-C41C-D82C24A40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76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“You didn’t learn a tool today…”</a:t>
            </a:r>
          </a:p>
          <a:p>
            <a:r>
              <a:rPr lang="en-US" dirty="0"/>
              <a:t>“You learned how to </a:t>
            </a:r>
            <a:r>
              <a:rPr lang="en-US" i="1" dirty="0"/>
              <a:t>think with AI</a:t>
            </a:r>
            <a:r>
              <a:rPr lang="en-US" dirty="0"/>
              <a:t>.”</a:t>
            </a:r>
          </a:p>
          <a:p>
            <a:endParaRPr lang="en-US" dirty="0"/>
          </a:p>
          <a:p>
            <a:r>
              <a:rPr lang="en-US" b="1" dirty="0"/>
              <a:t>“Don’t ask AI to think for you…</a:t>
            </a:r>
            <a:br>
              <a:rPr lang="en-US" b="1" dirty="0"/>
            </a:br>
            <a:r>
              <a:rPr lang="en-US" b="1" dirty="0"/>
              <a:t>make AI execute your thinking.” </a:t>
            </a:r>
          </a:p>
          <a:p>
            <a:endParaRPr lang="en-US" b="1" dirty="0"/>
          </a:p>
          <a:p>
            <a:r>
              <a:rPr lang="en-US" dirty="0"/>
              <a:t>“Next time you open ChatGPT…”, “Don’t say ‘build this for me’…”</a:t>
            </a:r>
          </a:p>
          <a:p>
            <a:r>
              <a:rPr lang="en-US" dirty="0"/>
              <a:t>“Say… ‘here’s the system — let’s execute it.’”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25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848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alright let's open it up for 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E318D-D634-447D-804D-1A35DED75EB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24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nal/Town Halls_Blan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6162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Splash page - event log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1FFF5AE7-693A-1EA1-448A-851073E1E86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887157"/>
            <a:ext cx="5263744" cy="5083685"/>
          </a:xfrm>
          <a:prstGeom prst="roundRect">
            <a:avLst>
              <a:gd name="adj" fmla="val 2850"/>
            </a:avLst>
          </a:prstGeom>
          <a:noFill/>
          <a:ln>
            <a:solidFill>
              <a:schemeClr val="tx2"/>
            </a:solidFill>
          </a:ln>
          <a:effectLst>
            <a:outerShdw blurRad="226684" dist="365489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1800">
                <a:latin typeface="Aptos" pitchFamily="2" charset="77"/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CB63979A-A17F-E938-C84A-1AB2E69FC6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8765" y="4406716"/>
            <a:ext cx="4435909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9C4B9E08-03E4-3991-C992-D35CCFCE104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8767" y="1573760"/>
            <a:ext cx="4435906" cy="2685089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3600" b="1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that should be 10 words or less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37D3A4FC-8E41-6E24-0959-8E3974B113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8765" y="887157"/>
            <a:ext cx="443590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600476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urity_Roadmap slide_1 fea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79C7943A-B90A-54C3-B112-3171A8FDB2F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88062" y="0"/>
            <a:ext cx="6103938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FBBC732-E702-3E6F-497C-7F29694D13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67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36049FF2-2512-15EC-0BC5-02E04BA2768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67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0DE6B89-9C84-0073-FFF4-317627227D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678" y="1078522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The name of the new feature/tool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F09B9F-3FE4-6399-1385-FFD635ADD1DA}"/>
              </a:ext>
            </a:extLst>
          </p:cNvPr>
          <p:cNvSpPr/>
          <p:nvPr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17D17F9-863A-DEA9-AD9D-B5963C46FDA4}"/>
              </a:ext>
            </a:extLst>
          </p:cNvPr>
          <p:cNvSpPr/>
          <p:nvPr/>
        </p:nvSpPr>
        <p:spPr>
          <a:xfrm>
            <a:off x="-6317174" y="1078345"/>
            <a:ext cx="2669164" cy="415936"/>
          </a:xfrm>
          <a:prstGeom prst="roundRect">
            <a:avLst>
              <a:gd name="adj" fmla="val 50000"/>
            </a:avLst>
          </a:prstGeom>
          <a:noFill/>
          <a:ln w="12700">
            <a:gradFill flip="none" rotWithShape="1">
              <a:gsLst>
                <a:gs pos="0">
                  <a:srgbClr val="8342FB"/>
                </a:gs>
                <a:gs pos="47000">
                  <a:srgbClr val="3194FF"/>
                </a:gs>
                <a:gs pos="100000">
                  <a:schemeClr val="accent3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>
                <a:latin typeface="Aptos" pitchFamily="2" charset="77"/>
              </a:rPr>
              <a:t>       </a:t>
            </a:r>
            <a:r>
              <a:rPr lang="en-US" sz="1600">
                <a:latin typeface="Aptos" pitchFamily="2" charset="77"/>
              </a:rPr>
              <a:t>Copilot feature name</a:t>
            </a:r>
          </a:p>
        </p:txBody>
      </p:sp>
      <p:grpSp>
        <p:nvGrpSpPr>
          <p:cNvPr id="17" name="Google Shape;1693;p69">
            <a:extLst>
              <a:ext uri="{FF2B5EF4-FFF2-40B4-BE49-F238E27FC236}">
                <a16:creationId xmlns:a16="http://schemas.microsoft.com/office/drawing/2014/main" id="{90C9FAD5-5318-45E8-71B2-93F19CCC648E}"/>
              </a:ext>
            </a:extLst>
          </p:cNvPr>
          <p:cNvGrpSpPr/>
          <p:nvPr/>
        </p:nvGrpSpPr>
        <p:grpSpPr>
          <a:xfrm>
            <a:off x="-6166919" y="1201727"/>
            <a:ext cx="192384" cy="160586"/>
            <a:chOff x="690700" y="246575"/>
            <a:chExt cx="6228425" cy="5199000"/>
          </a:xfrm>
        </p:grpSpPr>
        <p:sp>
          <p:nvSpPr>
            <p:cNvPr id="18" name="Google Shape;1694;p69">
              <a:extLst>
                <a:ext uri="{FF2B5EF4-FFF2-40B4-BE49-F238E27FC236}">
                  <a16:creationId xmlns:a16="http://schemas.microsoft.com/office/drawing/2014/main" id="{9181ADA1-486B-A4ED-A80A-733E51A55A58}"/>
                </a:ext>
              </a:extLst>
            </p:cNvPr>
            <p:cNvSpPr/>
            <p:nvPr/>
          </p:nvSpPr>
          <p:spPr>
            <a:xfrm>
              <a:off x="690700" y="246575"/>
              <a:ext cx="6228425" cy="5199000"/>
            </a:xfrm>
            <a:custGeom>
              <a:avLst/>
              <a:gdLst/>
              <a:ahLst/>
              <a:cxnLst/>
              <a:rect l="l" t="t" r="r" b="b"/>
              <a:pathLst>
                <a:path w="249137" h="207960" extrusionOk="0">
                  <a:moveTo>
                    <a:pt x="248256" y="155809"/>
                  </a:moveTo>
                  <a:cubicBezTo>
                    <a:pt x="239350" y="171352"/>
                    <a:pt x="187470" y="207959"/>
                    <a:pt x="124585" y="207959"/>
                  </a:cubicBezTo>
                  <a:cubicBezTo>
                    <a:pt x="61666" y="207959"/>
                    <a:pt x="9787" y="171352"/>
                    <a:pt x="880" y="155809"/>
                  </a:cubicBezTo>
                  <a:cubicBezTo>
                    <a:pt x="203" y="154691"/>
                    <a:pt x="0" y="153404"/>
                    <a:pt x="0" y="152084"/>
                  </a:cubicBezTo>
                  <a:lnTo>
                    <a:pt x="0" y="124451"/>
                  </a:lnTo>
                  <a:cubicBezTo>
                    <a:pt x="0" y="123333"/>
                    <a:pt x="169" y="122182"/>
                    <a:pt x="610" y="121132"/>
                  </a:cubicBezTo>
                  <a:cubicBezTo>
                    <a:pt x="4470" y="111413"/>
                    <a:pt x="14595" y="97326"/>
                    <a:pt x="27633" y="93567"/>
                  </a:cubicBezTo>
                  <a:cubicBezTo>
                    <a:pt x="29360" y="89097"/>
                    <a:pt x="31934" y="82629"/>
                    <a:pt x="34338" y="77820"/>
                  </a:cubicBezTo>
                  <a:cubicBezTo>
                    <a:pt x="33932" y="74163"/>
                    <a:pt x="33796" y="70370"/>
                    <a:pt x="33796" y="66543"/>
                  </a:cubicBezTo>
                  <a:cubicBezTo>
                    <a:pt x="33796" y="52727"/>
                    <a:pt x="36708" y="40637"/>
                    <a:pt x="45513" y="31596"/>
                  </a:cubicBezTo>
                  <a:cubicBezTo>
                    <a:pt x="49644" y="27397"/>
                    <a:pt x="54758" y="24146"/>
                    <a:pt x="60820" y="21741"/>
                  </a:cubicBezTo>
                  <a:cubicBezTo>
                    <a:pt x="75347" y="9923"/>
                    <a:pt x="96004" y="1"/>
                    <a:pt x="124348" y="1"/>
                  </a:cubicBezTo>
                  <a:cubicBezTo>
                    <a:pt x="152692" y="1"/>
                    <a:pt x="173789" y="9923"/>
                    <a:pt x="188317" y="21741"/>
                  </a:cubicBezTo>
                  <a:cubicBezTo>
                    <a:pt x="194379" y="24146"/>
                    <a:pt x="199492" y="27397"/>
                    <a:pt x="203624" y="31596"/>
                  </a:cubicBezTo>
                  <a:cubicBezTo>
                    <a:pt x="212428" y="40637"/>
                    <a:pt x="215374" y="52727"/>
                    <a:pt x="215374" y="66543"/>
                  </a:cubicBezTo>
                  <a:cubicBezTo>
                    <a:pt x="215374" y="70370"/>
                    <a:pt x="215205" y="74163"/>
                    <a:pt x="214833" y="77820"/>
                  </a:cubicBezTo>
                  <a:cubicBezTo>
                    <a:pt x="217203" y="82629"/>
                    <a:pt x="219777" y="89097"/>
                    <a:pt x="221504" y="93567"/>
                  </a:cubicBezTo>
                  <a:cubicBezTo>
                    <a:pt x="234575" y="97326"/>
                    <a:pt x="244667" y="111413"/>
                    <a:pt x="248527" y="121132"/>
                  </a:cubicBezTo>
                  <a:cubicBezTo>
                    <a:pt x="248967" y="122182"/>
                    <a:pt x="249137" y="123333"/>
                    <a:pt x="249137" y="124451"/>
                  </a:cubicBezTo>
                  <a:lnTo>
                    <a:pt x="249137" y="152084"/>
                  </a:lnTo>
                  <a:cubicBezTo>
                    <a:pt x="249137" y="153404"/>
                    <a:pt x="248933" y="154691"/>
                    <a:pt x="248256" y="155809"/>
                  </a:cubicBezTo>
                  <a:close/>
                  <a:moveTo>
                    <a:pt x="133017" y="63191"/>
                  </a:moveTo>
                  <a:cubicBezTo>
                    <a:pt x="132577" y="59770"/>
                    <a:pt x="132374" y="56689"/>
                    <a:pt x="132340" y="53912"/>
                  </a:cubicBezTo>
                  <a:lnTo>
                    <a:pt x="132340" y="53709"/>
                  </a:lnTo>
                  <a:cubicBezTo>
                    <a:pt x="132374" y="45717"/>
                    <a:pt x="134101" y="40536"/>
                    <a:pt x="136912" y="37353"/>
                  </a:cubicBezTo>
                  <a:cubicBezTo>
                    <a:pt x="140434" y="33289"/>
                    <a:pt x="147748" y="30173"/>
                    <a:pt x="163190" y="31867"/>
                  </a:cubicBezTo>
                  <a:cubicBezTo>
                    <a:pt x="178801" y="33526"/>
                    <a:pt x="187538" y="37420"/>
                    <a:pt x="192482" y="42466"/>
                  </a:cubicBezTo>
                  <a:cubicBezTo>
                    <a:pt x="197291" y="47376"/>
                    <a:pt x="199797" y="54725"/>
                    <a:pt x="199797" y="66543"/>
                  </a:cubicBezTo>
                  <a:cubicBezTo>
                    <a:pt x="199797" y="79107"/>
                    <a:pt x="198002" y="86523"/>
                    <a:pt x="194006" y="91061"/>
                  </a:cubicBezTo>
                  <a:cubicBezTo>
                    <a:pt x="190213" y="95328"/>
                    <a:pt x="182763" y="98849"/>
                    <a:pt x="166441" y="98849"/>
                  </a:cubicBezTo>
                  <a:cubicBezTo>
                    <a:pt x="153878" y="98849"/>
                    <a:pt x="146698" y="94752"/>
                    <a:pt x="142127" y="89097"/>
                  </a:cubicBezTo>
                  <a:cubicBezTo>
                    <a:pt x="137183" y="83035"/>
                    <a:pt x="134406" y="74163"/>
                    <a:pt x="133017" y="63191"/>
                  </a:cubicBezTo>
                  <a:close/>
                  <a:moveTo>
                    <a:pt x="116119" y="63191"/>
                  </a:moveTo>
                  <a:cubicBezTo>
                    <a:pt x="116560" y="59770"/>
                    <a:pt x="116797" y="56689"/>
                    <a:pt x="116797" y="53912"/>
                  </a:cubicBezTo>
                  <a:lnTo>
                    <a:pt x="116797" y="53709"/>
                  </a:lnTo>
                  <a:cubicBezTo>
                    <a:pt x="116763" y="45717"/>
                    <a:pt x="115036" y="40536"/>
                    <a:pt x="112259" y="37353"/>
                  </a:cubicBezTo>
                  <a:cubicBezTo>
                    <a:pt x="108703" y="33289"/>
                    <a:pt x="101388" y="30173"/>
                    <a:pt x="85980" y="31867"/>
                  </a:cubicBezTo>
                  <a:cubicBezTo>
                    <a:pt x="70335" y="33526"/>
                    <a:pt x="61598" y="37420"/>
                    <a:pt x="56654" y="42466"/>
                  </a:cubicBezTo>
                  <a:cubicBezTo>
                    <a:pt x="51879" y="47376"/>
                    <a:pt x="49340" y="54725"/>
                    <a:pt x="49340" y="66543"/>
                  </a:cubicBezTo>
                  <a:cubicBezTo>
                    <a:pt x="49340" y="79107"/>
                    <a:pt x="51168" y="86523"/>
                    <a:pt x="55130" y="91061"/>
                  </a:cubicBezTo>
                  <a:cubicBezTo>
                    <a:pt x="58923" y="95328"/>
                    <a:pt x="66373" y="98849"/>
                    <a:pt x="82696" y="98849"/>
                  </a:cubicBezTo>
                  <a:cubicBezTo>
                    <a:pt x="95259" y="98849"/>
                    <a:pt x="102438" y="94752"/>
                    <a:pt x="107010" y="89097"/>
                  </a:cubicBezTo>
                  <a:cubicBezTo>
                    <a:pt x="111954" y="83035"/>
                    <a:pt x="114731" y="74163"/>
                    <a:pt x="116119" y="63191"/>
                  </a:cubicBezTo>
                  <a:close/>
                  <a:moveTo>
                    <a:pt x="126346" y="93634"/>
                  </a:moveTo>
                  <a:cubicBezTo>
                    <a:pt x="126956" y="93634"/>
                    <a:pt x="125770" y="93634"/>
                    <a:pt x="126346" y="93634"/>
                  </a:cubicBezTo>
                  <a:cubicBezTo>
                    <a:pt x="125770" y="93634"/>
                    <a:pt x="123366" y="93634"/>
                    <a:pt x="122790" y="93634"/>
                  </a:cubicBezTo>
                  <a:cubicBezTo>
                    <a:pt x="121673" y="95497"/>
                    <a:pt x="120454" y="97258"/>
                    <a:pt x="119099" y="98917"/>
                  </a:cubicBezTo>
                  <a:cubicBezTo>
                    <a:pt x="111107" y="108738"/>
                    <a:pt x="99187" y="114393"/>
                    <a:pt x="82696" y="114393"/>
                  </a:cubicBezTo>
                  <a:cubicBezTo>
                    <a:pt x="64815" y="114393"/>
                    <a:pt x="51676" y="110668"/>
                    <a:pt x="43447" y="101355"/>
                  </a:cubicBezTo>
                  <a:cubicBezTo>
                    <a:pt x="43007" y="100814"/>
                    <a:pt x="42567" y="100272"/>
                    <a:pt x="42567" y="100272"/>
                  </a:cubicBezTo>
                  <a:lnTo>
                    <a:pt x="41551" y="101355"/>
                  </a:lnTo>
                  <a:lnTo>
                    <a:pt x="41551" y="169659"/>
                  </a:lnTo>
                  <a:cubicBezTo>
                    <a:pt x="56451" y="177752"/>
                    <a:pt x="88419" y="192280"/>
                    <a:pt x="124585" y="192280"/>
                  </a:cubicBezTo>
                  <a:cubicBezTo>
                    <a:pt x="160752" y="192280"/>
                    <a:pt x="192686" y="177752"/>
                    <a:pt x="207586" y="169659"/>
                  </a:cubicBezTo>
                  <a:lnTo>
                    <a:pt x="207586" y="101355"/>
                  </a:lnTo>
                  <a:lnTo>
                    <a:pt x="206570" y="100272"/>
                  </a:lnTo>
                  <a:cubicBezTo>
                    <a:pt x="206570" y="100272"/>
                    <a:pt x="206231" y="100712"/>
                    <a:pt x="205689" y="101355"/>
                  </a:cubicBezTo>
                  <a:cubicBezTo>
                    <a:pt x="197460" y="110668"/>
                    <a:pt x="184321" y="114393"/>
                    <a:pt x="166441" y="114393"/>
                  </a:cubicBezTo>
                  <a:cubicBezTo>
                    <a:pt x="149949" y="114393"/>
                    <a:pt x="138029" y="108738"/>
                    <a:pt x="130037" y="98917"/>
                  </a:cubicBezTo>
                  <a:cubicBezTo>
                    <a:pt x="128683" y="97258"/>
                    <a:pt x="127464" y="95497"/>
                    <a:pt x="126346" y="936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01113" tIns="101113" rIns="101113" bIns="101113" anchor="ctr" anchorCtr="0">
              <a:noAutofit/>
            </a:bodyPr>
            <a:lstStyle/>
            <a:p>
              <a:endParaRPr sz="1991">
                <a:latin typeface="Aptos" pitchFamily="2" charset="77"/>
              </a:endParaRPr>
            </a:p>
          </p:txBody>
        </p:sp>
        <p:sp>
          <p:nvSpPr>
            <p:cNvPr id="19" name="Google Shape;1695;p69">
              <a:extLst>
                <a:ext uri="{FF2B5EF4-FFF2-40B4-BE49-F238E27FC236}">
                  <a16:creationId xmlns:a16="http://schemas.microsoft.com/office/drawing/2014/main" id="{D2EB6D54-1D04-3426-1116-BD526BBF8BCE}"/>
                </a:ext>
              </a:extLst>
            </p:cNvPr>
            <p:cNvSpPr/>
            <p:nvPr/>
          </p:nvSpPr>
          <p:spPr>
            <a:xfrm>
              <a:off x="2962100" y="3350200"/>
              <a:ext cx="453800" cy="1005800"/>
            </a:xfrm>
            <a:custGeom>
              <a:avLst/>
              <a:gdLst/>
              <a:ahLst/>
              <a:cxnLst/>
              <a:rect l="l" t="t" r="r" b="b"/>
              <a:pathLst>
                <a:path w="18152" h="40232" extrusionOk="0">
                  <a:moveTo>
                    <a:pt x="9076" y="1"/>
                  </a:moveTo>
                  <a:cubicBezTo>
                    <a:pt x="14088" y="1"/>
                    <a:pt x="18152" y="4064"/>
                    <a:pt x="18152" y="9076"/>
                  </a:cubicBezTo>
                  <a:lnTo>
                    <a:pt x="18152" y="31156"/>
                  </a:lnTo>
                  <a:cubicBezTo>
                    <a:pt x="18152" y="36167"/>
                    <a:pt x="14088" y="40231"/>
                    <a:pt x="9076" y="40231"/>
                  </a:cubicBezTo>
                  <a:cubicBezTo>
                    <a:pt x="4064" y="40231"/>
                    <a:pt x="1" y="36167"/>
                    <a:pt x="1" y="31156"/>
                  </a:cubicBezTo>
                  <a:lnTo>
                    <a:pt x="1" y="9076"/>
                  </a:lnTo>
                  <a:cubicBezTo>
                    <a:pt x="1" y="4064"/>
                    <a:pt x="4064" y="1"/>
                    <a:pt x="90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01113" tIns="101113" rIns="101113" bIns="101113" anchor="ctr" anchorCtr="0">
              <a:noAutofit/>
            </a:bodyPr>
            <a:lstStyle/>
            <a:p>
              <a:endParaRPr sz="1991">
                <a:latin typeface="Aptos" pitchFamily="2" charset="77"/>
              </a:endParaRPr>
            </a:p>
          </p:txBody>
        </p:sp>
        <p:sp>
          <p:nvSpPr>
            <p:cNvPr id="20" name="Google Shape;1696;p69">
              <a:extLst>
                <a:ext uri="{FF2B5EF4-FFF2-40B4-BE49-F238E27FC236}">
                  <a16:creationId xmlns:a16="http://schemas.microsoft.com/office/drawing/2014/main" id="{9B8CA1D0-EE17-781A-D7C4-3837D25A1339}"/>
                </a:ext>
              </a:extLst>
            </p:cNvPr>
            <p:cNvSpPr/>
            <p:nvPr/>
          </p:nvSpPr>
          <p:spPr>
            <a:xfrm>
              <a:off x="4194750" y="3350200"/>
              <a:ext cx="453800" cy="1005800"/>
            </a:xfrm>
            <a:custGeom>
              <a:avLst/>
              <a:gdLst/>
              <a:ahLst/>
              <a:cxnLst/>
              <a:rect l="l" t="t" r="r" b="b"/>
              <a:pathLst>
                <a:path w="18152" h="40232" extrusionOk="0">
                  <a:moveTo>
                    <a:pt x="9076" y="1"/>
                  </a:moveTo>
                  <a:cubicBezTo>
                    <a:pt x="14088" y="1"/>
                    <a:pt x="18152" y="4064"/>
                    <a:pt x="18152" y="9076"/>
                  </a:cubicBezTo>
                  <a:lnTo>
                    <a:pt x="18152" y="31156"/>
                  </a:lnTo>
                  <a:cubicBezTo>
                    <a:pt x="18152" y="36167"/>
                    <a:pt x="14088" y="40231"/>
                    <a:pt x="9076" y="40231"/>
                  </a:cubicBezTo>
                  <a:cubicBezTo>
                    <a:pt x="4064" y="40231"/>
                    <a:pt x="1" y="36167"/>
                    <a:pt x="1" y="31156"/>
                  </a:cubicBezTo>
                  <a:lnTo>
                    <a:pt x="1" y="9076"/>
                  </a:lnTo>
                  <a:cubicBezTo>
                    <a:pt x="1" y="4064"/>
                    <a:pt x="4064" y="1"/>
                    <a:pt x="90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01113" tIns="101113" rIns="101113" bIns="101113" anchor="ctr" anchorCtr="0">
              <a:noAutofit/>
            </a:bodyPr>
            <a:lstStyle/>
            <a:p>
              <a:endParaRPr sz="1991">
                <a:latin typeface="Aptos" pitchFamily="2" charset="77"/>
              </a:endParaRPr>
            </a:p>
          </p:txBody>
        </p:sp>
      </p:grp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681F3C19-4A00-5C21-68D9-AE3DB7F3C883}"/>
              </a:ext>
            </a:extLst>
          </p:cNvPr>
          <p:cNvSpPr txBox="1">
            <a:spLocks/>
          </p:cNvSpPr>
          <p:nvPr/>
        </p:nvSpPr>
        <p:spPr>
          <a:xfrm>
            <a:off x="-6355919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rgbClr val="B6BFB8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Supporting text if applicable. Keep it short and sweet.</a:t>
            </a:r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C30760E8-5FE2-1485-13D4-2511792EDD61}"/>
              </a:ext>
            </a:extLst>
          </p:cNvPr>
          <p:cNvSpPr txBox="1">
            <a:spLocks/>
          </p:cNvSpPr>
          <p:nvPr/>
        </p:nvSpPr>
        <p:spPr>
          <a:xfrm>
            <a:off x="-6355919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2"/>
                </a:solidFill>
              </a:rPr>
              <a:t>Beta / Coming soon </a:t>
            </a:r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89E16DA8-14E9-7B47-04BA-0D076C597EF0}"/>
              </a:ext>
            </a:extLst>
          </p:cNvPr>
          <p:cNvSpPr txBox="1">
            <a:spLocks/>
          </p:cNvSpPr>
          <p:nvPr/>
        </p:nvSpPr>
        <p:spPr>
          <a:xfrm>
            <a:off x="-6355919" y="1814384"/>
            <a:ext cx="5329526" cy="28604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Apto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705596-F813-0C20-3648-BC8286CDA0A0}"/>
              </a:ext>
            </a:extLst>
          </p:cNvPr>
          <p:cNvSpPr/>
          <p:nvPr/>
        </p:nvSpPr>
        <p:spPr>
          <a:xfrm>
            <a:off x="-686937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ocked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6F6C720-DF33-D17F-F413-FB11274DEF80}"/>
              </a:ext>
            </a:extLst>
          </p:cNvPr>
          <p:cNvSpPr/>
          <p:nvPr/>
        </p:nvSpPr>
        <p:spPr>
          <a:xfrm>
            <a:off x="-5221" y="-887828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F507A"/>
          </a:solidFill>
          <a:ln>
            <a:solidFill>
              <a:schemeClr val="tx2"/>
            </a:solidFill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0">
                <a:solidFill>
                  <a:schemeClr val="tx1"/>
                </a:solidFill>
                <a:latin typeface="Aptos" pitchFamily="2" charset="77"/>
              </a:rPr>
              <a:t>Locked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89459C-3D23-DFF1-35FB-F4DBA62BC888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148946"/>
            <a:ext cx="2660073" cy="1777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3DC181-FD35-DCFF-793A-2CC1A0FF3EC2}"/>
              </a:ext>
            </a:extLst>
          </p:cNvPr>
          <p:cNvSpPr txBox="1"/>
          <p:nvPr/>
        </p:nvSpPr>
        <p:spPr>
          <a:xfrm>
            <a:off x="6865257" y="7101159"/>
            <a:ext cx="5326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>
                <a:latin typeface="Aptos" pitchFamily="2" charset="77"/>
              </a:rPr>
              <a:t>slide expiration _ TUES, NOV 26 2024</a:t>
            </a:r>
          </a:p>
        </p:txBody>
      </p:sp>
    </p:spTree>
    <p:extLst>
      <p:ext uri="{BB962C8B-B14F-4D97-AF65-F5344CB8AC3E}">
        <p14:creationId xmlns:p14="http://schemas.microsoft.com/office/powerpoint/2010/main" val="16894790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ral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7491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I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34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x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17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urity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031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934219-9B18-8925-0B79-BF8DB5FD4165}"/>
              </a:ext>
            </a:extLst>
          </p:cNvPr>
          <p:cNvSpPr txBox="1"/>
          <p:nvPr/>
        </p:nvSpPr>
        <p:spPr>
          <a:xfrm>
            <a:off x="9356271" y="-1045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1F7D6A9-0B03-B598-268C-7410B09FF4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0436" y="5159829"/>
            <a:ext cx="10818832" cy="99001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 information here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B8BD3C84-FADE-BF52-5760-D3D87F6A37D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0435" y="708152"/>
            <a:ext cx="10818831" cy="3693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EF8970-F0DD-E62A-43D3-7E11393071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436" y="1273358"/>
            <a:ext cx="10818832" cy="3217000"/>
          </a:xfrm>
        </p:spPr>
        <p:txBody>
          <a:bodyPr anchor="t">
            <a:noAutofit/>
          </a:bodyPr>
          <a:lstStyle>
            <a:lvl1pPr algn="l">
              <a:defRPr sz="48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than ten words</a:t>
            </a:r>
          </a:p>
        </p:txBody>
      </p:sp>
    </p:spTree>
    <p:extLst>
      <p:ext uri="{BB962C8B-B14F-4D97-AF65-F5344CB8AC3E}">
        <p14:creationId xmlns:p14="http://schemas.microsoft.com/office/powerpoint/2010/main" val="1582381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urity feature specif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2AFB5C47-8B12-3D29-6D72-04EE3AD28E9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6103938" cy="6858000"/>
          </a:xfrm>
          <a:prstGeom prst="rect">
            <a:avLst/>
          </a:prstGeom>
          <a:gradFill>
            <a:gsLst>
              <a:gs pos="100000">
                <a:srgbClr val="9EECFF"/>
              </a:gs>
              <a:gs pos="0">
                <a:srgbClr val="3194FF"/>
              </a:gs>
            </a:gsLst>
            <a:lin ang="2700000" scaled="1"/>
          </a:gra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362230-C912-A080-0D76-BAD92A2A4CBE}"/>
              </a:ext>
            </a:extLst>
          </p:cNvPr>
          <p:cNvSpPr/>
          <p:nvPr/>
        </p:nvSpPr>
        <p:spPr>
          <a:xfrm>
            <a:off x="6103336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30DED90-C8A1-712C-7287-27FF7BF3A1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7010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19F1A0AB-79B7-AB7D-46CD-5F3E3DE38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87010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55B49007-0D35-3B56-802C-A03CE7C08D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7010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</p:spTree>
    <p:extLst>
      <p:ext uri="{BB962C8B-B14F-4D97-AF65-F5344CB8AC3E}">
        <p14:creationId xmlns:p14="http://schemas.microsoft.com/office/powerpoint/2010/main" val="3381925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I_Large number &amp; statem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blue sky with clouds&#10;&#10;AI-generated content may be incorrect.">
            <a:extLst>
              <a:ext uri="{FF2B5EF4-FFF2-40B4-BE49-F238E27FC236}">
                <a16:creationId xmlns:a16="http://schemas.microsoft.com/office/drawing/2014/main" id="{58960C67-0FEF-76A6-AD49-528B3E8E245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266" y="0"/>
            <a:ext cx="6102266" cy="68580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4D9AF2ED-3216-A0DB-3B2F-2F8D011C120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9432" y="2451283"/>
            <a:ext cx="5090871" cy="1955433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2000" b="1" i="0" spc="-300">
                <a:solidFill>
                  <a:schemeClr val="bg1"/>
                </a:solidFill>
                <a:latin typeface="Aptos" pitchFamily="2" charset="77"/>
              </a:defRPr>
            </a:lvl1pPr>
          </a:lstStyle>
          <a:p>
            <a:r>
              <a:rPr lang="en-US"/>
              <a:t>XXM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695EE8D7-ECE2-9E6B-6D33-216903961B0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99431" y="4406716"/>
            <a:ext cx="5090871" cy="138451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And/or statement here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1D69AF07-CF7E-EC05-D359-1D0CEF0097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99431" y="1066772"/>
            <a:ext cx="5090871" cy="1334528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here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F3FB04-B8E4-3529-78EA-6396FB756359}"/>
              </a:ext>
            </a:extLst>
          </p:cNvPr>
          <p:cNvSpPr/>
          <p:nvPr/>
        </p:nvSpPr>
        <p:spPr>
          <a:xfrm>
            <a:off x="609600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1E3EC00F-A751-32AF-B158-5684CEF4ED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0651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3160BE5B-2BA3-D923-86BE-6A1E7BEAB1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0651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99BC23C1-D9EB-EBDD-BF6B-F0076FC5726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06162" y="1078522"/>
            <a:ext cx="5329882" cy="2862072"/>
          </a:xfrm>
          <a:prstGeom prst="rect">
            <a:avLst/>
          </a:prstGeom>
        </p:spPr>
        <p:txBody>
          <a:bodyPr/>
          <a:lstStyle>
            <a:lvl1pPr>
              <a:defRPr sz="3600" b="1" i="0">
                <a:solidFill>
                  <a:schemeClr val="tx1"/>
                </a:solidFill>
                <a:latin typeface="Aptos" pitchFamily="2" charset="77"/>
                <a:cs typeface="Aptos" pitchFamily="2" charset="77"/>
              </a:defRPr>
            </a:lvl1pPr>
          </a:lstStyle>
          <a:p>
            <a:pPr lvl="0"/>
            <a:r>
              <a:rPr lang="en-US"/>
              <a:t>Statement that should be 10 words or less</a:t>
            </a:r>
          </a:p>
        </p:txBody>
      </p:sp>
    </p:spTree>
    <p:extLst>
      <p:ext uri="{BB962C8B-B14F-4D97-AF65-F5344CB8AC3E}">
        <p14:creationId xmlns:p14="http://schemas.microsoft.com/office/powerpoint/2010/main" val="546143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owser / two statement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60FCB388-AE2B-FEE6-EDFC-B51DA5958C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458497" y="966819"/>
            <a:ext cx="4866854" cy="5073650"/>
          </a:xfrm>
          <a:prstGeom prst="rect">
            <a:avLst/>
          </a:prstGeom>
          <a:solidFill>
            <a:schemeClr val="bg1"/>
          </a:solidFill>
          <a:effectLst>
            <a:outerShdw blurRad="420955" dist="232110" dir="5100000" algn="t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algn="ctr">
              <a:defRPr sz="1800">
                <a:latin typeface="Aptos" pitchFamily="2" charset="77"/>
              </a:defRPr>
            </a:lvl1pPr>
          </a:lstStyle>
          <a:p>
            <a:r>
              <a:rPr lang="en-US"/>
              <a:t>Screenshot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4D961E-D8F1-1621-0B65-EF22EBFBFA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8381" y="963376"/>
            <a:ext cx="6263325" cy="198493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6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</a:t>
            </a:r>
            <a:br>
              <a:rPr lang="en-US"/>
            </a:br>
            <a:r>
              <a:rPr lang="en-US"/>
              <a:t>than ten words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2474E636-F179-E536-9454-DE09228009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8381" y="4186526"/>
            <a:ext cx="3048593" cy="52795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1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CE169238-2E1E-D6F8-F1D2-A248C04987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8382" y="4737676"/>
            <a:ext cx="3048592" cy="10559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Try your best to keep your description no more than three lines</a:t>
            </a:r>
          </a:p>
        </p:txBody>
      </p:sp>
      <p:sp>
        <p:nvSpPr>
          <p:cNvPr id="8" name="Picture Placeholder 24">
            <a:extLst>
              <a:ext uri="{FF2B5EF4-FFF2-40B4-BE49-F238E27FC236}">
                <a16:creationId xmlns:a16="http://schemas.microsoft.com/office/drawing/2014/main" id="{8FBCA652-A806-87EE-B85F-BCFDB1B4066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58382" y="3647272"/>
            <a:ext cx="365760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73709F95-17EA-8C2B-E043-7CB31556A6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973113" y="4186526"/>
            <a:ext cx="3048593" cy="52795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2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7213201B-9B16-0B3D-E146-6B725E1AF60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73114" y="4737676"/>
            <a:ext cx="3048592" cy="10559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Try your best to keep your description no more than three lines</a:t>
            </a:r>
          </a:p>
        </p:txBody>
      </p:sp>
      <p:sp>
        <p:nvSpPr>
          <p:cNvPr id="18" name="Picture Placeholder 24">
            <a:extLst>
              <a:ext uri="{FF2B5EF4-FFF2-40B4-BE49-F238E27FC236}">
                <a16:creationId xmlns:a16="http://schemas.microsoft.com/office/drawing/2014/main" id="{9465DD82-942D-4363-BDF8-DEBD3E0B5B0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73114" y="3647272"/>
            <a:ext cx="365760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7717653C-80DF-3DD2-FC16-37BB8FC2866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8381" y="574423"/>
            <a:ext cx="3461954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7AE14FBB-7CBC-D32F-39FD-4ABA51B008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458497" y="492220"/>
            <a:ext cx="8686800" cy="47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0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ard - Dark mode - 2 speaker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DABDFDA8-5032-521D-35FD-137BB6C48B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74" y="2766"/>
            <a:ext cx="12172140" cy="685246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E9EE805-E24C-DF0B-BCAC-04CFE6E3C3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1097" y="380348"/>
            <a:ext cx="9077911" cy="4824698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8000" b="1" i="0">
                <a:solidFill>
                  <a:srgbClr val="8BF1A6"/>
                </a:solidFill>
                <a:latin typeface="Aptos" pitchFamily="2" charset="77"/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63BAA1F4-E359-6D1D-15CC-0F72B88613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04302" y="5730720"/>
            <a:ext cx="2918060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CDD225E2-CA3A-7780-C15A-F080FC674F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04302" y="6233277"/>
            <a:ext cx="2918060" cy="4572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4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Position  / Company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266F897-93A3-9BD1-063F-566A0849946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53" y="5730720"/>
            <a:ext cx="2918060" cy="4572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E7508BB4-E117-9BD4-BB08-C14AC1FE840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775953" y="6233277"/>
            <a:ext cx="2918060" cy="4572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4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Position  / Company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D10252-CD1F-88BE-2B77-9454DC9DC583}"/>
              </a:ext>
            </a:extLst>
          </p:cNvPr>
          <p:cNvSpPr/>
          <p:nvPr userDrawn="1"/>
        </p:nvSpPr>
        <p:spPr>
          <a:xfrm rot="5400000">
            <a:off x="7150276" y="535918"/>
            <a:ext cx="36576" cy="100235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29CF073E-C979-1616-02A6-D777AA3C33E1}"/>
              </a:ext>
            </a:extLst>
          </p:cNvPr>
          <p:cNvSpPr>
            <a:spLocks noGrp="1" noChangeAspect="1"/>
          </p:cNvSpPr>
          <p:nvPr>
            <p:ph type="pic" sz="quarter" idx="41"/>
          </p:nvPr>
        </p:nvSpPr>
        <p:spPr>
          <a:xfrm>
            <a:off x="2184783" y="5565045"/>
            <a:ext cx="1298448" cy="1298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3F4DEFA9-46ED-D8EA-5B84-3FE3C18BC40F}"/>
              </a:ext>
            </a:extLst>
          </p:cNvPr>
          <p:cNvSpPr>
            <a:spLocks noGrp="1" noChangeAspect="1"/>
          </p:cNvSpPr>
          <p:nvPr>
            <p:ph type="pic" sz="quarter" idx="43"/>
          </p:nvPr>
        </p:nvSpPr>
        <p:spPr>
          <a:xfrm>
            <a:off x="7230039" y="5565045"/>
            <a:ext cx="1298448" cy="1298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E7CB62-5C8D-2981-EAA4-46E33D55EA7C}"/>
              </a:ext>
            </a:extLst>
          </p:cNvPr>
          <p:cNvSpPr/>
          <p:nvPr userDrawn="1"/>
        </p:nvSpPr>
        <p:spPr>
          <a:xfrm>
            <a:off x="7195694" y="5532120"/>
            <a:ext cx="36576" cy="1325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224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10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Statement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C90F7202-87A7-49D5-1EEA-599F68B5D2B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4508" y="4274022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1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1D01495C-06D4-CD38-BA69-8D11BAE69F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4508" y="4748971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4" name="Picture Placeholder 24">
            <a:extLst>
              <a:ext uri="{FF2B5EF4-FFF2-40B4-BE49-F238E27FC236}">
                <a16:creationId xmlns:a16="http://schemas.microsoft.com/office/drawing/2014/main" id="{BA673A28-5082-75B2-C493-25A6BA2892A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74508" y="3734767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9DC60DF-BBF9-032D-AD0B-F365CD4D892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8194" y="4272640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2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AD9D8176-BB69-9F5A-BA39-87E5D942B5B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78195" y="4747589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8" name="Picture Placeholder 24">
            <a:extLst>
              <a:ext uri="{FF2B5EF4-FFF2-40B4-BE49-F238E27FC236}">
                <a16:creationId xmlns:a16="http://schemas.microsoft.com/office/drawing/2014/main" id="{8B0CD642-0531-E3F3-88CD-780EBE6D9300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478195" y="3733385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2269E9E9-9FE1-4B58-A067-4BD00E8E0C3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77943" y="4272640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3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FA5B6F15-FA33-ECFB-4754-66663281CB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77944" y="4747589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1" name="Picture Placeholder 24">
            <a:extLst>
              <a:ext uri="{FF2B5EF4-FFF2-40B4-BE49-F238E27FC236}">
                <a16:creationId xmlns:a16="http://schemas.microsoft.com/office/drawing/2014/main" id="{ECA9FA2E-EA3D-1DBC-2A4B-62D38B8DF3E6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277944" y="3733385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C7570C5-829F-FB1B-F5CF-692824B4A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4508" y="1178132"/>
            <a:ext cx="10884125" cy="1646711"/>
          </a:xfrm>
        </p:spPr>
        <p:txBody>
          <a:bodyPr anchor="t">
            <a:noAutofit/>
          </a:bodyPr>
          <a:lstStyle>
            <a:lvl1pPr algn="l">
              <a:defRPr sz="48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than 10 words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291076F0-6982-7308-4E79-073885B6FF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4508" y="708152"/>
            <a:ext cx="10884124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325087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6ECBF4C-BF4F-0D2C-EA8E-54C29F31B2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09814" y="335102"/>
            <a:ext cx="726315" cy="6187796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B6BFB8"/>
                </a:solidFill>
                <a:latin typeface="Apto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2D5E6-6218-3513-0338-32F1DADBF9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36128" y="335102"/>
            <a:ext cx="6955155" cy="6187796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 </a:t>
            </a:r>
          </a:p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ADB4EE-5BC1-F20C-23D5-E728D77BC32D}"/>
              </a:ext>
            </a:extLst>
          </p:cNvPr>
          <p:cNvSpPr txBox="1"/>
          <p:nvPr userDrawn="1"/>
        </p:nvSpPr>
        <p:spPr>
          <a:xfrm>
            <a:off x="256841" y="335102"/>
            <a:ext cx="30607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i="0">
                <a:solidFill>
                  <a:schemeClr val="tx1"/>
                </a:solidFill>
                <a:latin typeface="Aptos" pitchFamily="2" charset="77"/>
                <a:cs typeface="Aptos" pitchFamily="2" charset="77"/>
              </a:rPr>
              <a:t>Agenda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94A6F1-D848-E63F-EE08-EB5E912E073C}"/>
              </a:ext>
            </a:extLst>
          </p:cNvPr>
          <p:cNvSpPr/>
          <p:nvPr userDrawn="1"/>
        </p:nvSpPr>
        <p:spPr>
          <a:xfrm>
            <a:off x="3663995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67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nel Title Card - green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92B1EC0-7FF8-CC20-FE27-A035712249B9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822"/>
            <a:ext cx="12192000" cy="686364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7311656-A7F6-E685-5661-15D8FA1D6A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15035" y="1392319"/>
            <a:ext cx="9039106" cy="40733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6000" b="1" i="0">
                <a:solidFill>
                  <a:schemeClr val="bg1"/>
                </a:solidFill>
                <a:latin typeface="Aptos" pitchFamily="2" charset="77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03246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ilot feature specif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D89EC314-9034-41CA-7F9D-FFA5D6F69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678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2243E505-DF3C-F337-CBC7-E70FEE6C0C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67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AB6A4-AA7E-8631-4382-09BBAB795B1E}"/>
              </a:ext>
            </a:extLst>
          </p:cNvPr>
          <p:cNvSpPr/>
          <p:nvPr userDrawn="1"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EC38ED57-A90D-1FEC-BCD3-69F2431F29E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88062" y="0"/>
            <a:ext cx="6103938" cy="6858000"/>
          </a:xfrm>
          <a:prstGeom prst="rect">
            <a:avLst/>
          </a:prstGeom>
          <a:solidFill>
            <a:schemeClr val="accent3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A3FF5C67-D41D-04B3-E321-C939F38724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67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</p:spTree>
    <p:extLst>
      <p:ext uri="{BB962C8B-B14F-4D97-AF65-F5344CB8AC3E}">
        <p14:creationId xmlns:p14="http://schemas.microsoft.com/office/powerpoint/2010/main" val="42084225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ilot feature specif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71918A70-9503-E96C-7F21-F0C5E11DEC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7010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17FBA312-E57F-F278-9A64-CCFA9DD58CC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87010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DEB60F22-6FEA-E40C-054D-399149D3E0E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7010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6F761FA-ABFC-2709-D9A4-285A770143C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6103938" cy="6858000"/>
          </a:xfrm>
          <a:prstGeom prst="rect">
            <a:avLst/>
          </a:prstGeom>
          <a:solidFill>
            <a:schemeClr val="accent3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39CEF6-F6BE-74F6-C7E2-3B1FB8C11D25}"/>
              </a:ext>
            </a:extLst>
          </p:cNvPr>
          <p:cNvSpPr/>
          <p:nvPr userDrawn="1"/>
        </p:nvSpPr>
        <p:spPr>
          <a:xfrm>
            <a:off x="6103336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0834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ilot feature specif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59326D6-64C6-348E-9279-FB16E6BBEA29}"/>
              </a:ext>
            </a:extLst>
          </p:cNvPr>
          <p:cNvSpPr/>
          <p:nvPr userDrawn="1"/>
        </p:nvSpPr>
        <p:spPr>
          <a:xfrm>
            <a:off x="1646961" y="2537246"/>
            <a:ext cx="8898071" cy="4549354"/>
          </a:xfrm>
          <a:prstGeom prst="roundRect">
            <a:avLst>
              <a:gd name="adj" fmla="val 1725"/>
            </a:avLst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Aptos" pitchFamily="2" charset="77"/>
                <a:cs typeface="Aptos" pitchFamily="2" charset="77"/>
              </a:rPr>
              <a:t>Cover this entire rectangle with the product shot / 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896C6-8487-9D71-D14D-0618FC4FF6D1}"/>
              </a:ext>
            </a:extLst>
          </p:cNvPr>
          <p:cNvSpPr/>
          <p:nvPr userDrawn="1"/>
        </p:nvSpPr>
        <p:spPr>
          <a:xfrm rot="5400000">
            <a:off x="6077712" y="-6076188"/>
            <a:ext cx="36576" cy="12188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C0A93AB-65E7-2F9F-A327-9957791E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277951"/>
            <a:ext cx="12188952" cy="1127328"/>
          </a:xfrm>
          <a:prstGeom prst="rect">
            <a:avLst/>
          </a:prstGeom>
        </p:spPr>
        <p:txBody>
          <a:bodyPr anchor="t"/>
          <a:lstStyle>
            <a:lvl1pPr algn="ctr"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</a:t>
            </a:r>
            <a:br>
              <a:rPr lang="en-US"/>
            </a:br>
            <a:r>
              <a:rPr lang="en-US"/>
              <a:t>that is 12 words or less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B2258BF3-25C9-70CC-E9B2-13FC51C67F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1236" y="263101"/>
            <a:ext cx="5329528" cy="28673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2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</p:spTree>
    <p:extLst>
      <p:ext uri="{BB962C8B-B14F-4D97-AF65-F5344CB8AC3E}">
        <p14:creationId xmlns:p14="http://schemas.microsoft.com/office/powerpoint/2010/main" val="18453648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urity feature specif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D89EC314-9034-41CA-7F9D-FFA5D6F69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678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2243E505-DF3C-F337-CBC7-E70FEE6C0C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67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AB6A4-AA7E-8631-4382-09BBAB795B1E}"/>
              </a:ext>
            </a:extLst>
          </p:cNvPr>
          <p:cNvSpPr/>
          <p:nvPr userDrawn="1"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A3FF5C67-D41D-04B3-E321-C939F38724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67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A2D3F14D-0D4B-4EFB-F398-BFFFBB46F6D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88062" y="0"/>
            <a:ext cx="6103938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483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urity feature specif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59326D6-64C6-348E-9279-FB16E6BBEA29}"/>
              </a:ext>
            </a:extLst>
          </p:cNvPr>
          <p:cNvSpPr/>
          <p:nvPr userDrawn="1"/>
        </p:nvSpPr>
        <p:spPr>
          <a:xfrm>
            <a:off x="1646961" y="2537246"/>
            <a:ext cx="8898071" cy="4549354"/>
          </a:xfrm>
          <a:prstGeom prst="roundRect">
            <a:avLst>
              <a:gd name="adj" fmla="val 1725"/>
            </a:avLst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Aptos" pitchFamily="2" charset="77"/>
                <a:cs typeface="Aptos" pitchFamily="2" charset="77"/>
              </a:rPr>
              <a:t>Cover this entire rectangle with the product shot / 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896C6-8487-9D71-D14D-0618FC4FF6D1}"/>
              </a:ext>
            </a:extLst>
          </p:cNvPr>
          <p:cNvSpPr/>
          <p:nvPr userDrawn="1"/>
        </p:nvSpPr>
        <p:spPr>
          <a:xfrm rot="5400000">
            <a:off x="6077712" y="-6076188"/>
            <a:ext cx="36576" cy="12188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C0A93AB-65E7-2F9F-A327-9957791E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277951"/>
            <a:ext cx="12188952" cy="1127328"/>
          </a:xfrm>
          <a:prstGeom prst="rect">
            <a:avLst/>
          </a:prstGeom>
        </p:spPr>
        <p:txBody>
          <a:bodyPr anchor="t"/>
          <a:lstStyle>
            <a:lvl1pPr algn="ctr"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</a:t>
            </a:r>
            <a:br>
              <a:rPr lang="en-US"/>
            </a:br>
            <a:r>
              <a:rPr lang="en-US"/>
              <a:t>that is 12 words or less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B2258BF3-25C9-70CC-E9B2-13FC51C67F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1236" y="263101"/>
            <a:ext cx="5329528" cy="28673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2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</p:spTree>
    <p:extLst>
      <p:ext uri="{BB962C8B-B14F-4D97-AF65-F5344CB8AC3E}">
        <p14:creationId xmlns:p14="http://schemas.microsoft.com/office/powerpoint/2010/main" val="9297366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terprise feature specif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D89EC314-9034-41CA-7F9D-FFA5D6F69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678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2243E505-DF3C-F337-CBC7-E70FEE6C0C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67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AB6A4-AA7E-8631-4382-09BBAB795B1E}"/>
              </a:ext>
            </a:extLst>
          </p:cNvPr>
          <p:cNvSpPr/>
          <p:nvPr userDrawn="1"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A3FF5C67-D41D-04B3-E321-C939F38724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67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608E0FD1-CD5E-A504-86F7-8B2F8D1E3CC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88062" y="0"/>
            <a:ext cx="6103938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762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terprise feature specif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16924322-F239-A0FF-709F-A1F181CBA48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6103938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71918A70-9503-E96C-7F21-F0C5E11DEC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7010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17FBA312-E57F-F278-9A64-CCFA9DD58CC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87010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DEB60F22-6FEA-E40C-054D-399149D3E0E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7010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39CEF6-F6BE-74F6-C7E2-3B1FB8C11D25}"/>
              </a:ext>
            </a:extLst>
          </p:cNvPr>
          <p:cNvSpPr/>
          <p:nvPr userDrawn="1"/>
        </p:nvSpPr>
        <p:spPr>
          <a:xfrm>
            <a:off x="6103336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794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terprise feature specif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59326D6-64C6-348E-9279-FB16E6BBEA29}"/>
              </a:ext>
            </a:extLst>
          </p:cNvPr>
          <p:cNvSpPr/>
          <p:nvPr userDrawn="1"/>
        </p:nvSpPr>
        <p:spPr>
          <a:xfrm>
            <a:off x="1646961" y="2537246"/>
            <a:ext cx="8898071" cy="4549354"/>
          </a:xfrm>
          <a:prstGeom prst="roundRect">
            <a:avLst>
              <a:gd name="adj" fmla="val 1725"/>
            </a:avLst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Aptos" pitchFamily="2" charset="77"/>
                <a:cs typeface="Aptos" pitchFamily="2" charset="77"/>
              </a:rPr>
              <a:t>Cover this entire rectangle with the product shot / 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896C6-8487-9D71-D14D-0618FC4FF6D1}"/>
              </a:ext>
            </a:extLst>
          </p:cNvPr>
          <p:cNvSpPr/>
          <p:nvPr userDrawn="1"/>
        </p:nvSpPr>
        <p:spPr>
          <a:xfrm rot="5400000">
            <a:off x="6077712" y="-6076188"/>
            <a:ext cx="36576" cy="12188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C0A93AB-65E7-2F9F-A327-9957791E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277951"/>
            <a:ext cx="12188952" cy="1127328"/>
          </a:xfrm>
          <a:prstGeom prst="rect">
            <a:avLst/>
          </a:prstGeom>
        </p:spPr>
        <p:txBody>
          <a:bodyPr anchor="t"/>
          <a:lstStyle>
            <a:lvl1pPr algn="ctr"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</a:t>
            </a:r>
            <a:br>
              <a:rPr lang="en-US"/>
            </a:br>
            <a:r>
              <a:rPr lang="en-US"/>
              <a:t>that is 12 words or less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B2258BF3-25C9-70CC-E9B2-13FC51C67F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1236" y="263101"/>
            <a:ext cx="5329528" cy="28673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2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</p:spTree>
    <p:extLst>
      <p:ext uri="{BB962C8B-B14F-4D97-AF65-F5344CB8AC3E}">
        <p14:creationId xmlns:p14="http://schemas.microsoft.com/office/powerpoint/2010/main" val="7489211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ilot Roadmap slide_2 fea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FA752C42-8FFE-E7DC-6F4B-E25EF4A96C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8809" y="365644"/>
            <a:ext cx="4086100" cy="442635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8A9C4DCD-EF1F-C3CD-2570-EF693C75FD1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994384" y="4246318"/>
            <a:ext cx="3239551" cy="4572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F9241AAA-8131-726E-B1DB-AAAD8D4021C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994385" y="5358512"/>
            <a:ext cx="3239550" cy="11338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C492EABB-08D4-AC0C-3F73-88250F24E33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25136" y="4246318"/>
            <a:ext cx="3239551" cy="4572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683D537-28C2-931A-7552-67F3035AF4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25137" y="5358512"/>
            <a:ext cx="3239550" cy="11338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6CCE2E32-8BB9-AC99-A4CA-0D769759AEE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96541" y="4000033"/>
            <a:ext cx="3239550" cy="2285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2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2F71B73-1988-5873-1F14-44AA8F8941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725137" y="4000033"/>
            <a:ext cx="3239550" cy="2285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2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27" name="Title 4">
            <a:extLst>
              <a:ext uri="{FF2B5EF4-FFF2-40B4-BE49-F238E27FC236}">
                <a16:creationId xmlns:a16="http://schemas.microsoft.com/office/drawing/2014/main" id="{7D7A8B61-BC0D-4B3F-0558-1874E953EE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70" y="941950"/>
            <a:ext cx="4086099" cy="5550406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that should be 10 words or less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3E0C1C-BBFB-5C23-9941-50DB6F241B83}"/>
              </a:ext>
            </a:extLst>
          </p:cNvPr>
          <p:cNvSpPr/>
          <p:nvPr userDrawn="1"/>
        </p:nvSpPr>
        <p:spPr>
          <a:xfrm>
            <a:off x="8461248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3C9200-315C-B256-15DE-34F1CA4FE119}"/>
              </a:ext>
            </a:extLst>
          </p:cNvPr>
          <p:cNvSpPr/>
          <p:nvPr userDrawn="1"/>
        </p:nvSpPr>
        <p:spPr>
          <a:xfrm>
            <a:off x="4724423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5AC0458-901E-D182-3617-D91492821907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760999" y="0"/>
            <a:ext cx="3694176" cy="3694176"/>
          </a:xfrm>
          <a:prstGeom prst="rect">
            <a:avLst/>
          </a:prstGeom>
          <a:solidFill>
            <a:schemeClr val="accent3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24114CFF-B0A0-A1F7-5DDA-253C84E1C30D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497824" y="0"/>
            <a:ext cx="3694176" cy="3694176"/>
          </a:xfrm>
          <a:prstGeom prst="rect">
            <a:avLst/>
          </a:prstGeom>
          <a:solidFill>
            <a:schemeClr val="accent3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41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urity Roadmap slide_3 features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6E16561-B8B1-9D14-AD15-7B3274B52B27}"/>
              </a:ext>
            </a:extLst>
          </p:cNvPr>
          <p:cNvSpPr/>
          <p:nvPr userDrawn="1"/>
        </p:nvSpPr>
        <p:spPr>
          <a:xfrm>
            <a:off x="8117893" y="1755648"/>
            <a:ext cx="36576" cy="51023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64EEAE1A-5DA8-56EB-F8EA-26929E8D8A2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6509" y="315963"/>
            <a:ext cx="11671846" cy="442635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600" b="0" i="0">
                <a:solidFill>
                  <a:srgbClr val="5A615C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E0769167-6666-38D4-621D-ED2CDB7679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5242" y="5434006"/>
            <a:ext cx="3508572" cy="4572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39A8D513-B9E9-7B5B-B3D5-A4C690BDF9A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5241" y="5941613"/>
            <a:ext cx="3508572" cy="60042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b="0" i="0">
                <a:solidFill>
                  <a:srgbClr val="5A615C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A76A2BB0-FCD6-2636-7423-16BB5C27207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91201" y="5434006"/>
            <a:ext cx="3610056" cy="4572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04EA0C85-87D4-757E-83C4-5832F27B42D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91200" y="5941613"/>
            <a:ext cx="3610056" cy="60042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b="0" i="0">
                <a:solidFill>
                  <a:srgbClr val="5A615C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6D8116AD-CE22-2D8C-9DE3-F3C77FA0753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71106" y="5434006"/>
            <a:ext cx="3602734" cy="4572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New feature/tool</a:t>
            </a:r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151BA3FC-D378-BC14-12AC-B36B8DDEBA1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71105" y="5941613"/>
            <a:ext cx="3602734" cy="60042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600" b="0" i="0">
                <a:solidFill>
                  <a:srgbClr val="5A615C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35" name="Text Placeholder 23">
            <a:extLst>
              <a:ext uri="{FF2B5EF4-FFF2-40B4-BE49-F238E27FC236}">
                <a16:creationId xmlns:a16="http://schemas.microsoft.com/office/drawing/2014/main" id="{5B4CF656-7D1C-725E-023D-71287E55915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65241" y="5205470"/>
            <a:ext cx="3508572" cy="2285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200" b="0" i="0">
                <a:solidFill>
                  <a:srgbClr val="5A615C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36" name="Text Placeholder 23">
            <a:extLst>
              <a:ext uri="{FF2B5EF4-FFF2-40B4-BE49-F238E27FC236}">
                <a16:creationId xmlns:a16="http://schemas.microsoft.com/office/drawing/2014/main" id="{233DF6E9-5543-2FB0-CA50-1F53ED4A172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91200" y="5187721"/>
            <a:ext cx="3610056" cy="2285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200" b="0" i="0">
                <a:solidFill>
                  <a:srgbClr val="5A615C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19097207-A056-2FD7-F060-385A6EC4EDD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71105" y="5187721"/>
            <a:ext cx="3602734" cy="2285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200" b="0" i="0">
                <a:solidFill>
                  <a:srgbClr val="5A615C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</a:t>
            </a:r>
          </a:p>
        </p:txBody>
      </p:sp>
      <p:sp>
        <p:nvSpPr>
          <p:cNvPr id="38" name="Title 5">
            <a:extLst>
              <a:ext uri="{FF2B5EF4-FFF2-40B4-BE49-F238E27FC236}">
                <a16:creationId xmlns:a16="http://schemas.microsoft.com/office/drawing/2014/main" id="{F59283A9-EF46-CC74-737A-A8DA35AE2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5241" y="896026"/>
            <a:ext cx="11671847" cy="70186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Aptos" pitchFamily="2" charset="77"/>
              </a:defRPr>
            </a:lvl1pPr>
          </a:lstStyle>
          <a:p>
            <a:r>
              <a:rPr lang="en-US"/>
              <a:t>Title that should be 10 words or less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760EA7-4222-D88A-826C-72AA4D4DD8B0}"/>
              </a:ext>
            </a:extLst>
          </p:cNvPr>
          <p:cNvSpPr/>
          <p:nvPr userDrawn="1"/>
        </p:nvSpPr>
        <p:spPr>
          <a:xfrm>
            <a:off x="4041649" y="1755648"/>
            <a:ext cx="36576" cy="51023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D93795-C7C0-7636-091A-A6E374D7AD46}"/>
              </a:ext>
            </a:extLst>
          </p:cNvPr>
          <p:cNvSpPr/>
          <p:nvPr userDrawn="1"/>
        </p:nvSpPr>
        <p:spPr>
          <a:xfrm rot="5400000">
            <a:off x="6077712" y="-4328386"/>
            <a:ext cx="36576" cy="12188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BC815E3-BB59-F649-6CA9-D540D7BF34B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0" y="1784379"/>
            <a:ext cx="4032250" cy="310354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0A1DC661-4272-AC8D-8951-BCB09F14B217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079875" y="1784379"/>
            <a:ext cx="4032250" cy="310354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C7D4584E-4C3C-7308-6D5B-892C90B6695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8159750" y="1784379"/>
            <a:ext cx="4032250" cy="310354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204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terprise Product on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F39D8AA-00A9-0670-AD3C-169F3A69C11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88062" y="0"/>
            <a:ext cx="6103938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CB63979A-A17F-E938-C84A-1AB2E69FC6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67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37D3A4FC-8E41-6E24-0959-8E3974B113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67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3CD644-844F-AA19-6318-67C80A1643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678" y="1078522"/>
            <a:ext cx="5329526" cy="2860431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The name of the new feature/tool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8338F7-6F56-27F7-EE5C-C77A63AB65A9}"/>
              </a:ext>
            </a:extLst>
          </p:cNvPr>
          <p:cNvSpPr/>
          <p:nvPr userDrawn="1"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9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eaker bios (2 speakers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7">
            <a:extLst>
              <a:ext uri="{FF2B5EF4-FFF2-40B4-BE49-F238E27FC236}">
                <a16:creationId xmlns:a16="http://schemas.microsoft.com/office/drawing/2014/main" id="{F3FDF2F6-0C09-B759-ED6E-3BDD87138F6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12954" y="887159"/>
            <a:ext cx="5108757" cy="3245491"/>
          </a:xfrm>
          <a:prstGeom prst="roundRect">
            <a:avLst>
              <a:gd name="adj" fmla="val 4523"/>
            </a:avLst>
          </a:prstGeom>
          <a:noFill/>
          <a:ln>
            <a:solidFill>
              <a:schemeClr val="tx2"/>
            </a:solidFill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1800">
                <a:latin typeface="Aptos" pitchFamily="2" charset="77"/>
              </a:defRPr>
            </a:lvl1pPr>
          </a:lstStyle>
          <a:p>
            <a:r>
              <a:rPr lang="en-US"/>
              <a:t>Photo of speaker</a:t>
            </a:r>
          </a:p>
        </p:txBody>
      </p:sp>
      <p:sp>
        <p:nvSpPr>
          <p:cNvPr id="3" name="Picture Placeholder 17">
            <a:extLst>
              <a:ext uri="{FF2B5EF4-FFF2-40B4-BE49-F238E27FC236}">
                <a16:creationId xmlns:a16="http://schemas.microsoft.com/office/drawing/2014/main" id="{984C9A0B-0D19-5546-B75C-FEC1FABD63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70283" y="887159"/>
            <a:ext cx="5108757" cy="3245491"/>
          </a:xfrm>
          <a:prstGeom prst="roundRect">
            <a:avLst>
              <a:gd name="adj" fmla="val 4523"/>
            </a:avLst>
          </a:prstGeom>
          <a:noFill/>
          <a:ln>
            <a:solidFill>
              <a:schemeClr val="tx2"/>
            </a:solidFill>
          </a:ln>
          <a:effectLst>
            <a:outerShdw blurRad="254000" dist="2540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1800">
                <a:latin typeface="Aptos" pitchFamily="2" charset="77"/>
              </a:defRPr>
            </a:lvl1pPr>
          </a:lstStyle>
          <a:p>
            <a:r>
              <a:rPr lang="en-US"/>
              <a:t>Photo of speaker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347ABF95-5A12-B61E-19CB-B893D566D3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0283" y="5208213"/>
            <a:ext cx="5066689" cy="126695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01BFB022-2179-4159-D6AB-E98490DA0C4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0284" y="4336037"/>
            <a:ext cx="5066691" cy="53873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2400" b="1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8A57A9A7-E0F4-7827-5DF6-3585E33773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70284" y="4884767"/>
            <a:ext cx="5066690" cy="31008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bg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9069A236-613C-7FB0-5EA8-A37EDBDE6A3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55023" y="5208213"/>
            <a:ext cx="5066689" cy="126695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Write the speaker bio here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133A6542-358F-68BF-EC8C-3ED656B2CE8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55024" y="4336037"/>
            <a:ext cx="5066691" cy="53873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2400" b="1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First &amp; last name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1FBE1546-3446-D9B9-3F7B-461085F58DC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55024" y="4884767"/>
            <a:ext cx="5066690" cy="31008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bg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Position title / Company name</a:t>
            </a:r>
          </a:p>
        </p:txBody>
      </p:sp>
    </p:spTree>
    <p:extLst>
      <p:ext uri="{BB962C8B-B14F-4D97-AF65-F5344CB8AC3E}">
        <p14:creationId xmlns:p14="http://schemas.microsoft.com/office/powerpoint/2010/main" val="3891562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Sub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934219-9B18-8925-0B79-BF8DB5FD4165}"/>
              </a:ext>
            </a:extLst>
          </p:cNvPr>
          <p:cNvSpPr txBox="1"/>
          <p:nvPr/>
        </p:nvSpPr>
        <p:spPr>
          <a:xfrm>
            <a:off x="9356271" y="-1045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51F7D6A9-0B03-B598-268C-7410B09FF4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0436" y="5159829"/>
            <a:ext cx="10818832" cy="99001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18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 information here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B8BD3C84-FADE-BF52-5760-D3D87F6A37D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0435" y="708152"/>
            <a:ext cx="10818831" cy="3693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EF8970-F0DD-E62A-43D3-7E11393071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436" y="1273358"/>
            <a:ext cx="10818832" cy="3217000"/>
          </a:xfrm>
        </p:spPr>
        <p:txBody>
          <a:bodyPr anchor="t">
            <a:noAutofit/>
          </a:bodyPr>
          <a:lstStyle>
            <a:lvl1pPr algn="l">
              <a:defRPr sz="48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than 10 words</a:t>
            </a:r>
          </a:p>
        </p:txBody>
      </p:sp>
    </p:spTree>
    <p:extLst>
      <p:ext uri="{BB962C8B-B14F-4D97-AF65-F5344CB8AC3E}">
        <p14:creationId xmlns:p14="http://schemas.microsoft.com/office/powerpoint/2010/main" val="1631373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statement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6105375C-8468-A60A-35F4-F2E865BCA2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37524" y="1957715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1</a:t>
            </a:r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880850F9-DBA5-87B5-AFD9-06937D861D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37525" y="2432664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1" name="Picture Placeholder 24">
            <a:extLst>
              <a:ext uri="{FF2B5EF4-FFF2-40B4-BE49-F238E27FC236}">
                <a16:creationId xmlns:a16="http://schemas.microsoft.com/office/drawing/2014/main" id="{EB5D7FED-59FD-275C-B51E-A317DA91E5A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637525" y="1418460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3F452737-E01C-517A-4B05-910B9B6DCF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37524" y="4139883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3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4D081FFC-16E5-7744-FD3D-9E04413B3B5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37525" y="4614832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14" name="Picture Placeholder 24">
            <a:extLst>
              <a:ext uri="{FF2B5EF4-FFF2-40B4-BE49-F238E27FC236}">
                <a16:creationId xmlns:a16="http://schemas.microsoft.com/office/drawing/2014/main" id="{CE225B63-8F69-3259-9E10-F34A10DAC56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637525" y="3600628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E87E6B0B-83D1-4AA0-E720-5C62B8601C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32207" y="1957715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2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31FE0450-DA87-2749-0CF7-CA6E4DDB4E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332208" y="2432664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4" name="Picture Placeholder 24">
            <a:extLst>
              <a:ext uri="{FF2B5EF4-FFF2-40B4-BE49-F238E27FC236}">
                <a16:creationId xmlns:a16="http://schemas.microsoft.com/office/drawing/2014/main" id="{2CBF0351-2BE0-7A68-1357-B289321082E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332208" y="1418460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219DD41-C1D8-75E3-C46D-A28B1FFE9FF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32207" y="4139883"/>
            <a:ext cx="3239551" cy="457200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4</a:t>
            </a:r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03229E1C-F844-A238-49DB-038A784709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32208" y="4614832"/>
            <a:ext cx="3239550" cy="914400"/>
          </a:xfrm>
        </p:spPr>
        <p:txBody>
          <a:bodyPr anchor="t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Keep your description under three lines of text</a:t>
            </a:r>
          </a:p>
        </p:txBody>
      </p:sp>
      <p:sp>
        <p:nvSpPr>
          <p:cNvPr id="29" name="Picture Placeholder 24">
            <a:extLst>
              <a:ext uri="{FF2B5EF4-FFF2-40B4-BE49-F238E27FC236}">
                <a16:creationId xmlns:a16="http://schemas.microsoft.com/office/drawing/2014/main" id="{AC66BFF0-7E82-C663-C55A-2FC7CDFBC16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332208" y="3600628"/>
            <a:ext cx="365760" cy="365760"/>
          </a:xfr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BB2AB4-C828-3430-78EB-DEBABFA1C0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437" y="1957715"/>
            <a:ext cx="3461954" cy="3515101"/>
          </a:xfrm>
        </p:spPr>
        <p:txBody>
          <a:bodyPr anchor="t">
            <a:noAutofit/>
          </a:bodyPr>
          <a:lstStyle>
            <a:lvl1pPr algn="l">
              <a:defRPr sz="48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than 10 words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68AEC395-7F97-4BE3-5FE1-60D8D627C4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0436" y="1426607"/>
            <a:ext cx="3461954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3604848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owser Screenshot 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C33D682-D6C7-BB0B-E7A1-27EB07B2149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52601" y="272307"/>
            <a:ext cx="8686800" cy="102626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Statement</a:t>
            </a:r>
          </a:p>
        </p:txBody>
      </p:sp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B638C55F-4F51-F341-6897-942CDD853FE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752599" y="1932318"/>
            <a:ext cx="8686799" cy="49256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/>
        </p:spPr>
        <p:txBody>
          <a:bodyPr anchor="ctr"/>
          <a:lstStyle>
            <a:lvl1pPr algn="ctr">
              <a:defRPr sz="1200">
                <a:latin typeface="Apto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screenshot</a:t>
            </a: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7E64FA12-7867-1868-4C73-36438FFA82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52600" y="1469134"/>
            <a:ext cx="8686798" cy="48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825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owser Screenshot 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>
            <a:extLst>
              <a:ext uri="{FF2B5EF4-FFF2-40B4-BE49-F238E27FC236}">
                <a16:creationId xmlns:a16="http://schemas.microsoft.com/office/drawing/2014/main" id="{DE226210-E3AE-F559-CE3E-71798445EE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16179" y="780228"/>
            <a:ext cx="9559641" cy="532633"/>
          </a:xfrm>
          <a:prstGeom prst="rect">
            <a:avLst/>
          </a:prstGeom>
        </p:spPr>
      </p:pic>
      <p:sp>
        <p:nvSpPr>
          <p:cNvPr id="6" name="Picture Placeholder 17">
            <a:extLst>
              <a:ext uri="{FF2B5EF4-FFF2-40B4-BE49-F238E27FC236}">
                <a16:creationId xmlns:a16="http://schemas.microsoft.com/office/drawing/2014/main" id="{CBD43E14-4F9E-7FFC-4AAE-2567E350367F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6179" y="1296234"/>
            <a:ext cx="9553250" cy="556176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/>
        </p:spPr>
        <p:txBody>
          <a:bodyPr anchor="ctr"/>
          <a:lstStyle>
            <a:lvl1pPr algn="ctr">
              <a:defRPr sz="1200">
                <a:latin typeface="Apto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screenshot</a:t>
            </a:r>
          </a:p>
        </p:txBody>
      </p:sp>
    </p:spTree>
    <p:extLst>
      <p:ext uri="{BB962C8B-B14F-4D97-AF65-F5344CB8AC3E}">
        <p14:creationId xmlns:p14="http://schemas.microsoft.com/office/powerpoint/2010/main" val="40520418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owser  + one statement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7">
            <a:extLst>
              <a:ext uri="{FF2B5EF4-FFF2-40B4-BE49-F238E27FC236}">
                <a16:creationId xmlns:a16="http://schemas.microsoft.com/office/drawing/2014/main" id="{ECEB7E09-F65B-E646-C7C1-3FA885EE7C8D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714389" y="1093319"/>
            <a:ext cx="7477611" cy="50635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/>
        </p:spPr>
        <p:txBody>
          <a:bodyPr anchor="ctr"/>
          <a:lstStyle>
            <a:lvl1pPr algn="ctr">
              <a:defRPr sz="1200">
                <a:latin typeface="Apto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screenshot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0D0131A4-66AF-9252-C050-4A1BFC918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714389" y="619505"/>
            <a:ext cx="8588275" cy="478511"/>
          </a:xfrm>
          <a:prstGeom prst="rect">
            <a:avLst/>
          </a:prstGeom>
        </p:spPr>
      </p:pic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D133B315-FB64-194A-87A0-429B84B99B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8765" y="4406716"/>
            <a:ext cx="3212749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B078373A-3B9F-DB44-BBFF-036E9257E0F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8765" y="887157"/>
            <a:ext cx="321274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93039-BF81-F4D1-2A15-937C5E3F83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4838" y="1573760"/>
            <a:ext cx="3212747" cy="2685089"/>
          </a:xfrm>
        </p:spPr>
        <p:txBody>
          <a:bodyPr anchor="t"/>
          <a:lstStyle/>
          <a:p>
            <a:r>
              <a:rPr lang="en-US"/>
              <a:t>Statement that should be 10 words or less</a:t>
            </a:r>
          </a:p>
        </p:txBody>
      </p:sp>
    </p:spTree>
    <p:extLst>
      <p:ext uri="{BB962C8B-B14F-4D97-AF65-F5344CB8AC3E}">
        <p14:creationId xmlns:p14="http://schemas.microsoft.com/office/powerpoint/2010/main" val="1662165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owser + two statement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7">
            <a:extLst>
              <a:ext uri="{FF2B5EF4-FFF2-40B4-BE49-F238E27FC236}">
                <a16:creationId xmlns:a16="http://schemas.microsoft.com/office/drawing/2014/main" id="{C2C150FA-A4CA-8395-791F-9D0E796D9E12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634753" y="966034"/>
            <a:ext cx="7477611" cy="50635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/>
        </p:spPr>
        <p:txBody>
          <a:bodyPr anchor="ctr"/>
          <a:lstStyle>
            <a:lvl1pPr algn="ctr">
              <a:defRPr sz="1200">
                <a:latin typeface="Aptos" pitchFamily="2" charset="77"/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screenshot</a:t>
            </a:r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FF359A12-80F5-3CE1-0CBE-00661609E8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634753" y="492220"/>
            <a:ext cx="8588275" cy="47851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64D961E-D8F1-1621-0B65-EF22EBFBFA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8381" y="963376"/>
            <a:ext cx="5378032" cy="198493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6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Title should be less than 10 words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2474E636-F179-E536-9454-DE09228009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8381" y="4422499"/>
            <a:ext cx="2511761" cy="52795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1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CE169238-2E1E-D6F8-F1D2-A248C04987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8382" y="4973649"/>
            <a:ext cx="2511760" cy="10559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Try your best to keep your description no more than three lines</a:t>
            </a:r>
          </a:p>
        </p:txBody>
      </p:sp>
      <p:sp>
        <p:nvSpPr>
          <p:cNvPr id="8" name="Picture Placeholder 24">
            <a:extLst>
              <a:ext uri="{FF2B5EF4-FFF2-40B4-BE49-F238E27FC236}">
                <a16:creationId xmlns:a16="http://schemas.microsoft.com/office/drawing/2014/main" id="{8FBCA652-A806-87EE-B85F-BCFDB1B4066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58382" y="3883245"/>
            <a:ext cx="365760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73709F95-17EA-8C2B-E043-7CB31556A6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24652" y="4422499"/>
            <a:ext cx="2511762" cy="52795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Statement 2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7213201B-9B16-0B3D-E146-6B725E1AF60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624653" y="4973649"/>
            <a:ext cx="2511760" cy="105591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Try your best to keep your description no more than three lines</a:t>
            </a:r>
          </a:p>
        </p:txBody>
      </p:sp>
      <p:sp>
        <p:nvSpPr>
          <p:cNvPr id="18" name="Picture Placeholder 24">
            <a:extLst>
              <a:ext uri="{FF2B5EF4-FFF2-40B4-BE49-F238E27FC236}">
                <a16:creationId xmlns:a16="http://schemas.microsoft.com/office/drawing/2014/main" id="{9465DD82-942D-4363-BDF8-DEBD3E0B5B0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624652" y="3883245"/>
            <a:ext cx="365760" cy="3657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00">
                <a:latin typeface="Aptos" pitchFamily="2" charset="77"/>
              </a:defRPr>
            </a:lvl1pPr>
          </a:lstStyle>
          <a:p>
            <a:r>
              <a:rPr lang="en-US" err="1"/>
              <a:t>Octicon</a:t>
            </a:r>
            <a:endParaRPr lang="en-US"/>
          </a:p>
        </p:txBody>
      </p:sp>
      <p:sp>
        <p:nvSpPr>
          <p:cNvPr id="2" name="Text Placeholder 23">
            <a:extLst>
              <a:ext uri="{FF2B5EF4-FFF2-40B4-BE49-F238E27FC236}">
                <a16:creationId xmlns:a16="http://schemas.microsoft.com/office/drawing/2014/main" id="{7717653C-80DF-3DD2-FC16-37BB8FC2866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8380" y="574423"/>
            <a:ext cx="5378031" cy="36576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36104179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gradient&#10;&#10;AI-generated content may be incorrect.">
            <a:extLst>
              <a:ext uri="{FF2B5EF4-FFF2-40B4-BE49-F238E27FC236}">
                <a16:creationId xmlns:a16="http://schemas.microsoft.com/office/drawing/2014/main" id="{B1434823-A993-4891-D507-11A7222B1F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blue rectangle in a black background&#10;&#10;AI-generated content may be incorrect.">
            <a:extLst>
              <a:ext uri="{FF2B5EF4-FFF2-40B4-BE49-F238E27FC236}">
                <a16:creationId xmlns:a16="http://schemas.microsoft.com/office/drawing/2014/main" id="{958AAFC2-54C0-8004-C214-941FE32D11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0412" y="1820590"/>
            <a:ext cx="2884729" cy="82981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C840639-8979-42F9-CF5B-5F471C757C54}"/>
              </a:ext>
            </a:extLst>
          </p:cNvPr>
          <p:cNvSpPr txBox="1"/>
          <p:nvPr userDrawn="1"/>
        </p:nvSpPr>
        <p:spPr>
          <a:xfrm>
            <a:off x="4358263" y="2321003"/>
            <a:ext cx="6535406" cy="221599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sz="9000" b="1" i="0" spc="-150" dirty="0">
                <a:solidFill>
                  <a:schemeClr val="bg1"/>
                </a:solidFill>
                <a:latin typeface="Aptos" pitchFamily="2" charset="77"/>
              </a:rPr>
              <a:t>Thank you</a:t>
            </a:r>
          </a:p>
          <a:p>
            <a:pPr algn="l"/>
            <a:r>
              <a:rPr lang="en-US" sz="4800" b="1" i="0" spc="-150" dirty="0">
                <a:solidFill>
                  <a:schemeClr val="bg1"/>
                </a:solidFill>
                <a:latin typeface="Aptos" pitchFamily="2" charset="77"/>
              </a:rPr>
              <a:t>gh.io/copilot</a:t>
            </a:r>
          </a:p>
        </p:txBody>
      </p:sp>
    </p:spTree>
    <p:extLst>
      <p:ext uri="{BB962C8B-B14F-4D97-AF65-F5344CB8AC3E}">
        <p14:creationId xmlns:p14="http://schemas.microsoft.com/office/powerpoint/2010/main" val="2218012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2AF196B8-1D58-272E-5E41-AE317E99E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6614" y="550334"/>
            <a:ext cx="2596138" cy="30610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457109" rtl="0" eaLnBrk="1" latinLnBrk="0" hangingPunct="1">
              <a:lnSpc>
                <a:spcPts val="1800"/>
              </a:lnSpc>
              <a:buNone/>
              <a:defRPr lang="en-US" sz="1200" b="0" i="0" kern="0" spc="-28" baseline="0" dirty="0">
                <a:solidFill>
                  <a:schemeClr val="tx2"/>
                </a:solidFill>
                <a:latin typeface="Segoe UI Semibold" panose="020B0702040204020203" pitchFamily="34" charset="0"/>
                <a:ea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indent="0" algn="l">
              <a:lnSpc>
                <a:spcPts val="1800"/>
              </a:lnSpc>
              <a:buNone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Product name</a:t>
            </a:r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A8075CD2-771E-032E-859A-DE98AE8BE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614" y="854500"/>
            <a:ext cx="2596138" cy="3658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600" b="0" i="0" kern="0" spc="-36" baseline="0" dirty="0" smtClean="0">
                <a:solidFill>
                  <a:schemeClr val="tx1"/>
                </a:solidFill>
                <a:latin typeface="+mn-lt"/>
                <a:ea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indent="0" algn="l">
              <a:lnSpc>
                <a:spcPts val="22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Demo title</a:t>
            </a:r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381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ilot Product on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F39D8AA-00A9-0670-AD3C-169F3A69C11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88062" y="0"/>
            <a:ext cx="6103938" cy="6858000"/>
          </a:xfrm>
          <a:prstGeom prst="rect">
            <a:avLst/>
          </a:prstGeom>
          <a:solidFill>
            <a:schemeClr val="accent3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CB63979A-A17F-E938-C84A-1AB2E69FC6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67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37D3A4FC-8E41-6E24-0959-8E3974B113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67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rgbClr val="B6BFB8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Beta / Coming soon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3CD644-844F-AA19-6318-67C80A1643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678" y="1078522"/>
            <a:ext cx="5329526" cy="2860431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The name of the new feature/tool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8338F7-6F56-27F7-EE5C-C77A63AB65A9}"/>
              </a:ext>
            </a:extLst>
          </p:cNvPr>
          <p:cNvSpPr/>
          <p:nvPr userDrawn="1"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56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urity feature specif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2CE00D18-58A3-619E-6372-329E8F278A4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0" y="0"/>
            <a:ext cx="6103938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71918A70-9503-E96C-7F21-F0C5E11DEC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7010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17FBA312-E57F-F278-9A64-CCFA9DD58CC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87010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DEB60F22-6FEA-E40C-054D-399149D3E0E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7010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39CEF6-F6BE-74F6-C7E2-3B1FB8C11D25}"/>
              </a:ext>
            </a:extLst>
          </p:cNvPr>
          <p:cNvSpPr/>
          <p:nvPr userDrawn="1"/>
        </p:nvSpPr>
        <p:spPr>
          <a:xfrm>
            <a:off x="6103336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888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urity feature specif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D89EC314-9034-41CA-7F9D-FFA5D6F69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678" y="1814384"/>
            <a:ext cx="5329526" cy="2860431"/>
          </a:xfrm>
          <a:prstGeom prst="rect">
            <a:avLst/>
          </a:prstGeom>
        </p:spPr>
        <p:txBody>
          <a:bodyPr anchor="t"/>
          <a:lstStyle>
            <a:lvl1pPr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that is 12 words or less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2243E505-DF3C-F337-CBC7-E70FEE6C0C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0678" y="394788"/>
            <a:ext cx="5329528" cy="53873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AB6A4-AA7E-8631-4382-09BBAB795B1E}"/>
              </a:ext>
            </a:extLst>
          </p:cNvPr>
          <p:cNvSpPr/>
          <p:nvPr userDrawn="1"/>
        </p:nvSpPr>
        <p:spPr>
          <a:xfrm>
            <a:off x="6049660" y="0"/>
            <a:ext cx="365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A3FF5C67-D41D-04B3-E321-C939F38724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678" y="4899085"/>
            <a:ext cx="5329526" cy="156412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rgbClr val="B6BFB8"/>
                </a:solidFill>
                <a:latin typeface="Aptos" pitchFamily="2" charset="77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/>
              <a:t>Supporting text if applicable. Keep it short and sweet.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A2D3F14D-0D4B-4EFB-F398-BFFFBB46F6D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88062" y="0"/>
            <a:ext cx="6103938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353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urity feature specif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59326D6-64C6-348E-9279-FB16E6BBEA29}"/>
              </a:ext>
            </a:extLst>
          </p:cNvPr>
          <p:cNvSpPr/>
          <p:nvPr userDrawn="1"/>
        </p:nvSpPr>
        <p:spPr>
          <a:xfrm>
            <a:off x="1646961" y="2537246"/>
            <a:ext cx="8898071" cy="4549354"/>
          </a:xfrm>
          <a:prstGeom prst="roundRect">
            <a:avLst>
              <a:gd name="adj" fmla="val 1725"/>
            </a:avLst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Aptos" pitchFamily="2" charset="77"/>
                <a:cs typeface="Aptos" pitchFamily="2" charset="77"/>
              </a:rPr>
              <a:t>Cover this entire rectangle with the product shot / 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896C6-8487-9D71-D14D-0618FC4FF6D1}"/>
              </a:ext>
            </a:extLst>
          </p:cNvPr>
          <p:cNvSpPr/>
          <p:nvPr userDrawn="1"/>
        </p:nvSpPr>
        <p:spPr>
          <a:xfrm rot="5400000">
            <a:off x="6077712" y="-6076188"/>
            <a:ext cx="36576" cy="12188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C0A93AB-65E7-2F9F-A327-9957791E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277951"/>
            <a:ext cx="12188952" cy="1127328"/>
          </a:xfrm>
          <a:prstGeom prst="rect">
            <a:avLst/>
          </a:prstGeom>
        </p:spPr>
        <p:txBody>
          <a:bodyPr anchor="t"/>
          <a:lstStyle>
            <a:lvl1pPr algn="ctr">
              <a:defRPr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/>
              <a:t>A value prop in sentence case </a:t>
            </a:r>
            <a:br>
              <a:rPr lang="en-US"/>
            </a:br>
            <a:r>
              <a:rPr lang="en-US"/>
              <a:t>that is 12 words or less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B2258BF3-25C9-70CC-E9B2-13FC51C67F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1236" y="263101"/>
            <a:ext cx="5329528" cy="28673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200" b="0" i="0">
                <a:solidFill>
                  <a:schemeClr val="accent2"/>
                </a:solidFill>
                <a:latin typeface="Consolas" panose="02000009000000000000" pitchFamily="49" charset="77"/>
                <a:ea typeface="Consolas" panose="02000009000000000000" pitchFamily="49" charset="77"/>
                <a:cs typeface="Consolas" panose="02000009000000000000" pitchFamily="49" charset="7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>
                <a:solidFill>
                  <a:schemeClr val="accent2"/>
                </a:solidFill>
              </a:rPr>
              <a:t>Beta / Coming soon / GA / Q12026 </a:t>
            </a:r>
          </a:p>
        </p:txBody>
      </p:sp>
    </p:spTree>
    <p:extLst>
      <p:ext uri="{BB962C8B-B14F-4D97-AF65-F5344CB8AC3E}">
        <p14:creationId xmlns:p14="http://schemas.microsoft.com/office/powerpoint/2010/main" val="39396869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79134B-F8BD-AF84-FC8F-B01F81F73C1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BBF8ABC-61EB-DB2E-3AFE-76A947CAA4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15035" y="1392319"/>
            <a:ext cx="9039106" cy="40733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6000" b="1" i="0">
                <a:solidFill>
                  <a:schemeClr val="tx1"/>
                </a:solidFill>
                <a:latin typeface="Aptos" pitchFamily="2" charset="77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81759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78EB23-30EC-D9A5-D09F-EBD7B052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7FA7F-82B9-D117-26CB-9657C199A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58781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80" r:id="rId10"/>
    <p:sldLayoutId id="2147483787" r:id="rId11"/>
    <p:sldLayoutId id="2147483791" r:id="rId12"/>
    <p:sldLayoutId id="2147483793" r:id="rId13"/>
    <p:sldLayoutId id="2147483839" r:id="rId14"/>
    <p:sldLayoutId id="2147483844" r:id="rId15"/>
    <p:sldLayoutId id="2147483686" r:id="rId16"/>
    <p:sldLayoutId id="2147483764" r:id="rId17"/>
    <p:sldLayoutId id="2147483702" r:id="rId18"/>
    <p:sldLayoutId id="2147483703" r:id="rId19"/>
    <p:sldLayoutId id="2147483704" r:id="rId20"/>
    <p:sldLayoutId id="2147483705" r:id="rId21"/>
    <p:sldLayoutId id="2147483707" r:id="rId22"/>
    <p:sldLayoutId id="2147483708" r:id="rId23"/>
    <p:sldLayoutId id="2147483709" r:id="rId24"/>
    <p:sldLayoutId id="2147483710" r:id="rId25"/>
    <p:sldLayoutId id="2147483713" r:id="rId26"/>
    <p:sldLayoutId id="2147483722" r:id="rId27"/>
    <p:sldLayoutId id="2147483723" r:id="rId28"/>
    <p:sldLayoutId id="2147483739" r:id="rId29"/>
    <p:sldLayoutId id="2147483742" r:id="rId30"/>
    <p:sldLayoutId id="2147483745" r:id="rId31"/>
    <p:sldLayoutId id="2147483753" r:id="rId32"/>
    <p:sldLayoutId id="2147483754" r:id="rId33"/>
    <p:sldLayoutId id="2147483755" r:id="rId34"/>
    <p:sldLayoutId id="2147483756" r:id="rId35"/>
    <p:sldLayoutId id="2147483860" r:id="rId36"/>
    <p:sldLayoutId id="2147483866" r:id="rId37"/>
    <p:sldLayoutId id="2147483903" r:id="rId38"/>
    <p:sldLayoutId id="2147483904" r:id="rId39"/>
    <p:sldLayoutId id="2147483905" r:id="rId40"/>
    <p:sldLayoutId id="2147483906" r:id="rId41"/>
    <p:sldLayoutId id="2147483907" r:id="rId4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Aptos" pitchFamily="2" charset="77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200" kern="1200">
          <a:solidFill>
            <a:schemeClr val="tx1"/>
          </a:solidFill>
          <a:latin typeface="Aptos" pitchFamily="2" charset="77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ptos" pitchFamily="2" charset="77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ptos" pitchFamily="2" charset="77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ptos" pitchFamily="2" charset="77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ptos" pitchFamily="2" charset="77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githubcopilotdevdays/sweepstakes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0E980-03F6-A842-2974-D4AB80531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73F31-E88F-FE41-8DD3-E021FAE838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9600" dirty="0">
                <a:latin typeface="Aptos"/>
                <a:ea typeface="Calibri"/>
                <a:cs typeface="Calibri"/>
              </a:rPr>
              <a:t>GitHub Copilot </a:t>
            </a:r>
            <a:br>
              <a:rPr lang="en-US" sz="9600" dirty="0">
                <a:latin typeface="Aptos"/>
                <a:ea typeface="Calibri"/>
                <a:cs typeface="Calibri"/>
              </a:rPr>
            </a:br>
            <a:r>
              <a:rPr lang="en-US" sz="9600" dirty="0">
                <a:latin typeface="Aptos"/>
                <a:ea typeface="Calibri"/>
                <a:cs typeface="Calibri"/>
              </a:rPr>
              <a:t>Dev Days</a:t>
            </a:r>
            <a:br>
              <a:rPr lang="en-US" sz="9600" dirty="0">
                <a:latin typeface="Aptos"/>
                <a:ea typeface="Calibri"/>
                <a:cs typeface="Calibri"/>
              </a:rPr>
            </a:br>
            <a:r>
              <a:rPr lang="en-US" sz="9600" dirty="0">
                <a:latin typeface="Aptos"/>
                <a:ea typeface="Calibri"/>
                <a:cs typeface="Calibri"/>
              </a:rPr>
              <a:t>Hyderabad</a:t>
            </a:r>
            <a:br>
              <a:rPr lang="en-US" sz="9600" dirty="0">
                <a:latin typeface="Aptos"/>
                <a:ea typeface="Calibri"/>
                <a:cs typeface="Calibri"/>
              </a:rPr>
            </a:br>
            <a:r>
              <a:rPr lang="en-US" sz="7500" dirty="0">
                <a:latin typeface="Aptos"/>
                <a:ea typeface="Calibri"/>
                <a:cs typeface="Calibri"/>
              </a:rPr>
              <a:t>April 18, 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34C61-AD51-1141-E543-FC3264283FC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Satya 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C6A8D-05C0-0E2C-8223-FBF006AFEB2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Lead Engineer, Dhan AI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CEED1D-34E8-CD38-7A2E-A70BE52A65A3}"/>
              </a:ext>
            </a:extLst>
          </p:cNvPr>
          <p:cNvPicPr>
            <a:picLocks noGrp="1" noChangeAspect="1" noChangeArrowheads="1"/>
          </p:cNvPicPr>
          <p:nvPr>
            <p:ph type="pic" sz="quarter" idx="4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8713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78AD-3F85-0F83-9AC2-BDC70301C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 cartoon of a cat&#10;&#10;AI-generated content may be incorrect.">
            <a:extLst>
              <a:ext uri="{FF2B5EF4-FFF2-40B4-BE49-F238E27FC236}">
                <a16:creationId xmlns:a16="http://schemas.microsoft.com/office/drawing/2014/main" id="{4135B6B9-5386-91AA-79E1-76F894666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16" y="123544"/>
            <a:ext cx="1233471" cy="123347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98C7650-F9B8-B754-55DF-7C0CD7D70F81}"/>
              </a:ext>
            </a:extLst>
          </p:cNvPr>
          <p:cNvSpPr txBox="1"/>
          <p:nvPr/>
        </p:nvSpPr>
        <p:spPr>
          <a:xfrm>
            <a:off x="866251" y="1041544"/>
            <a:ext cx="1104446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09">
              <a:defRPr/>
            </a:pPr>
            <a:r>
              <a:rPr lang="en-US" sz="3500" b="1" spc="-150" dirty="0">
                <a:solidFill>
                  <a:srgbClr val="FFFFFF"/>
                </a:solidFill>
                <a:latin typeface="Aptos" pitchFamily="2" charset="77"/>
                <a:cs typeface="Aptos" pitchFamily="2" charset="77"/>
              </a:rPr>
              <a:t>“Hey Copilot! Build a SaaS app that makes millions…”</a:t>
            </a:r>
            <a:endParaRPr lang="en-US" sz="3500" b="1" spc="-150" dirty="0">
              <a:solidFill>
                <a:srgbClr val="5EEC83"/>
              </a:solidFill>
              <a:latin typeface="Aptos" pitchFamily="2" charset="77"/>
              <a:cs typeface="Aptos" pitchFamily="2" charset="77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F8E944C-FE5C-16DA-CB54-C7DC880759C5}"/>
              </a:ext>
            </a:extLst>
          </p:cNvPr>
          <p:cNvSpPr txBox="1">
            <a:spLocks/>
          </p:cNvSpPr>
          <p:nvPr/>
        </p:nvSpPr>
        <p:spPr>
          <a:xfrm>
            <a:off x="546563" y="2040414"/>
            <a:ext cx="3871367" cy="225987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badi" panose="020B0604020104020204" pitchFamily="34" charset="0"/>
              </a:rPr>
              <a:t>“Hi AI, build me a startup</a:t>
            </a:r>
          </a:p>
          <a:p>
            <a:r>
              <a:rPr lang="en-US" dirty="0">
                <a:latin typeface="Abadi" panose="020B0604020104020204" pitchFamily="34" charset="0"/>
              </a:rPr>
              <a:t>Make it scalable,</a:t>
            </a:r>
          </a:p>
          <a:p>
            <a:r>
              <a:rPr lang="en-US" dirty="0">
                <a:latin typeface="Abadi" panose="020B0604020104020204" pitchFamily="34" charset="0"/>
              </a:rPr>
              <a:t>Make it viral,</a:t>
            </a:r>
          </a:p>
          <a:p>
            <a:r>
              <a:rPr lang="en-US" dirty="0">
                <a:latin typeface="Abadi" panose="020B0604020104020204" pitchFamily="34" charset="0"/>
              </a:rPr>
              <a:t>Make me rich”</a:t>
            </a:r>
          </a:p>
        </p:txBody>
      </p:sp>
      <p:pic>
        <p:nvPicPr>
          <p:cNvPr id="2050" name="Picture 2" descr="Am I a Joke To You? [Original Video] - YouTube">
            <a:extLst>
              <a:ext uri="{FF2B5EF4-FFF2-40B4-BE49-F238E27FC236}">
                <a16:creationId xmlns:a16="http://schemas.microsoft.com/office/drawing/2014/main" id="{94845901-8DB4-1184-6127-638FBEF24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775" y="180288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48FE2145-2126-19DC-6726-512FB7B0D576}"/>
              </a:ext>
            </a:extLst>
          </p:cNvPr>
          <p:cNvSpPr txBox="1">
            <a:spLocks/>
          </p:cNvSpPr>
          <p:nvPr/>
        </p:nvSpPr>
        <p:spPr>
          <a:xfrm>
            <a:off x="407225" y="4088880"/>
            <a:ext cx="4730832" cy="225987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Creativity ≠ AI’s job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Idea ownership must stay with you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“If AI gives you the idea…don’t be surprised if it also gives the same idea to 10,000 other people.”</a:t>
            </a:r>
          </a:p>
        </p:txBody>
      </p:sp>
    </p:spTree>
    <p:extLst>
      <p:ext uri="{BB962C8B-B14F-4D97-AF65-F5344CB8AC3E}">
        <p14:creationId xmlns:p14="http://schemas.microsoft.com/office/powerpoint/2010/main" val="1564065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 0.12037 L 1.80556E-6 -2.34568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3E52814-4D98-4863-AE46-1DC351F89F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Prompt → Fail → Prompt → Fail → Existential Crisis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EE887A-0BB6-4761-0F85-DA21E7B1918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Prompt after prompt loop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AD9A9DF7-1A05-59AE-5694-F25CDFD186DC}"/>
              </a:ext>
            </a:extLst>
          </p:cNvPr>
          <p:cNvSpPr txBox="1">
            <a:spLocks/>
          </p:cNvSpPr>
          <p:nvPr/>
        </p:nvSpPr>
        <p:spPr>
          <a:xfrm>
            <a:off x="402871" y="2001487"/>
            <a:ext cx="5945677" cy="225987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badi" panose="020B0604020104020204" pitchFamily="34" charset="0"/>
              </a:rPr>
              <a:t>Prompt 1 → “Not working”</a:t>
            </a:r>
          </a:p>
          <a:p>
            <a:r>
              <a:rPr lang="en-US" dirty="0">
                <a:latin typeface="Abadi" panose="020B0604020104020204" pitchFamily="34" charset="0"/>
              </a:rPr>
              <a:t>Prompt 2 → “Still broken”</a:t>
            </a:r>
          </a:p>
          <a:p>
            <a:r>
              <a:rPr lang="en-US" dirty="0">
                <a:latin typeface="Abadi" panose="020B0604020104020204" pitchFamily="34" charset="0"/>
              </a:rPr>
              <a:t>Prompt 5 → “Now worse”</a:t>
            </a:r>
          </a:p>
          <a:p>
            <a:r>
              <a:rPr lang="en-US" dirty="0">
                <a:latin typeface="Abadi" panose="020B0604020104020204" pitchFamily="34" charset="0"/>
              </a:rPr>
              <a:t>Prompt 10 → “What am I even building?”</a:t>
            </a:r>
          </a:p>
        </p:txBody>
      </p:sp>
      <p:sp>
        <p:nvSpPr>
          <p:cNvPr id="23" name="Text Placeholder 1">
            <a:extLst>
              <a:ext uri="{FF2B5EF4-FFF2-40B4-BE49-F238E27FC236}">
                <a16:creationId xmlns:a16="http://schemas.microsoft.com/office/drawing/2014/main" id="{5E7BD6E2-AD62-DC79-0F42-C4A500263ABD}"/>
              </a:ext>
            </a:extLst>
          </p:cNvPr>
          <p:cNvSpPr txBox="1">
            <a:spLocks/>
          </p:cNvSpPr>
          <p:nvPr/>
        </p:nvSpPr>
        <p:spPr>
          <a:xfrm>
            <a:off x="407225" y="4088880"/>
            <a:ext cx="5275118" cy="225987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You’re not building a product…you’re negotiating with AI.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No research, No plan, Just blind iteration</a:t>
            </a:r>
          </a:p>
        </p:txBody>
      </p:sp>
      <p:sp>
        <p:nvSpPr>
          <p:cNvPr id="25" name="AutoShape 3" descr="Navigating the data management landscape in the age of Gen AI | by Willem  Koenders | ZS Associates | Medium">
            <a:extLst>
              <a:ext uri="{FF2B5EF4-FFF2-40B4-BE49-F238E27FC236}">
                <a16:creationId xmlns:a16="http://schemas.microsoft.com/office/drawing/2014/main" id="{B0F9196C-1310-B671-2D65-5AECACBEDC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966BE5D-4270-F5BB-6C58-0050E02AC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037" y="1902173"/>
            <a:ext cx="4718375" cy="471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54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2C9F6-5C28-34F4-B24C-A61554BD5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B2C69BA-67FE-BEEB-043C-1C16B67E70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AI Is Only As Good As The Instructions You Give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34C403D-94E2-DA0B-18C5-49D78A03911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Don’t let AI decide everything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08DF3A98-9F82-E51C-4CD4-D2773D07DE75}"/>
              </a:ext>
            </a:extLst>
          </p:cNvPr>
          <p:cNvSpPr txBox="1">
            <a:spLocks/>
          </p:cNvSpPr>
          <p:nvPr/>
        </p:nvSpPr>
        <p:spPr>
          <a:xfrm>
            <a:off x="402871" y="2001487"/>
            <a:ext cx="5945677" cy="225987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No context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No constraints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No architecture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Expecting magic </a:t>
            </a:r>
          </a:p>
        </p:txBody>
      </p:sp>
      <p:sp>
        <p:nvSpPr>
          <p:cNvPr id="25" name="AutoShape 3" descr="Navigating the data management landscape in the age of Gen AI | by Willem  Koenders | ZS Associates | Medium">
            <a:extLst>
              <a:ext uri="{FF2B5EF4-FFF2-40B4-BE49-F238E27FC236}">
                <a16:creationId xmlns:a16="http://schemas.microsoft.com/office/drawing/2014/main" id="{47AA83C7-0B0A-CE8F-27A2-D6E2D8DC8F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099" name="Picture 3" descr="funny ai meme Blank Template - Imgflip">
            <a:extLst>
              <a:ext uri="{FF2B5EF4-FFF2-40B4-BE49-F238E27FC236}">
                <a16:creationId xmlns:a16="http://schemas.microsoft.com/office/drawing/2014/main" id="{1B01275F-5C6C-F018-D289-91AF47D9A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036" y="2001487"/>
            <a:ext cx="4856513" cy="485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48BA57-1EC9-CE5F-94E6-D9A09AD5531A}"/>
              </a:ext>
            </a:extLst>
          </p:cNvPr>
          <p:cNvSpPr txBox="1">
            <a:spLocks/>
          </p:cNvSpPr>
          <p:nvPr/>
        </p:nvSpPr>
        <p:spPr>
          <a:xfrm>
            <a:off x="407224" y="4088880"/>
            <a:ext cx="5841175" cy="225987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Agents need: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Tools,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Skills,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Context,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Constraints,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Clear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192568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C7F7F-5427-6CF0-08C0-4E35F8AEA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3747702-C342-1CC4-9004-F7616A21F2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AI Will Choose Easy… Not Correct”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2350B15-E912-F069-4E69-187AA88C77D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You orchestrate, Let AI work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EEE2DD03-15FE-889B-3165-475672F517C2}"/>
              </a:ext>
            </a:extLst>
          </p:cNvPr>
          <p:cNvSpPr txBox="1">
            <a:spLocks/>
          </p:cNvSpPr>
          <p:nvPr/>
        </p:nvSpPr>
        <p:spPr>
          <a:xfrm>
            <a:off x="402871" y="2001487"/>
            <a:ext cx="5945677" cy="225987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“Store everything in Google Sheets”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“Push tokens &amp; .env to GitHub”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“Skip security”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“Ship fast 😎”</a:t>
            </a:r>
          </a:p>
        </p:txBody>
      </p:sp>
      <p:sp>
        <p:nvSpPr>
          <p:cNvPr id="25" name="AutoShape 3" descr="Navigating the data management landscape in the age of Gen AI | by Willem  Koenders | ZS Associates | Medium">
            <a:extLst>
              <a:ext uri="{FF2B5EF4-FFF2-40B4-BE49-F238E27FC236}">
                <a16:creationId xmlns:a16="http://schemas.microsoft.com/office/drawing/2014/main" id="{7D728E77-E5A8-E1D7-B2D4-FBD2655E6B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321C5748-204D-66B6-3970-487BBCA6C4E9}"/>
              </a:ext>
            </a:extLst>
          </p:cNvPr>
          <p:cNvSpPr txBox="1">
            <a:spLocks/>
          </p:cNvSpPr>
          <p:nvPr/>
        </p:nvSpPr>
        <p:spPr>
          <a:xfrm>
            <a:off x="402871" y="4058999"/>
            <a:ext cx="4752605" cy="225987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If you don’t guide AI…it will optimize for shortcuts, not systems</a:t>
            </a:r>
          </a:p>
        </p:txBody>
      </p:sp>
      <p:pic>
        <p:nvPicPr>
          <p:cNvPr id="4101" name="Picture 5" descr="The new type of SQL injection&#10;     · ProgrammerHumor.io">
            <a:extLst>
              <a:ext uri="{FF2B5EF4-FFF2-40B4-BE49-F238E27FC236}">
                <a16:creationId xmlns:a16="http://schemas.microsoft.com/office/drawing/2014/main" id="{7FFAC6F9-70DE-CC9F-45FA-8CFA682B7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548" y="1841632"/>
            <a:ext cx="5120640" cy="4839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173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E3502-DF09-B9D4-7661-0365BA1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D5A85AD-140D-1E20-BB06-A645E889F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937" y="916059"/>
            <a:ext cx="10884125" cy="823355"/>
          </a:xfrm>
        </p:spPr>
        <p:txBody>
          <a:bodyPr/>
          <a:lstStyle/>
          <a:p>
            <a:r>
              <a:rPr lang="en-US" sz="3600" dirty="0"/>
              <a:t>Before VS Code… Open a </a:t>
            </a:r>
            <a:r>
              <a:rPr lang="en-IN" sz="3600" dirty="0"/>
              <a:t>Conversation</a:t>
            </a:r>
            <a:endParaRPr lang="en-US" sz="36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4DC2E8B-B407-19CD-DEE8-6D844BD9C77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02888" y="481040"/>
            <a:ext cx="10884124" cy="365760"/>
          </a:xfrm>
        </p:spPr>
        <p:txBody>
          <a:bodyPr/>
          <a:lstStyle/>
          <a:p>
            <a:r>
              <a:rPr lang="en-US" dirty="0"/>
              <a:t>Don’t rush to start coding,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DA66E8F3-5A75-EBE8-6ABD-6C56998DAC59}"/>
              </a:ext>
            </a:extLst>
          </p:cNvPr>
          <p:cNvSpPr txBox="1">
            <a:spLocks/>
          </p:cNvSpPr>
          <p:nvPr/>
        </p:nvSpPr>
        <p:spPr>
          <a:xfrm>
            <a:off x="402871" y="2001487"/>
            <a:ext cx="5945677" cy="225987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25" name="AutoShape 3" descr="Navigating the data management landscape in the age of Gen AI | by Willem  Koenders | ZS Associates | Medium">
            <a:extLst>
              <a:ext uri="{FF2B5EF4-FFF2-40B4-BE49-F238E27FC236}">
                <a16:creationId xmlns:a16="http://schemas.microsoft.com/office/drawing/2014/main" id="{7C0303C9-A89D-664C-6A56-428DA21E00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146" name="Picture 2" descr="35 Programming memes for the tired programmers and devs">
            <a:extLst>
              <a:ext uri="{FF2B5EF4-FFF2-40B4-BE49-F238E27FC236}">
                <a16:creationId xmlns:a16="http://schemas.microsoft.com/office/drawing/2014/main" id="{09F70492-E951-8936-D2D0-7C63C607D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012" y="1808673"/>
            <a:ext cx="5715000" cy="490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3B06A5-1088-78C1-5D06-68035348D2E2}"/>
              </a:ext>
            </a:extLst>
          </p:cNvPr>
          <p:cNvSpPr txBox="1">
            <a:spLocks/>
          </p:cNvSpPr>
          <p:nvPr/>
        </p:nvSpPr>
        <p:spPr>
          <a:xfrm>
            <a:off x="351821" y="1543699"/>
            <a:ext cx="5420191" cy="5314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badi" panose="020B0604020104020204" pitchFamily="34" charset="0"/>
              </a:rPr>
              <a:t>What most people do: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Jump straight into coding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Start prompting blindly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Hope AI “figures it out”</a:t>
            </a:r>
          </a:p>
          <a:p>
            <a:r>
              <a:rPr lang="en-US" dirty="0">
                <a:latin typeface="Abadi" panose="020B0604020104020204" pitchFamily="34" charset="0"/>
              </a:rPr>
              <a:t>What we should do instead: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Clearly explain the full product idea to AI first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Ask AI to act as: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Technical Architect/Product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Explicitly instruct: “No bias, no sugar-coating, act like a critic”</a:t>
            </a:r>
          </a:p>
          <a:p>
            <a:r>
              <a:rPr lang="en-US" dirty="0">
                <a:latin typeface="Abadi" panose="020B0604020104020204" pitchFamily="34" charset="0"/>
              </a:rPr>
              <a:t>What to ask AI: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What is missing in this idea?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What assumptions am I making?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What should be the scope of V1?</a:t>
            </a:r>
          </a:p>
        </p:txBody>
      </p:sp>
    </p:spTree>
    <p:extLst>
      <p:ext uri="{BB962C8B-B14F-4D97-AF65-F5344CB8AC3E}">
        <p14:creationId xmlns:p14="http://schemas.microsoft.com/office/powerpoint/2010/main" val="66357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C6FE5-F2FD-36C2-5AC5-58FD1D0C8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96F01DD-C8EC-88E8-15DA-5DD8F29D3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937" y="916059"/>
            <a:ext cx="10884125" cy="823355"/>
          </a:xfrm>
        </p:spPr>
        <p:txBody>
          <a:bodyPr/>
          <a:lstStyle/>
          <a:p>
            <a:r>
              <a:rPr lang="en-US" sz="3600" dirty="0"/>
              <a:t>Stop Prompting. Start Executing a System.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44FD5A9-7046-E2F6-6846-D8CD69E442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02888" y="481040"/>
            <a:ext cx="10884124" cy="365760"/>
          </a:xfrm>
        </p:spPr>
        <p:txBody>
          <a:bodyPr/>
          <a:lstStyle/>
          <a:p>
            <a:r>
              <a:rPr lang="en-IN" dirty="0"/>
              <a:t>From Chaos → Controlled Execution</a:t>
            </a:r>
            <a:endParaRPr lang="en-US" dirty="0"/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358F41F3-F5A5-90E7-D2F6-CF116723B3CE}"/>
              </a:ext>
            </a:extLst>
          </p:cNvPr>
          <p:cNvSpPr txBox="1">
            <a:spLocks/>
          </p:cNvSpPr>
          <p:nvPr/>
        </p:nvSpPr>
        <p:spPr>
          <a:xfrm>
            <a:off x="402871" y="2001487"/>
            <a:ext cx="5945677" cy="225987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25" name="AutoShape 3" descr="Navigating the data management landscape in the age of Gen AI | by Willem  Koenders | ZS Associates | Medium">
            <a:extLst>
              <a:ext uri="{FF2B5EF4-FFF2-40B4-BE49-F238E27FC236}">
                <a16:creationId xmlns:a16="http://schemas.microsoft.com/office/drawing/2014/main" id="{F1785B58-5B77-2B32-73EB-8935A3B6C5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809EE1-A672-6BA7-57E6-DC8D09634BD8}"/>
              </a:ext>
            </a:extLst>
          </p:cNvPr>
          <p:cNvSpPr txBox="1">
            <a:spLocks/>
          </p:cNvSpPr>
          <p:nvPr/>
        </p:nvSpPr>
        <p:spPr>
          <a:xfrm>
            <a:off x="351821" y="1543699"/>
            <a:ext cx="6689059" cy="5314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badi" panose="020B0604020104020204" pitchFamily="34" charset="0"/>
              </a:rPr>
              <a:t>Give AI a system, not questions: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PRD + TRD as context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Instructions.md</a:t>
            </a:r>
            <a:r>
              <a:rPr lang="en-US" dirty="0">
                <a:latin typeface="Abadi" panose="020B0604020104020204" pitchFamily="34" charset="0"/>
              </a:rPr>
              <a:t> as rules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Required </a:t>
            </a: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Skills</a:t>
            </a:r>
            <a:r>
              <a:rPr lang="en-US" dirty="0">
                <a:latin typeface="Abadi" panose="020B0604020104020204" pitchFamily="34" charset="0"/>
              </a:rPr>
              <a:t> and supporting </a:t>
            </a: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agents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Follow a flow: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Abadi" panose="020B0604020104020204" pitchFamily="34" charset="0"/>
              </a:rPr>
              <a:t>Brainstorm → Research → Plan → Execute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Always: Test before moving forward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badi" panose="020B0604020104020204" pitchFamily="34" charset="0"/>
              </a:rPr>
              <a:t>Commit only working code</a:t>
            </a:r>
          </a:p>
        </p:txBody>
      </p:sp>
      <p:pic>
        <p:nvPicPr>
          <p:cNvPr id="7172" name="Picture 4" descr="Guy explaining (Meme template) on Make a GIF">
            <a:extLst>
              <a:ext uri="{FF2B5EF4-FFF2-40B4-BE49-F238E27FC236}">
                <a16:creationId xmlns:a16="http://schemas.microsoft.com/office/drawing/2014/main" id="{D02CDC34-2432-DE5B-82E5-E62E9C5E9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4950" y="3063942"/>
            <a:ext cx="5885180" cy="3310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0329E2-847B-EAAC-6939-19E21EC8606B}"/>
              </a:ext>
            </a:extLst>
          </p:cNvPr>
          <p:cNvSpPr txBox="1"/>
          <p:nvPr/>
        </p:nvSpPr>
        <p:spPr>
          <a:xfrm>
            <a:off x="7434379" y="2432537"/>
            <a:ext cx="3710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3"/>
                </a:solidFill>
                <a:latin typeface="Abadi" panose="020B0604020104020204" pitchFamily="34" charset="0"/>
              </a:rPr>
              <a:t>Perfect Plan makes it as perfect app</a:t>
            </a:r>
          </a:p>
        </p:txBody>
      </p:sp>
    </p:spTree>
    <p:extLst>
      <p:ext uri="{BB962C8B-B14F-4D97-AF65-F5344CB8AC3E}">
        <p14:creationId xmlns:p14="http://schemas.microsoft.com/office/powerpoint/2010/main" val="420760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49BCF-FDE6-D1C4-7FC7-F2FA09B82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052685B-9BEC-1CC6-B5D0-2FEE2319D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988" y="406608"/>
            <a:ext cx="10884125" cy="823355"/>
          </a:xfrm>
        </p:spPr>
        <p:txBody>
          <a:bodyPr/>
          <a:lstStyle/>
          <a:p>
            <a:r>
              <a:rPr lang="en-US" sz="3600" dirty="0"/>
              <a:t>Development Workflow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E8BB8-86FD-EF8D-83D3-AA7979FD4703}"/>
              </a:ext>
            </a:extLst>
          </p:cNvPr>
          <p:cNvSpPr/>
          <p:nvPr/>
        </p:nvSpPr>
        <p:spPr>
          <a:xfrm>
            <a:off x="1240972" y="1165313"/>
            <a:ext cx="1580606" cy="43422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Abadi" panose="020B0604020104020204" pitchFamily="34" charset="0"/>
              </a:rPr>
              <a:t>Idea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A8DF8E-FDAC-A061-CC4A-D3A3A5BDBA1C}"/>
              </a:ext>
            </a:extLst>
          </p:cNvPr>
          <p:cNvSpPr/>
          <p:nvPr/>
        </p:nvSpPr>
        <p:spPr>
          <a:xfrm>
            <a:off x="592184" y="2092476"/>
            <a:ext cx="2878182" cy="96870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badi" panose="020B0604020104020204" pitchFamily="34" charset="0"/>
              </a:rPr>
              <a:t>Brainstorming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badi" panose="020B0604020104020204" pitchFamily="34" charset="0"/>
              </a:rPr>
              <a:t>(Refine idea, explore options, create design doc)</a:t>
            </a:r>
            <a:endParaRPr lang="en-IN" sz="1400" b="1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108F30-E900-10D4-B1CE-1E74C5CB6894}"/>
              </a:ext>
            </a:extLst>
          </p:cNvPr>
          <p:cNvSpPr/>
          <p:nvPr/>
        </p:nvSpPr>
        <p:spPr>
          <a:xfrm>
            <a:off x="916578" y="3633596"/>
            <a:ext cx="2229394" cy="82670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badi" panose="020B0604020104020204" pitchFamily="34" charset="0"/>
              </a:rPr>
              <a:t>Setup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badi" panose="020B0604020104020204" pitchFamily="34" charset="0"/>
              </a:rPr>
              <a:t>(Git Setup, New branch clean test baseline)</a:t>
            </a:r>
            <a:endParaRPr lang="en-IN" sz="1400" b="1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7AF87B-ADAF-CCA8-DC41-18A66293C1DC}"/>
              </a:ext>
            </a:extLst>
          </p:cNvPr>
          <p:cNvSpPr/>
          <p:nvPr/>
        </p:nvSpPr>
        <p:spPr>
          <a:xfrm>
            <a:off x="916578" y="5032716"/>
            <a:ext cx="2229394" cy="96085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badi" panose="020B0604020104020204" pitchFamily="34" charset="0"/>
              </a:rPr>
              <a:t>Planning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badi" panose="020B0604020104020204" pitchFamily="34" charset="0"/>
              </a:rPr>
              <a:t>(Writing Plans, break into small tasks, verification)</a:t>
            </a:r>
            <a:endParaRPr lang="en-IN" sz="1400" b="1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CD6A1-0633-CE67-6BC7-3ADA1936761D}"/>
              </a:ext>
            </a:extLst>
          </p:cNvPr>
          <p:cNvSpPr/>
          <p:nvPr/>
        </p:nvSpPr>
        <p:spPr>
          <a:xfrm>
            <a:off x="4153989" y="4552290"/>
            <a:ext cx="3357154" cy="96085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badi" panose="020B0604020104020204" pitchFamily="34" charset="0"/>
              </a:rPr>
              <a:t>Execution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badi" panose="020B0604020104020204" pitchFamily="34" charset="0"/>
              </a:rPr>
              <a:t>(Parallel/Subagents / Batches), Task execution with reviews)</a:t>
            </a:r>
            <a:endParaRPr lang="en-IN" sz="1400" b="1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EA8BB8-E3CF-5804-F133-DAD34FDE4F66}"/>
              </a:ext>
            </a:extLst>
          </p:cNvPr>
          <p:cNvSpPr/>
          <p:nvPr/>
        </p:nvSpPr>
        <p:spPr>
          <a:xfrm>
            <a:off x="4911635" y="3500298"/>
            <a:ext cx="1841862" cy="59303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badi" panose="020B0604020104020204" pitchFamily="34" charset="0"/>
              </a:rPr>
              <a:t>Test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88F9E0-6E69-9E17-30A6-45C8482B3B24}"/>
              </a:ext>
            </a:extLst>
          </p:cNvPr>
          <p:cNvSpPr/>
          <p:nvPr/>
        </p:nvSpPr>
        <p:spPr>
          <a:xfrm>
            <a:off x="4362995" y="2080490"/>
            <a:ext cx="3148148" cy="96085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badi" panose="020B0604020104020204" pitchFamily="34" charset="0"/>
              </a:rPr>
              <a:t>Code review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Abadi" panose="020B0604020104020204" pitchFamily="34" charset="0"/>
              </a:rPr>
              <a:t>(Spec Compliance and code quality)</a:t>
            </a: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174A5B60-12A3-7A88-83EC-AD44FE36A807}"/>
              </a:ext>
            </a:extLst>
          </p:cNvPr>
          <p:cNvSpPr/>
          <p:nvPr/>
        </p:nvSpPr>
        <p:spPr>
          <a:xfrm>
            <a:off x="8138160" y="2796696"/>
            <a:ext cx="2695302" cy="1630138"/>
          </a:xfrm>
          <a:prstGeom prst="diamond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Abadi" panose="020B0604020104020204" pitchFamily="34" charset="0"/>
              </a:rPr>
              <a:t>Approved?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30735CA-A233-0A41-ABBF-F3E147D3914B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2031275" y="1599535"/>
            <a:ext cx="0" cy="4929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33C86D0-DC37-6C78-FBC6-98303C9EC5F5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2031275" y="3061184"/>
            <a:ext cx="0" cy="5724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C33204-9180-C4F3-0A61-F66C12D23082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2031275" y="4460303"/>
            <a:ext cx="0" cy="5724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B8ABE171-0E7C-7943-0F37-B9EB1F9105E1}"/>
              </a:ext>
            </a:extLst>
          </p:cNvPr>
          <p:cNvCxnSpPr>
            <a:stCxn id="9" idx="2"/>
            <a:endCxn id="10" idx="2"/>
          </p:cNvCxnSpPr>
          <p:nvPr/>
        </p:nvCxnSpPr>
        <p:spPr>
          <a:xfrm rot="5400000" flipH="1" flipV="1">
            <a:off x="3691707" y="3852709"/>
            <a:ext cx="480426" cy="3801291"/>
          </a:xfrm>
          <a:prstGeom prst="bentConnector3">
            <a:avLst>
              <a:gd name="adj1" fmla="val -47583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83136AF-0E9E-F7DD-86F5-383CE5F3B178}"/>
              </a:ext>
            </a:extLst>
          </p:cNvPr>
          <p:cNvCxnSpPr>
            <a:stCxn id="10" idx="0"/>
            <a:endCxn id="13" idx="2"/>
          </p:cNvCxnSpPr>
          <p:nvPr/>
        </p:nvCxnSpPr>
        <p:spPr>
          <a:xfrm flipV="1">
            <a:off x="5832566" y="4093334"/>
            <a:ext cx="0" cy="4589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75387A3-10EA-3541-D1E5-923793BD39C7}"/>
              </a:ext>
            </a:extLst>
          </p:cNvPr>
          <p:cNvCxnSpPr>
            <a:stCxn id="13" idx="0"/>
          </p:cNvCxnSpPr>
          <p:nvPr/>
        </p:nvCxnSpPr>
        <p:spPr>
          <a:xfrm flipV="1">
            <a:off x="5832566" y="3061184"/>
            <a:ext cx="0" cy="4391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CD4F3682-910A-A0BD-1757-EED474C33CE8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>
            <a:off x="7511143" y="2560916"/>
            <a:ext cx="1974668" cy="23578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C0CB5ADE-134B-3E93-5FF6-D0B6762EA37A}"/>
              </a:ext>
            </a:extLst>
          </p:cNvPr>
          <p:cNvSpPr/>
          <p:nvPr/>
        </p:nvSpPr>
        <p:spPr>
          <a:xfrm>
            <a:off x="8564880" y="4913683"/>
            <a:ext cx="1841862" cy="59303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badi" panose="020B0604020104020204" pitchFamily="34" charset="0"/>
              </a:rPr>
              <a:t>Commit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D832381-BDAE-B6C5-CDF4-33B5442B5D64}"/>
              </a:ext>
            </a:extLst>
          </p:cNvPr>
          <p:cNvCxnSpPr>
            <a:stCxn id="15" idx="2"/>
            <a:endCxn id="34" idx="0"/>
          </p:cNvCxnSpPr>
          <p:nvPr/>
        </p:nvCxnSpPr>
        <p:spPr>
          <a:xfrm>
            <a:off x="9485811" y="4426834"/>
            <a:ext cx="0" cy="486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72204673-6DC3-7246-1E39-EDA9501272CE}"/>
              </a:ext>
            </a:extLst>
          </p:cNvPr>
          <p:cNvCxnSpPr>
            <a:stCxn id="15" idx="1"/>
            <a:endCxn id="10" idx="3"/>
          </p:cNvCxnSpPr>
          <p:nvPr/>
        </p:nvCxnSpPr>
        <p:spPr>
          <a:xfrm rot="10800000" flipV="1">
            <a:off x="7511144" y="3611764"/>
            <a:ext cx="627017" cy="142095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DA9E9AFD-0F1C-F3CC-237B-A047013953CF}"/>
              </a:ext>
            </a:extLst>
          </p:cNvPr>
          <p:cNvSpPr/>
          <p:nvPr/>
        </p:nvSpPr>
        <p:spPr>
          <a:xfrm>
            <a:off x="8564880" y="5993567"/>
            <a:ext cx="1841862" cy="59303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badi" panose="020B0604020104020204" pitchFamily="34" charset="0"/>
              </a:rPr>
              <a:t>Next task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6DD991B-9480-D813-AF9A-0F1B783C903A}"/>
              </a:ext>
            </a:extLst>
          </p:cNvPr>
          <p:cNvCxnSpPr>
            <a:stCxn id="34" idx="2"/>
            <a:endCxn id="39" idx="0"/>
          </p:cNvCxnSpPr>
          <p:nvPr/>
        </p:nvCxnSpPr>
        <p:spPr>
          <a:xfrm>
            <a:off x="9485811" y="5506719"/>
            <a:ext cx="0" cy="4868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46" name="Picture 45" descr="A blue and purple helmet with a yellow center">
            <a:extLst>
              <a:ext uri="{FF2B5EF4-FFF2-40B4-BE49-F238E27FC236}">
                <a16:creationId xmlns:a16="http://schemas.microsoft.com/office/drawing/2014/main" id="{91253B82-0823-F45C-D67C-A3427C19E92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194762" flipH="1">
            <a:off x="9164438" y="6444"/>
            <a:ext cx="2553848" cy="257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75A1D-5BFC-654B-2127-C089F89EF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4FAE6-0A66-C998-5222-4EEBFF6ACA9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GitHub Copilot Dev Days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AEC0E7-2FD3-7EED-3FFC-130345B2A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436" y="1273358"/>
            <a:ext cx="10818832" cy="882013"/>
          </a:xfrm>
        </p:spPr>
        <p:txBody>
          <a:bodyPr/>
          <a:lstStyle/>
          <a:p>
            <a:r>
              <a:rPr lang="en-US"/>
              <a:t>Demo</a:t>
            </a:r>
          </a:p>
        </p:txBody>
      </p:sp>
      <p:pic>
        <p:nvPicPr>
          <p:cNvPr id="5" name="Picture 2" descr="Meet some cute pilots from jet fighter kitty squad 😻😻😻">
            <a:extLst>
              <a:ext uri="{FF2B5EF4-FFF2-40B4-BE49-F238E27FC236}">
                <a16:creationId xmlns:a16="http://schemas.microsoft.com/office/drawing/2014/main" id="{B2FAF9AE-9271-9EEB-B200-816D31D23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746" y="1339243"/>
            <a:ext cx="5224262" cy="522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If you were this pilot cat, what would be your reaction mid-flight? 😂👇  #questiontime #games #morning">
            <a:extLst>
              <a:ext uri="{FF2B5EF4-FFF2-40B4-BE49-F238E27FC236}">
                <a16:creationId xmlns:a16="http://schemas.microsoft.com/office/drawing/2014/main" id="{CEB794F7-C732-7D01-A46E-F81FF343AF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47"/>
          <a:stretch>
            <a:fillRect/>
          </a:stretch>
        </p:blipFill>
        <p:spPr bwMode="auto">
          <a:xfrm>
            <a:off x="8665877" y="1346970"/>
            <a:ext cx="2612131" cy="258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F0E35A-DE41-7078-8DAA-34F49C7F7ABA}"/>
              </a:ext>
            </a:extLst>
          </p:cNvPr>
          <p:cNvSpPr txBox="1"/>
          <p:nvPr/>
        </p:nvSpPr>
        <p:spPr>
          <a:xfrm>
            <a:off x="7666332" y="3558177"/>
            <a:ext cx="2305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badi" panose="020B0604020104020204" pitchFamily="34" charset="0"/>
              </a:rPr>
              <a:t>Copilot, Lets Cook</a:t>
            </a:r>
          </a:p>
        </p:txBody>
      </p:sp>
    </p:spTree>
    <p:extLst>
      <p:ext uri="{BB962C8B-B14F-4D97-AF65-F5344CB8AC3E}">
        <p14:creationId xmlns:p14="http://schemas.microsoft.com/office/powerpoint/2010/main" val="4146158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38E33C-068A-4597-D18E-4D2F734FCBBE}"/>
              </a:ext>
            </a:extLst>
          </p:cNvPr>
          <p:cNvSpPr txBox="1"/>
          <p:nvPr/>
        </p:nvSpPr>
        <p:spPr>
          <a:xfrm>
            <a:off x="635000" y="355600"/>
            <a:ext cx="10922000" cy="67710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800" b="1" dirty="0"/>
              <a:t>GitHub Copilot Dev Days Sweepstake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C3C44-BC85-AFB4-60B3-347F66010AE5}"/>
              </a:ext>
            </a:extLst>
          </p:cNvPr>
          <p:cNvSpPr txBox="1"/>
          <p:nvPr/>
        </p:nvSpPr>
        <p:spPr>
          <a:xfrm>
            <a:off x="1905000" y="1211867"/>
            <a:ext cx="8382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200" dirty="0"/>
              <a:t>All completed surveys are eligible for our sweepstakes to win a GitHub Copilot Pro+ one-year subscription.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E6183A-2FA5-8407-1C12-7BCBF1AF60A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50080" y="2160467"/>
            <a:ext cx="3291840" cy="3291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B12961-7168-3649-E820-26BC690871A4}"/>
              </a:ext>
            </a:extLst>
          </p:cNvPr>
          <p:cNvSpPr txBox="1"/>
          <p:nvPr/>
        </p:nvSpPr>
        <p:spPr>
          <a:xfrm>
            <a:off x="889000" y="5943600"/>
            <a:ext cx="1041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u="sng">
                <a:hlinkClick r:id="rId3"/>
              </a:rPr>
              <a:t>https://aka.ms/githubcopilotdevdays/sweepstakes</a:t>
            </a:r>
            <a:endParaRPr lang="en-US" u="sng"/>
          </a:p>
        </p:txBody>
      </p:sp>
      <p:pic>
        <p:nvPicPr>
          <p:cNvPr id="4" name="Picture 3" descr="A blue and purple helmet with a yellow center&#10;&#10;AI-generated content may be incorrect.">
            <a:extLst>
              <a:ext uri="{FF2B5EF4-FFF2-40B4-BE49-F238E27FC236}">
                <a16:creationId xmlns:a16="http://schemas.microsoft.com/office/drawing/2014/main" id="{06CFF05D-4A1D-78B0-E362-CFBF6982775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194762">
            <a:off x="1040885" y="2878486"/>
            <a:ext cx="2576311" cy="257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2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E06C0-3974-339D-E1D9-4C2043F3D98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N" dirty="0"/>
              <a:t>Connect with me</a:t>
            </a:r>
          </a:p>
        </p:txBody>
      </p:sp>
      <p:pic>
        <p:nvPicPr>
          <p:cNvPr id="7" name="Picture 6" descr="A blue and purple helmet with a yellow center">
            <a:extLst>
              <a:ext uri="{FF2B5EF4-FFF2-40B4-BE49-F238E27FC236}">
                <a16:creationId xmlns:a16="http://schemas.microsoft.com/office/drawing/2014/main" id="{ADD2A8E1-689C-5FF6-2EEA-77B8E56E0A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194762" flipH="1">
            <a:off x="9965483" y="-13447"/>
            <a:ext cx="2245385" cy="21818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00777C-ED37-BBDF-AD41-6D0DB136B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720" y="2357437"/>
            <a:ext cx="2143125" cy="21431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175F6B-3F77-7AAA-25C2-683F6A1EAC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4990" y="2357437"/>
            <a:ext cx="2143125" cy="21431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60C308-A2EC-00D6-F456-CC5B48D4AFDD}"/>
              </a:ext>
            </a:extLst>
          </p:cNvPr>
          <p:cNvSpPr txBox="1"/>
          <p:nvPr/>
        </p:nvSpPr>
        <p:spPr>
          <a:xfrm>
            <a:off x="-2602155" y="1077484"/>
            <a:ext cx="10922000" cy="67710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800" b="1" dirty="0">
                <a:solidFill>
                  <a:schemeClr val="accent3"/>
                </a:solidFill>
              </a:rPr>
              <a:t>@SriSatyaLokesh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6FA48BE-BE2F-F840-575E-F00699E690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4260" y="2357437"/>
            <a:ext cx="2143125" cy="21431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CBA09F9-D034-3B5A-E3A6-6C6344274D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3530" y="2357437"/>
            <a:ext cx="2143126" cy="2143126"/>
          </a:xfrm>
          <a:prstGeom prst="rect">
            <a:avLst/>
          </a:prstGeom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8D52A538-0CBC-5F92-3B51-51A873227196}"/>
              </a:ext>
            </a:extLst>
          </p:cNvPr>
          <p:cNvSpPr txBox="1">
            <a:spLocks/>
          </p:cNvSpPr>
          <p:nvPr/>
        </p:nvSpPr>
        <p:spPr>
          <a:xfrm>
            <a:off x="640864" y="4630102"/>
            <a:ext cx="2292835" cy="6028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Consolas" panose="02000009000000000000" pitchFamily="49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solidFill>
                  <a:schemeClr val="accent3"/>
                </a:solidFill>
              </a:rPr>
              <a:t>LinkedIn</a:t>
            </a:r>
          </a:p>
          <a:p>
            <a:pPr algn="ctr"/>
            <a:r>
              <a:rPr lang="en-IN" dirty="0">
                <a:solidFill>
                  <a:schemeClr val="accent3"/>
                </a:solidFill>
              </a:rPr>
              <a:t>for quick doubts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FF008C5-9274-DB36-1E2F-D64693280B44}"/>
              </a:ext>
            </a:extLst>
          </p:cNvPr>
          <p:cNvSpPr txBox="1">
            <a:spLocks/>
          </p:cNvSpPr>
          <p:nvPr/>
        </p:nvSpPr>
        <p:spPr>
          <a:xfrm>
            <a:off x="3430134" y="4630101"/>
            <a:ext cx="2292835" cy="6028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Consolas" panose="02000009000000000000" pitchFamily="49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solidFill>
                  <a:schemeClr val="accent3"/>
                </a:solidFill>
              </a:rPr>
              <a:t>GitHub</a:t>
            </a:r>
          </a:p>
          <a:p>
            <a:pPr algn="ctr"/>
            <a:r>
              <a:rPr lang="en-IN" dirty="0">
                <a:solidFill>
                  <a:schemeClr val="accent3"/>
                </a:solidFill>
              </a:rPr>
              <a:t>For projects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3CAF2C0-911A-7813-AA2E-4284F9565E8B}"/>
              </a:ext>
            </a:extLst>
          </p:cNvPr>
          <p:cNvSpPr txBox="1">
            <a:spLocks/>
          </p:cNvSpPr>
          <p:nvPr/>
        </p:nvSpPr>
        <p:spPr>
          <a:xfrm>
            <a:off x="6219404" y="4630100"/>
            <a:ext cx="2292835" cy="6028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Consolas" panose="02000009000000000000" pitchFamily="49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solidFill>
                  <a:schemeClr val="accent3"/>
                </a:solidFill>
              </a:rPr>
              <a:t>Portfolio</a:t>
            </a:r>
          </a:p>
          <a:p>
            <a:pPr algn="ctr"/>
            <a:r>
              <a:rPr lang="en-IN" dirty="0">
                <a:solidFill>
                  <a:schemeClr val="accent3"/>
                </a:solidFill>
              </a:rPr>
              <a:t>to know more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9FE1F0D-EEF3-DA73-3D17-5B6AA633E92A}"/>
              </a:ext>
            </a:extLst>
          </p:cNvPr>
          <p:cNvSpPr txBox="1">
            <a:spLocks/>
          </p:cNvSpPr>
          <p:nvPr/>
        </p:nvSpPr>
        <p:spPr>
          <a:xfrm>
            <a:off x="8821068" y="4619620"/>
            <a:ext cx="2668050" cy="6028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2"/>
                </a:solidFill>
                <a:latin typeface="Consolas" panose="02000009000000000000" pitchFamily="49" charset="77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ptos" pitchFamily="2" charset="77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 err="1">
                <a:solidFill>
                  <a:schemeClr val="accent3"/>
                </a:solidFill>
              </a:rPr>
              <a:t>theProFile</a:t>
            </a:r>
            <a:endParaRPr lang="en-IN" dirty="0">
              <a:solidFill>
                <a:schemeClr val="accent3"/>
              </a:solidFill>
            </a:endParaRPr>
          </a:p>
          <a:p>
            <a:pPr algn="ctr"/>
            <a:r>
              <a:rPr lang="en-IN" dirty="0">
                <a:solidFill>
                  <a:schemeClr val="accent3"/>
                </a:solidFill>
              </a:rPr>
              <a:t>to build your website</a:t>
            </a:r>
          </a:p>
        </p:txBody>
      </p:sp>
    </p:spTree>
    <p:extLst>
      <p:ext uri="{BB962C8B-B14F-4D97-AF65-F5344CB8AC3E}">
        <p14:creationId xmlns:p14="http://schemas.microsoft.com/office/powerpoint/2010/main" val="1400312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CC8FB-EDBE-47A3-2DA8-EE2795092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564B-54D5-0E60-25D4-3FED841A6F9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2331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verse 25">
  <a:themeElements>
    <a:clrScheme name="Universe 2025">
      <a:dk1>
        <a:srgbClr val="000000"/>
      </a:dk1>
      <a:lt1>
        <a:srgbClr val="FFFFFF"/>
      </a:lt1>
      <a:dk2>
        <a:srgbClr val="E4EBE5"/>
      </a:dk2>
      <a:lt2>
        <a:srgbClr val="232824"/>
      </a:lt2>
      <a:accent1>
        <a:srgbClr val="BEFFD0"/>
      </a:accent1>
      <a:accent2>
        <a:srgbClr val="8BF1A6"/>
      </a:accent2>
      <a:accent3>
        <a:srgbClr val="5EEC83"/>
      </a:accent3>
      <a:accent4>
        <a:srgbClr val="087827"/>
      </a:accent4>
      <a:accent5>
        <a:srgbClr val="DBFF95"/>
      </a:accent5>
      <a:accent6>
        <a:srgbClr val="D3FA36"/>
      </a:accent6>
      <a:hlink>
        <a:srgbClr val="EEF6FC"/>
      </a:hlink>
      <a:folHlink>
        <a:srgbClr val="56CC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verse 25" id="{EBCFF90B-FE23-4DF3-892D-7952A198CC3A}" vid="{44FF69D1-5BFF-4CF0-AEC7-1C55AA229D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874</Words>
  <Application>Microsoft Office PowerPoint</Application>
  <PresentationFormat>Widescreen</PresentationFormat>
  <Paragraphs>134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Abadi</vt:lpstr>
      <vt:lpstr>Aptos</vt:lpstr>
      <vt:lpstr>Arial</vt:lpstr>
      <vt:lpstr>Calibri</vt:lpstr>
      <vt:lpstr>Consolas</vt:lpstr>
      <vt:lpstr>Segoe UI Semibold</vt:lpstr>
      <vt:lpstr>Segoe UI Variable Display Semibold</vt:lpstr>
      <vt:lpstr>Universe 25</vt:lpstr>
      <vt:lpstr>GitHub Copilot  Dev Days Hyderabad April 18, 2026</vt:lpstr>
      <vt:lpstr>PowerPoint Presentation</vt:lpstr>
      <vt:lpstr>Prompt → Fail → Prompt → Fail → Existential Crisis</vt:lpstr>
      <vt:lpstr>AI Is Only As Good As The Instructions You Give</vt:lpstr>
      <vt:lpstr>AI Will Choose Easy… Not Correct”</vt:lpstr>
      <vt:lpstr>Before VS Code… Open a Conversation</vt:lpstr>
      <vt:lpstr>Stop Prompting. Start Executing a System.</vt:lpstr>
      <vt:lpstr>Development Workflow</vt:lpstr>
      <vt:lpstr>Demo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 K</dc:creator>
  <cp:lastModifiedBy>Satya K</cp:lastModifiedBy>
  <cp:revision>2</cp:revision>
  <dcterms:created xsi:type="dcterms:W3CDTF">2026-03-03T18:56:24Z</dcterms:created>
  <dcterms:modified xsi:type="dcterms:W3CDTF">2026-04-19T09:13:42Z</dcterms:modified>
</cp:coreProperties>
</file>