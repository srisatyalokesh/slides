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28"/>
  </p:notesMasterIdLst>
  <p:handoutMasterIdLst>
    <p:handoutMasterId r:id="rId29"/>
  </p:handoutMasterIdLst>
  <p:sldIdLst>
    <p:sldId id="679" r:id="rId2"/>
    <p:sldId id="689" r:id="rId3"/>
    <p:sldId id="2147470902" r:id="rId4"/>
    <p:sldId id="2147470965" r:id="rId5"/>
    <p:sldId id="2147470966" r:id="rId6"/>
    <p:sldId id="2147470891" r:id="rId7"/>
    <p:sldId id="2147470957" r:id="rId8"/>
    <p:sldId id="2147470960" r:id="rId9"/>
    <p:sldId id="2147470963" r:id="rId10"/>
    <p:sldId id="2147470944" r:id="rId11"/>
    <p:sldId id="2147470961" r:id="rId12"/>
    <p:sldId id="2147470958" r:id="rId13"/>
    <p:sldId id="2147470959" r:id="rId14"/>
    <p:sldId id="2147470948" r:id="rId15"/>
    <p:sldId id="2147470962" r:id="rId16"/>
    <p:sldId id="2147470892" r:id="rId17"/>
    <p:sldId id="2147470947" r:id="rId18"/>
    <p:sldId id="2147470949" r:id="rId19"/>
    <p:sldId id="2147470946" r:id="rId20"/>
    <p:sldId id="2147470952" r:id="rId21"/>
    <p:sldId id="2147470893" r:id="rId22"/>
    <p:sldId id="2147470964" r:id="rId23"/>
    <p:sldId id="685" r:id="rId24"/>
    <p:sldId id="2147470967" r:id="rId25"/>
    <p:sldId id="2147470956" r:id="rId26"/>
    <p:sldId id="60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id="{385D34A4-7E3C-4778-8092-DA3D4E465E55}">
          <p14:sldIdLst>
            <p14:sldId id="679"/>
          </p14:sldIdLst>
        </p14:section>
        <p14:section name="VS Code" id="{5AA1299D-3576-429E-B3FC-AAF3888322FB}">
          <p14:sldIdLst>
            <p14:sldId id="689"/>
            <p14:sldId id="2147470902"/>
            <p14:sldId id="2147470965"/>
            <p14:sldId id="2147470966"/>
            <p14:sldId id="2147470891"/>
            <p14:sldId id="2147470957"/>
            <p14:sldId id="2147470960"/>
            <p14:sldId id="2147470963"/>
            <p14:sldId id="2147470944"/>
            <p14:sldId id="2147470961"/>
            <p14:sldId id="2147470958"/>
            <p14:sldId id="2147470959"/>
            <p14:sldId id="2147470948"/>
            <p14:sldId id="2147470962"/>
            <p14:sldId id="2147470892"/>
            <p14:sldId id="2147470947"/>
            <p14:sldId id="2147470949"/>
            <p14:sldId id="2147470946"/>
            <p14:sldId id="2147470952"/>
            <p14:sldId id="2147470893"/>
            <p14:sldId id="2147470964"/>
            <p14:sldId id="685"/>
            <p14:sldId id="2147470967"/>
            <p14:sldId id="2147470956"/>
          </p14:sldIdLst>
        </p14:section>
        <p14:section name="Thank you" id="{08508A40-E246-4DD9-B36F-C59E0B83A954}">
          <p14:sldIdLst>
            <p14:sldId id="60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9FF0"/>
    <a:srgbClr val="7A3ACF"/>
    <a:srgbClr val="000000"/>
    <a:srgbClr val="080922"/>
    <a:srgbClr val="6C36CB"/>
    <a:srgbClr val="8BF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EDF0FA-2827-4578-BCFB-C2E9AFD4DA1E}" v="129" dt="2026-04-19T09:13:56.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046" autoAdjust="0"/>
    <p:restoredTop sz="77241" autoAdjust="0"/>
  </p:normalViewPr>
  <p:slideViewPr>
    <p:cSldViewPr snapToGrid="0">
      <p:cViewPr varScale="1">
        <p:scale>
          <a:sx n="65" d="100"/>
          <a:sy n="65" d="100"/>
        </p:scale>
        <p:origin x="715" y="278"/>
      </p:cViewPr>
      <p:guideLst/>
    </p:cSldViewPr>
  </p:slideViewPr>
  <p:notesTextViewPr>
    <p:cViewPr>
      <p:scale>
        <a:sx n="1" d="1"/>
        <a:sy n="1" d="1"/>
      </p:scale>
      <p:origin x="0" y="0"/>
    </p:cViewPr>
  </p:notesTextViewPr>
  <p:notesViewPr>
    <p:cSldViewPr snapToGrid="0">
      <p:cViewPr varScale="1">
        <p:scale>
          <a:sx n="92" d="100"/>
          <a:sy n="92" d="100"/>
        </p:scale>
        <p:origin x="2093"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ya K" userId="91d75451-9371-4626-bb7d-6aed861dff58" providerId="ADAL" clId="{D4DA37DE-10E2-4E63-9883-520D4E98CEDC}"/>
    <pc:docChg chg="custSel mod addSld delSld modSld modSection">
      <pc:chgData name="Satya K" userId="91d75451-9371-4626-bb7d-6aed861dff58" providerId="ADAL" clId="{D4DA37DE-10E2-4E63-9883-520D4E98CEDC}" dt="2026-04-19T09:13:56.887" v="444"/>
      <pc:docMkLst>
        <pc:docMk/>
      </pc:docMkLst>
      <pc:sldChg chg="addSp delSp modSp mod">
        <pc:chgData name="Satya K" userId="91d75451-9371-4626-bb7d-6aed861dff58" providerId="ADAL" clId="{D4DA37DE-10E2-4E63-9883-520D4E98CEDC}" dt="2026-04-18T06:59:55.493" v="299" actId="207"/>
        <pc:sldMkLst>
          <pc:docMk/>
          <pc:sldMk cId="3998713514" sldId="679"/>
        </pc:sldMkLst>
        <pc:spChg chg="mod">
          <ac:chgData name="Satya K" userId="91d75451-9371-4626-bb7d-6aed861dff58" providerId="ADAL" clId="{D4DA37DE-10E2-4E63-9883-520D4E98CEDC}" dt="2026-04-18T06:59:55.493" v="299" actId="207"/>
          <ac:spMkLst>
            <pc:docMk/>
            <pc:sldMk cId="3998713514" sldId="679"/>
            <ac:spMk id="2" creationId="{46173F31-E88F-FE41-8DD3-E021FAE838C6}"/>
          </ac:spMkLst>
        </pc:spChg>
        <pc:picChg chg="add del mod">
          <ac:chgData name="Satya K" userId="91d75451-9371-4626-bb7d-6aed861dff58" providerId="ADAL" clId="{D4DA37DE-10E2-4E63-9883-520D4E98CEDC}" dt="2026-04-18T06:56:18.696" v="197" actId="478"/>
          <ac:picMkLst>
            <pc:docMk/>
            <pc:sldMk cId="3998713514" sldId="679"/>
            <ac:picMk id="5" creationId="{198C6CBA-096C-00C2-98E2-A2B7BF6F836B}"/>
          </ac:picMkLst>
        </pc:picChg>
        <pc:picChg chg="add del mod">
          <ac:chgData name="Satya K" userId="91d75451-9371-4626-bb7d-6aed861dff58" providerId="ADAL" clId="{D4DA37DE-10E2-4E63-9883-520D4E98CEDC}" dt="2026-04-18T06:56:47.758" v="205" actId="478"/>
          <ac:picMkLst>
            <pc:docMk/>
            <pc:sldMk cId="3998713514" sldId="679"/>
            <ac:picMk id="6" creationId="{2881DCBE-3537-E25A-BC31-2E3F86049D3D}"/>
          </ac:picMkLst>
        </pc:picChg>
        <pc:picChg chg="add del mod">
          <ac:chgData name="Satya K" userId="91d75451-9371-4626-bb7d-6aed861dff58" providerId="ADAL" clId="{D4DA37DE-10E2-4E63-9883-520D4E98CEDC}" dt="2026-04-18T06:58:02.669" v="214" actId="478"/>
          <ac:picMkLst>
            <pc:docMk/>
            <pc:sldMk cId="3998713514" sldId="679"/>
            <ac:picMk id="1028" creationId="{4A4F975E-B0F9-E725-B45E-A6CE4415A186}"/>
          </ac:picMkLst>
        </pc:picChg>
        <pc:picChg chg="add mod">
          <ac:chgData name="Satya K" userId="91d75451-9371-4626-bb7d-6aed861dff58" providerId="ADAL" clId="{D4DA37DE-10E2-4E63-9883-520D4E98CEDC}" dt="2026-04-18T06:59:33.483" v="298" actId="14861"/>
          <ac:picMkLst>
            <pc:docMk/>
            <pc:sldMk cId="3998713514" sldId="679"/>
            <ac:picMk id="1030" creationId="{76DA4843-2233-6408-05D8-D5E3C5642EED}"/>
          </ac:picMkLst>
        </pc:picChg>
      </pc:sldChg>
      <pc:sldChg chg="addSp delSp modSp new add del mod">
        <pc:chgData name="Satya K" userId="91d75451-9371-4626-bb7d-6aed861dff58" providerId="ADAL" clId="{D4DA37DE-10E2-4E63-9883-520D4E98CEDC}" dt="2026-04-19T09:13:56.887" v="444"/>
        <pc:sldMkLst>
          <pc:docMk/>
          <pc:sldMk cId="1400312343" sldId="2147470967"/>
        </pc:sldMkLst>
        <pc:spChg chg="del mod">
          <ac:chgData name="Satya K" userId="91d75451-9371-4626-bb7d-6aed861dff58" providerId="ADAL" clId="{D4DA37DE-10E2-4E63-9883-520D4E98CEDC}" dt="2026-04-18T11:01:46.198" v="425" actId="478"/>
          <ac:spMkLst>
            <pc:docMk/>
            <pc:sldMk cId="1400312343" sldId="2147470967"/>
            <ac:spMk id="2" creationId="{AEB96DDC-67D5-A405-E810-9E32374CE833}"/>
          </ac:spMkLst>
        </pc:spChg>
        <pc:spChg chg="mod">
          <ac:chgData name="Satya K" userId="91d75451-9371-4626-bb7d-6aed861dff58" providerId="ADAL" clId="{D4DA37DE-10E2-4E63-9883-520D4E98CEDC}" dt="2026-04-18T06:50:23.874" v="28" actId="20577"/>
          <ac:spMkLst>
            <pc:docMk/>
            <pc:sldMk cId="1400312343" sldId="2147470967"/>
            <ac:spMk id="3" creationId="{24FE06C0-3974-339D-E1D9-4C2043F3D98D}"/>
          </ac:spMkLst>
        </pc:spChg>
        <pc:spChg chg="del mod">
          <ac:chgData name="Satya K" userId="91d75451-9371-4626-bb7d-6aed861dff58" providerId="ADAL" clId="{D4DA37DE-10E2-4E63-9883-520D4E98CEDC}" dt="2026-04-18T11:02:21.093" v="435" actId="478"/>
          <ac:spMkLst>
            <pc:docMk/>
            <pc:sldMk cId="1400312343" sldId="2147470967"/>
            <ac:spMk id="4" creationId="{BE5E957E-10A3-A349-CA15-B8D5B4EFFE86}"/>
          </ac:spMkLst>
        </pc:spChg>
        <pc:spChg chg="add del mod">
          <ac:chgData name="Satya K" userId="91d75451-9371-4626-bb7d-6aed861dff58" providerId="ADAL" clId="{D4DA37DE-10E2-4E63-9883-520D4E98CEDC}" dt="2026-04-18T11:01:51.524" v="427" actId="478"/>
          <ac:spMkLst>
            <pc:docMk/>
            <pc:sldMk cId="1400312343" sldId="2147470967"/>
            <ac:spMk id="8" creationId="{457D85B8-9B0F-D4BD-9625-8F5C3526D2C7}"/>
          </ac:spMkLst>
        </pc:spChg>
        <pc:spChg chg="add del mod">
          <ac:chgData name="Satya K" userId="91d75451-9371-4626-bb7d-6aed861dff58" providerId="ADAL" clId="{D4DA37DE-10E2-4E63-9883-520D4E98CEDC}" dt="2026-04-18T11:01:53.016" v="428" actId="478"/>
          <ac:spMkLst>
            <pc:docMk/>
            <pc:sldMk cId="1400312343" sldId="2147470967"/>
            <ac:spMk id="12" creationId="{770220A8-FF06-EAF6-8DF3-13AA03F90AAD}"/>
          </ac:spMkLst>
        </pc:spChg>
        <pc:spChg chg="add del">
          <ac:chgData name="Satya K" userId="91d75451-9371-4626-bb7d-6aed861dff58" providerId="ADAL" clId="{D4DA37DE-10E2-4E63-9883-520D4E98CEDC}" dt="2026-04-18T11:01:58.385" v="430" actId="478"/>
          <ac:spMkLst>
            <pc:docMk/>
            <pc:sldMk cId="1400312343" sldId="2147470967"/>
            <ac:spMk id="13" creationId="{35D45C77-318E-321A-3EDE-078214900A57}"/>
          </ac:spMkLst>
        </pc:spChg>
        <pc:spChg chg="add del mod">
          <ac:chgData name="Satya K" userId="91d75451-9371-4626-bb7d-6aed861dff58" providerId="ADAL" clId="{D4DA37DE-10E2-4E63-9883-520D4E98CEDC}" dt="2026-04-18T11:02:22.980" v="436" actId="478"/>
          <ac:spMkLst>
            <pc:docMk/>
            <pc:sldMk cId="1400312343" sldId="2147470967"/>
            <ac:spMk id="17" creationId="{7BC28BC0-E6F1-15CC-C51B-1DEC20CF96D4}"/>
          </ac:spMkLst>
        </pc:spChg>
        <pc:picChg chg="add mod">
          <ac:chgData name="Satya K" userId="91d75451-9371-4626-bb7d-6aed861dff58" providerId="ADAL" clId="{D4DA37DE-10E2-4E63-9883-520D4E98CEDC}" dt="2026-04-18T11:02:26.656" v="438" actId="14100"/>
          <ac:picMkLst>
            <pc:docMk/>
            <pc:sldMk cId="1400312343" sldId="2147470967"/>
            <ac:picMk id="6" creationId="{AB8E8D97-EDC6-7271-8806-026FBDBFE037}"/>
          </ac:picMkLst>
        </pc:picChg>
        <pc:picChg chg="add mod">
          <ac:chgData name="Satya K" userId="91d75451-9371-4626-bb7d-6aed861dff58" providerId="ADAL" clId="{D4DA37DE-10E2-4E63-9883-520D4E98CEDC}" dt="2026-04-18T11:02:31.659" v="442" actId="1076"/>
          <ac:picMkLst>
            <pc:docMk/>
            <pc:sldMk cId="1400312343" sldId="2147470967"/>
            <ac:picMk id="7" creationId="{ADD2A8E1-689C-5FF6-2EEA-77B8E56E0A1C}"/>
          </ac:picMkLst>
        </pc:picChg>
        <pc:picChg chg="add mod">
          <ac:chgData name="Satya K" userId="91d75451-9371-4626-bb7d-6aed861dff58" providerId="ADAL" clId="{D4DA37DE-10E2-4E63-9883-520D4E98CEDC}" dt="2026-04-18T11:02:29.934" v="441" actId="1076"/>
          <ac:picMkLst>
            <pc:docMk/>
            <pc:sldMk cId="1400312343" sldId="2147470967"/>
            <ac:picMk id="10" creationId="{CEB9D3C3-3DCD-BCA2-5212-35F71C19FFD5}"/>
          </ac:picMkLst>
        </pc:picChg>
        <pc:picChg chg="add mod">
          <ac:chgData name="Satya K" userId="91d75451-9371-4626-bb7d-6aed861dff58" providerId="ADAL" clId="{D4DA37DE-10E2-4E63-9883-520D4E98CEDC}" dt="2026-04-18T11:02:12.654" v="432" actId="1076"/>
          <ac:picMkLst>
            <pc:docMk/>
            <pc:sldMk cId="1400312343" sldId="2147470967"/>
            <ac:picMk id="15" creationId="{97A0C50C-C5F1-3951-DDAD-413A2953E87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78B027-873C-7CE8-EF99-E50AE015D6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BEEC3B-0A93-4D1A-3898-A0EF07120F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79C32B-9090-4D5E-8893-2200DA8B6489}" type="datetimeFigureOut">
              <a:rPr lang="en-US" smtClean="0"/>
              <a:t>4/19/2026</a:t>
            </a:fld>
            <a:endParaRPr lang="en-US"/>
          </a:p>
        </p:txBody>
      </p:sp>
      <p:sp>
        <p:nvSpPr>
          <p:cNvPr id="4" name="Footer Placeholder 3">
            <a:extLst>
              <a:ext uri="{FF2B5EF4-FFF2-40B4-BE49-F238E27FC236}">
                <a16:creationId xmlns:a16="http://schemas.microsoft.com/office/drawing/2014/main" id="{FF80F166-7BE4-1F4E-8B0F-7BFD37A9F0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BAAFD4D-477B-C4E4-AD08-2131BB8A3F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E32C76-01A7-41D2-BA16-3BEC88438B24}" type="slidenum">
              <a:rPr lang="en-US" smtClean="0"/>
              <a:t>‹#›</a:t>
            </a:fld>
            <a:endParaRPr lang="en-US"/>
          </a:p>
        </p:txBody>
      </p:sp>
    </p:spTree>
    <p:extLst>
      <p:ext uri="{BB962C8B-B14F-4D97-AF65-F5344CB8AC3E}">
        <p14:creationId xmlns:p14="http://schemas.microsoft.com/office/powerpoint/2010/main" val="1383867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B0C1E-A73E-4994-A7F0-AA72833EDF2C}" type="datetimeFigureOut">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318D-D634-447D-804D-1A35DED75EBD}" type="slidenum">
              <a:t>‹#›</a:t>
            </a:fld>
            <a:endParaRPr lang="en-US"/>
          </a:p>
        </p:txBody>
      </p:sp>
    </p:spTree>
    <p:extLst>
      <p:ext uri="{BB962C8B-B14F-4D97-AF65-F5344CB8AC3E}">
        <p14:creationId xmlns:p14="http://schemas.microsoft.com/office/powerpoint/2010/main" val="2085643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everyone to GitHub Copilot Dev Days.  My name is (Insert name),  and I’m so excited to be here this is just one of hundreds of global events that GitHub and the  development community partnered with to show off the latest and greatest and agentic development with GitHub Copilot.</a:t>
            </a:r>
          </a:p>
        </p:txBody>
      </p:sp>
      <p:sp>
        <p:nvSpPr>
          <p:cNvPr id="4" name="Slide Number Placeholder 3"/>
          <p:cNvSpPr>
            <a:spLocks noGrp="1"/>
          </p:cNvSpPr>
          <p:nvPr>
            <p:ph type="sldNum" sz="quarter" idx="5"/>
          </p:nvPr>
        </p:nvSpPr>
        <p:spPr/>
        <p:txBody>
          <a:bodyPr/>
          <a:lstStyle/>
          <a:p>
            <a:fld id="{813E318D-D634-447D-804D-1A35DED75EBD}" type="slidenum">
              <a:rPr lang="en-US" smtClean="0"/>
              <a:t>1</a:t>
            </a:fld>
            <a:endParaRPr lang="en-US"/>
          </a:p>
        </p:txBody>
      </p:sp>
    </p:spTree>
    <p:extLst>
      <p:ext uri="{BB962C8B-B14F-4D97-AF65-F5344CB8AC3E}">
        <p14:creationId xmlns:p14="http://schemas.microsoft.com/office/powerpoint/2010/main" val="3850135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 let's go deeper on VS Code and GitHub Copilot as my demo only really scratched the surface of some of the capabilities</a:t>
            </a:r>
          </a:p>
        </p:txBody>
      </p:sp>
      <p:sp>
        <p:nvSpPr>
          <p:cNvPr id="4" name="Slide Number Placeholder 3"/>
          <p:cNvSpPr>
            <a:spLocks noGrp="1"/>
          </p:cNvSpPr>
          <p:nvPr>
            <p:ph type="sldNum" sz="quarter" idx="5"/>
          </p:nvPr>
        </p:nvSpPr>
        <p:spPr/>
        <p:txBody>
          <a:bodyPr/>
          <a:lstStyle/>
          <a:p>
            <a:fld id="{813E318D-D634-447D-804D-1A35DED75EBD}" type="slidenum">
              <a:rPr lang="en-US" smtClean="0"/>
              <a:t>2</a:t>
            </a:fld>
            <a:endParaRPr lang="en-US"/>
          </a:p>
        </p:txBody>
      </p:sp>
    </p:spTree>
    <p:extLst>
      <p:ext uri="{BB962C8B-B14F-4D97-AF65-F5344CB8AC3E}">
        <p14:creationId xmlns:p14="http://schemas.microsoft.com/office/powerpoint/2010/main" val="1294628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GitHub copilot you get access to several models directly out-of-the-box or you can even bring your own API key to configure your own custom models that you want to use including ones that are running on your device with </a:t>
            </a:r>
            <a:r>
              <a:rPr lang="en-US" dirty="0" err="1"/>
              <a:t>ollama</a:t>
            </a:r>
            <a:r>
              <a:rPr lang="en-US" dirty="0"/>
              <a:t> for example</a:t>
            </a:r>
          </a:p>
          <a:p>
            <a:endParaRPr lang="en-US" dirty="0"/>
          </a:p>
          <a:p>
            <a:r>
              <a:rPr lang="en-US" dirty="0"/>
              <a:t>I mentioned that you can provide context, so you can reference files code bases you can even specifically reference HTML in the Dom for example </a:t>
            </a:r>
          </a:p>
          <a:p>
            <a:endParaRPr lang="en-US" dirty="0"/>
          </a:p>
          <a:p>
            <a:r>
              <a:rPr lang="en-US" dirty="0"/>
              <a:t>and then everything is highly customizable from exactly how you want the code to be generated and with your styles or to how you want a commit message to be generated with emojis for example everything is customizable directly to your liking for you and your tea.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3895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DE6A7-DA9F-779F-3173-9A82C0C46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0501C-54A8-42E9-882C-89FF99AC6C0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0C5562B-326F-F8E4-E7AC-9DEE50B53B4C}"/>
              </a:ext>
            </a:extLst>
          </p:cNvPr>
          <p:cNvSpPr>
            <a:spLocks noGrp="1"/>
          </p:cNvSpPr>
          <p:nvPr>
            <p:ph type="body" idx="1"/>
          </p:nvPr>
        </p:nvSpPr>
        <p:spPr/>
        <p:txBody>
          <a:bodyPr/>
          <a:lstStyle/>
          <a:p>
            <a:r>
              <a:rPr lang="en-US" dirty="0"/>
              <a:t>we talk a little bit about customization not only are you able to create reusable repeatable AI flows with prompt files but you can completely transform how the coding agents are working on your code base with custom instructions. These custom instructions give them insight not only into your project structure but also your best practices of how you like code created and structured in your project. and there's new things like custom modes that enable you to create custom chat and agent integrations such as planning mode or debugging mode that help guide the agent to how you want to interact with it.</a:t>
            </a:r>
          </a:p>
          <a:p>
            <a:endParaRPr lang="en-US" dirty="0"/>
          </a:p>
        </p:txBody>
      </p:sp>
      <p:sp>
        <p:nvSpPr>
          <p:cNvPr id="4" name="Slide Number Placeholder 3">
            <a:extLst>
              <a:ext uri="{FF2B5EF4-FFF2-40B4-BE49-F238E27FC236}">
                <a16:creationId xmlns:a16="http://schemas.microsoft.com/office/drawing/2014/main" id="{89730B4F-FC8C-110E-4619-121A39CE06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7393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DFB59-A37F-AAAA-E6B5-D59C0002E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E3CED-D3BC-542C-641E-AE621BD20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1F7455-9281-6124-426E-4C1F43F36BA6}"/>
              </a:ext>
            </a:extLst>
          </p:cNvPr>
          <p:cNvSpPr>
            <a:spLocks noGrp="1"/>
          </p:cNvSpPr>
          <p:nvPr>
            <p:ph type="body" idx="1"/>
          </p:nvPr>
        </p:nvSpPr>
        <p:spPr/>
        <p:txBody>
          <a:bodyPr/>
          <a:lstStyle/>
          <a:p>
            <a:r>
              <a:rPr lang="en-US" dirty="0"/>
              <a:t> VS code has long had prompt files that you can use as reusable prompts that you can send the agent. Now new agent skills have become an industry standard that allows the agent to on demand load capabilities and even execute scripts. Here for example you can see different skills for image manipulation or doing web design review or web testing. The agent will automatically find these based on the different descriptions if it needs to do something or you can even use a slash command to invoke one of these skills.</a:t>
            </a:r>
          </a:p>
        </p:txBody>
      </p:sp>
      <p:sp>
        <p:nvSpPr>
          <p:cNvPr id="4" name="Slide Number Placeholder 3">
            <a:extLst>
              <a:ext uri="{FF2B5EF4-FFF2-40B4-BE49-F238E27FC236}">
                <a16:creationId xmlns:a16="http://schemas.microsoft.com/office/drawing/2014/main" id="{BA49A279-DD2F-4D57-A9BD-479394CCB132}"/>
              </a:ext>
            </a:extLst>
          </p:cNvPr>
          <p:cNvSpPr>
            <a:spLocks noGrp="1"/>
          </p:cNvSpPr>
          <p:nvPr>
            <p:ph type="sldNum" sz="quarter" idx="5"/>
          </p:nvPr>
        </p:nvSpPr>
        <p:spPr/>
        <p:txBody>
          <a:bodyPr/>
          <a:lstStyle/>
          <a:p>
            <a:fld id="{813E318D-D634-447D-804D-1A35DED75EBD}" type="slidenum">
              <a:rPr lang="en-US" smtClean="0"/>
              <a:t>7</a:t>
            </a:fld>
            <a:endParaRPr lang="en-US"/>
          </a:p>
        </p:txBody>
      </p:sp>
    </p:spTree>
    <p:extLst>
      <p:ext uri="{BB962C8B-B14F-4D97-AF65-F5344CB8AC3E}">
        <p14:creationId xmlns:p14="http://schemas.microsoft.com/office/powerpoint/2010/main" val="3987273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0F54D-F083-706D-BA3E-53AF2ABDE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0EF52B-5F9C-A606-0E38-8505DC85A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56431-FA2C-CDEF-76DF-A3A6F68B6790}"/>
              </a:ext>
            </a:extLst>
          </p:cNvPr>
          <p:cNvSpPr>
            <a:spLocks noGrp="1"/>
          </p:cNvSpPr>
          <p:nvPr>
            <p:ph type="body" idx="1"/>
          </p:nvPr>
        </p:nvSpPr>
        <p:spPr/>
        <p:txBody>
          <a:bodyPr/>
          <a:lstStyle/>
          <a:p>
            <a:r>
              <a:rPr lang="en-US" dirty="0"/>
              <a:t> VS code has long had prompt files that you can use as reusable prompts that you can send the agent. Now new agent skills have become an industry standard that allows the agent to on demand load capabilities and even execute scripts. Here for example you can see different skills for image manipulation or doing web design review or web testing. The agent will automatically find these based on the different descriptions if it needs to do something or you can even use a slash command to invoke one of these skills.</a:t>
            </a:r>
          </a:p>
        </p:txBody>
      </p:sp>
      <p:sp>
        <p:nvSpPr>
          <p:cNvPr id="4" name="Slide Number Placeholder 3">
            <a:extLst>
              <a:ext uri="{FF2B5EF4-FFF2-40B4-BE49-F238E27FC236}">
                <a16:creationId xmlns:a16="http://schemas.microsoft.com/office/drawing/2014/main" id="{42AAF061-5525-7A56-6431-EAF4B8D13381}"/>
              </a:ext>
            </a:extLst>
          </p:cNvPr>
          <p:cNvSpPr>
            <a:spLocks noGrp="1"/>
          </p:cNvSpPr>
          <p:nvPr>
            <p:ph type="sldNum" sz="quarter" idx="5"/>
          </p:nvPr>
        </p:nvSpPr>
        <p:spPr/>
        <p:txBody>
          <a:bodyPr/>
          <a:lstStyle/>
          <a:p>
            <a:fld id="{813E318D-D634-447D-804D-1A35DED75EBD}" type="slidenum">
              <a:rPr lang="en-US" smtClean="0"/>
              <a:t>9</a:t>
            </a:fld>
            <a:endParaRPr lang="en-US"/>
          </a:p>
        </p:txBody>
      </p:sp>
    </p:spTree>
    <p:extLst>
      <p:ext uri="{BB962C8B-B14F-4D97-AF65-F5344CB8AC3E}">
        <p14:creationId xmlns:p14="http://schemas.microsoft.com/office/powerpoint/2010/main" val="2817015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VS code has long had prompt files that you can use as reusable prompts that you can send the agent. Now new agent skills have become an industry standard that allows the agent to on demand load capabilities and even execute scripts. Here for example you can see different skills for image manipulation or doing web design review or web testing. The agent will automatically find these based on the different descriptions if it needs to do something or you can even use a slash command to invoke one of these skills.</a:t>
            </a:r>
          </a:p>
        </p:txBody>
      </p:sp>
      <p:sp>
        <p:nvSpPr>
          <p:cNvPr id="4" name="Slide Number Placeholder 3"/>
          <p:cNvSpPr>
            <a:spLocks noGrp="1"/>
          </p:cNvSpPr>
          <p:nvPr>
            <p:ph type="sldNum" sz="quarter" idx="5"/>
          </p:nvPr>
        </p:nvSpPr>
        <p:spPr/>
        <p:txBody>
          <a:bodyPr/>
          <a:lstStyle/>
          <a:p>
            <a:fld id="{813E318D-D634-447D-804D-1A35DED75EBD}" type="slidenum">
              <a:rPr lang="en-US" smtClean="0"/>
              <a:t>10</a:t>
            </a:fld>
            <a:endParaRPr lang="en-US"/>
          </a:p>
        </p:txBody>
      </p:sp>
    </p:spTree>
    <p:extLst>
      <p:ext uri="{BB962C8B-B14F-4D97-AF65-F5344CB8AC3E}">
        <p14:creationId xmlns:p14="http://schemas.microsoft.com/office/powerpoint/2010/main" val="262413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4AA79-0D7C-C308-95F7-30F08C3B2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DA3BD-D691-5DC0-EE66-85E4EDCB3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680C6-4DD9-4ABE-6EBA-9A311482B74A}"/>
              </a:ext>
            </a:extLst>
          </p:cNvPr>
          <p:cNvSpPr>
            <a:spLocks noGrp="1"/>
          </p:cNvSpPr>
          <p:nvPr>
            <p:ph type="body" idx="1"/>
          </p:nvPr>
        </p:nvSpPr>
        <p:spPr/>
        <p:txBody>
          <a:bodyPr/>
          <a:lstStyle/>
          <a:p>
            <a:r>
              <a:rPr lang="en-US" dirty="0"/>
              <a:t> VS code has long had prompt files that you can use as reusable prompts that you can send the agent. Now new agent skills have become an industry standard that allows the agent to on demand load capabilities and even execute scripts. Here for example you can see different skills for image manipulation or doing web design review or web testing. The agent will automatically find these based on the different descriptions if it needs to do something or you can even use a slash command to invoke one of these skills.</a:t>
            </a:r>
          </a:p>
        </p:txBody>
      </p:sp>
      <p:sp>
        <p:nvSpPr>
          <p:cNvPr id="4" name="Slide Number Placeholder 3">
            <a:extLst>
              <a:ext uri="{FF2B5EF4-FFF2-40B4-BE49-F238E27FC236}">
                <a16:creationId xmlns:a16="http://schemas.microsoft.com/office/drawing/2014/main" id="{8D6A8D3E-B3EA-8D01-1AD4-5BC5E3557422}"/>
              </a:ext>
            </a:extLst>
          </p:cNvPr>
          <p:cNvSpPr>
            <a:spLocks noGrp="1"/>
          </p:cNvSpPr>
          <p:nvPr>
            <p:ph type="sldNum" sz="quarter" idx="5"/>
          </p:nvPr>
        </p:nvSpPr>
        <p:spPr/>
        <p:txBody>
          <a:bodyPr/>
          <a:lstStyle/>
          <a:p>
            <a:fld id="{813E318D-D634-447D-804D-1A35DED75EBD}" type="slidenum">
              <a:rPr lang="en-US" smtClean="0"/>
              <a:t>12</a:t>
            </a:fld>
            <a:endParaRPr lang="en-US"/>
          </a:p>
        </p:txBody>
      </p:sp>
    </p:spTree>
    <p:extLst>
      <p:ext uri="{BB962C8B-B14F-4D97-AF65-F5344CB8AC3E}">
        <p14:creationId xmlns:p14="http://schemas.microsoft.com/office/powerpoint/2010/main" val="4185970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13E318D-D634-447D-804D-1A35DED75EBD}" type="slidenum">
              <a:rPr lang="en-IN" smtClean="0"/>
              <a:t>13</a:t>
            </a:fld>
            <a:endParaRPr lang="en-IN"/>
          </a:p>
        </p:txBody>
      </p:sp>
    </p:spTree>
    <p:extLst>
      <p:ext uri="{BB962C8B-B14F-4D97-AF65-F5344CB8AC3E}">
        <p14:creationId xmlns:p14="http://schemas.microsoft.com/office/powerpoint/2010/main" val="202874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D8DAE-EA69-F8C0-63A1-9947C655A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DD418-6417-D037-1FB7-335BA9922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27541-C332-BD3B-76A6-E83531454311}"/>
              </a:ext>
            </a:extLst>
          </p:cNvPr>
          <p:cNvSpPr>
            <a:spLocks noGrp="1"/>
          </p:cNvSpPr>
          <p:nvPr>
            <p:ph type="body" idx="1"/>
          </p:nvPr>
        </p:nvSpPr>
        <p:spPr/>
        <p:txBody>
          <a:bodyPr/>
          <a:lstStyle/>
          <a:p>
            <a:r>
              <a:rPr lang="en-US" dirty="0"/>
              <a:t> talking about customization hooks are a key example of that they enable you to execute your own custom commands at key lifecycle events O if you want to always commit code at the end or you want to trigger a code review for example or you want to have some sort of  notification alert you when a certain thing happens you can directly hook into these lifecycle events</a:t>
            </a:r>
          </a:p>
        </p:txBody>
      </p:sp>
      <p:sp>
        <p:nvSpPr>
          <p:cNvPr id="4" name="Slide Number Placeholder 3">
            <a:extLst>
              <a:ext uri="{FF2B5EF4-FFF2-40B4-BE49-F238E27FC236}">
                <a16:creationId xmlns:a16="http://schemas.microsoft.com/office/drawing/2014/main" id="{B4242B18-43C2-021E-AE8A-5E428B442D4B}"/>
              </a:ext>
            </a:extLst>
          </p:cNvPr>
          <p:cNvSpPr>
            <a:spLocks noGrp="1"/>
          </p:cNvSpPr>
          <p:nvPr>
            <p:ph type="sldNum" sz="quarter" idx="5"/>
          </p:nvPr>
        </p:nvSpPr>
        <p:spPr/>
        <p:txBody>
          <a:bodyPr/>
          <a:lstStyle/>
          <a:p>
            <a:fld id="{813E318D-D634-447D-804D-1A35DED75EBD}" type="slidenum">
              <a:rPr lang="en-US" smtClean="0"/>
              <a:t>14</a:t>
            </a:fld>
            <a:endParaRPr lang="en-US"/>
          </a:p>
        </p:txBody>
      </p:sp>
    </p:spTree>
    <p:extLst>
      <p:ext uri="{BB962C8B-B14F-4D97-AF65-F5344CB8AC3E}">
        <p14:creationId xmlns:p14="http://schemas.microsoft.com/office/powerpoint/2010/main" val="3271337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Extensibility is a huge part of working with agents and model context protocol is the standardization way of enabling AI applications to provide additional context and tools available to the alms. visual studio code has the entire MCP specification integrated like we saw including </a:t>
            </a:r>
            <a:r>
              <a:rPr lang="en-US" err="1"/>
              <a:t>oauth</a:t>
            </a:r>
            <a:r>
              <a:rPr lang="en-US"/>
              <a:t> prompts sampling resources and of course tools that enable you to not only query but also create on your behalf period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9369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AD99A-C39A-26BA-7941-1074E1E3D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8A8DA-9EC3-D34F-A513-E71049105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11F0A2-508E-8C93-6729-6E5EC0AFC015}"/>
              </a:ext>
            </a:extLst>
          </p:cNvPr>
          <p:cNvSpPr>
            <a:spLocks noGrp="1"/>
          </p:cNvSpPr>
          <p:nvPr>
            <p:ph type="body" idx="1"/>
          </p:nvPr>
        </p:nvSpPr>
        <p:spPr/>
        <p:txBody>
          <a:bodyPr/>
          <a:lstStyle/>
          <a:p>
            <a:r>
              <a:rPr lang="en-US" dirty="0"/>
              <a:t>Browse and install MCP servers directly with 1 click from VS Code and build in MCP registry support.</a:t>
            </a:r>
          </a:p>
        </p:txBody>
      </p:sp>
      <p:sp>
        <p:nvSpPr>
          <p:cNvPr id="4" name="Slide Number Placeholder 3">
            <a:extLst>
              <a:ext uri="{FF2B5EF4-FFF2-40B4-BE49-F238E27FC236}">
                <a16:creationId xmlns:a16="http://schemas.microsoft.com/office/drawing/2014/main" id="{C06D641C-C78D-E10A-8261-84CF2DBA06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0411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5773F-8F66-1D54-2F88-8223FEBC6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982B2-7D8E-34A2-A738-8166D46932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A4EF9-A332-9DD8-EBEC-123219ADA506}"/>
              </a:ext>
            </a:extLst>
          </p:cNvPr>
          <p:cNvSpPr>
            <a:spLocks noGrp="1"/>
          </p:cNvSpPr>
          <p:nvPr>
            <p:ph type="body" idx="1"/>
          </p:nvPr>
        </p:nvSpPr>
        <p:spPr/>
        <p:txBody>
          <a:bodyPr/>
          <a:lstStyle/>
          <a:p>
            <a:r>
              <a:rPr lang="en-US" dirty="0"/>
              <a:t> Now another concept that is part of Visual Studio code is plugins and you can think about everything we just talked about but bundled together so for example if you're working with work IQ this will give you different MCP servers or skills or custom agents that will enable you to work specifically with it and you can browse all of these from the extensions gallery directly inside of VS code</a:t>
            </a:r>
          </a:p>
        </p:txBody>
      </p:sp>
      <p:sp>
        <p:nvSpPr>
          <p:cNvPr id="4" name="Slide Number Placeholder 3">
            <a:extLst>
              <a:ext uri="{FF2B5EF4-FFF2-40B4-BE49-F238E27FC236}">
                <a16:creationId xmlns:a16="http://schemas.microsoft.com/office/drawing/2014/main" id="{41D27FD3-E2DC-3132-E9DD-E06D85401B15}"/>
              </a:ext>
            </a:extLst>
          </p:cNvPr>
          <p:cNvSpPr>
            <a:spLocks noGrp="1"/>
          </p:cNvSpPr>
          <p:nvPr>
            <p:ph type="sldNum" sz="quarter" idx="5"/>
          </p:nvPr>
        </p:nvSpPr>
        <p:spPr/>
        <p:txBody>
          <a:bodyPr/>
          <a:lstStyle/>
          <a:p>
            <a:fld id="{813E318D-D634-447D-804D-1A35DED75EBD}" type="slidenum">
              <a:rPr lang="en-US" smtClean="0"/>
              <a:t>18</a:t>
            </a:fld>
            <a:endParaRPr lang="en-US"/>
          </a:p>
        </p:txBody>
      </p:sp>
    </p:spTree>
    <p:extLst>
      <p:ext uri="{BB962C8B-B14F-4D97-AF65-F5344CB8AC3E}">
        <p14:creationId xmlns:p14="http://schemas.microsoft.com/office/powerpoint/2010/main" val="1588802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F0B1-BE33-175B-CC49-DA9CE3790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54DF0-22D7-0317-EC01-D8807FB507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1514761-A5D3-EF4D-E9AC-2E264FAD1462}"/>
              </a:ext>
            </a:extLst>
          </p:cNvPr>
          <p:cNvSpPr>
            <a:spLocks noGrp="1"/>
          </p:cNvSpPr>
          <p:nvPr>
            <p:ph type="body" idx="1"/>
          </p:nvPr>
        </p:nvSpPr>
        <p:spPr/>
        <p:txBody>
          <a:bodyPr/>
          <a:lstStyle/>
          <a:p>
            <a:r>
              <a:rPr lang="en-US" dirty="0"/>
              <a:t>To get you started with these customizations, check out the Awesome Copilot repo, https://aka.ms/awesome-github-copilot, which has over 200 community contributed customizations to cover all sorts of scenarios – and contribute your own!</a:t>
            </a:r>
          </a:p>
        </p:txBody>
      </p:sp>
      <p:sp>
        <p:nvSpPr>
          <p:cNvPr id="4" name="Slide Number Placeholder 3">
            <a:extLst>
              <a:ext uri="{FF2B5EF4-FFF2-40B4-BE49-F238E27FC236}">
                <a16:creationId xmlns:a16="http://schemas.microsoft.com/office/drawing/2014/main" id="{129FDB84-9F05-678D-FD70-4D9DBE0688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7327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4C4E4-724A-64F9-EF5A-E06213447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2B889-71DF-3876-7131-8325B68F3B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88EF45B-EA6E-6D1B-E712-343447FF871F}"/>
              </a:ext>
            </a:extLst>
          </p:cNvPr>
          <p:cNvSpPr>
            <a:spLocks noGrp="1"/>
          </p:cNvSpPr>
          <p:nvPr>
            <p:ph type="body" idx="1"/>
          </p:nvPr>
        </p:nvSpPr>
        <p:spPr/>
        <p:txBody>
          <a:bodyPr/>
          <a:lstStyle/>
          <a:p>
            <a:r>
              <a:rPr lang="en-US" dirty="0"/>
              <a:t> Besides working with the local agent you can actually go ahead and delegate off tasks to a background agent that will automatically create a work tree which means it's a separate sort of instance of the code base that will be worked on powered by the copilot CLI so happens automatically for you and enables you to sort of work on multiple features  at the same time</a:t>
            </a:r>
          </a:p>
        </p:txBody>
      </p:sp>
      <p:sp>
        <p:nvSpPr>
          <p:cNvPr id="4" name="Slide Number Placeholder 3">
            <a:extLst>
              <a:ext uri="{FF2B5EF4-FFF2-40B4-BE49-F238E27FC236}">
                <a16:creationId xmlns:a16="http://schemas.microsoft.com/office/drawing/2014/main" id="{129D3410-29ED-4AA1-831D-7267C65CCB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1788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9E0AE-1328-4C05-22FC-869CF3B4A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A71C3-002A-DE1D-B8A8-49483B6B242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B4D5F13-AABA-42EB-85A5-6A24D26D98C4}"/>
              </a:ext>
            </a:extLst>
          </p:cNvPr>
          <p:cNvSpPr>
            <a:spLocks noGrp="1"/>
          </p:cNvSpPr>
          <p:nvPr>
            <p:ph type="body" idx="1"/>
          </p:nvPr>
        </p:nvSpPr>
        <p:spPr/>
        <p:txBody>
          <a:bodyPr/>
          <a:lstStyle/>
          <a:p>
            <a:r>
              <a:rPr lang="en-US" dirty="0"/>
              <a:t>And finally I want to point out that it's not just about coding directly in the editor it is how we use agents everywhere to achieve even more with the GitHub coding agent that is available on github.com you can easily hand off tasks that come to mind either on github.com or directly inside of VS code that's a wonderful way of collaborating with AI agents in your workflow </a:t>
            </a:r>
          </a:p>
        </p:txBody>
      </p:sp>
      <p:sp>
        <p:nvSpPr>
          <p:cNvPr id="4" name="Slide Number Placeholder 3">
            <a:extLst>
              <a:ext uri="{FF2B5EF4-FFF2-40B4-BE49-F238E27FC236}">
                <a16:creationId xmlns:a16="http://schemas.microsoft.com/office/drawing/2014/main" id="{A668B682-437A-C84D-C548-36A8AF8591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32743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3E318D-D634-447D-804D-1A35DED75EBD}" type="slidenum">
              <a:rPr lang="en-US" smtClean="0"/>
              <a:t>23</a:t>
            </a:fld>
            <a:endParaRPr lang="en-US"/>
          </a:p>
        </p:txBody>
      </p:sp>
    </p:spTree>
    <p:extLst>
      <p:ext uri="{BB962C8B-B14F-4D97-AF65-F5344CB8AC3E}">
        <p14:creationId xmlns:p14="http://schemas.microsoft.com/office/powerpoint/2010/main" val="1671277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13E318D-D634-447D-804D-1A35DED75EBD}" type="slidenum">
              <a:rPr lang="en-IN" smtClean="0"/>
              <a:t>24</a:t>
            </a:fld>
            <a:endParaRPr lang="en-IN"/>
          </a:p>
        </p:txBody>
      </p:sp>
    </p:spTree>
    <p:extLst>
      <p:ext uri="{BB962C8B-B14F-4D97-AF65-F5344CB8AC3E}">
        <p14:creationId xmlns:p14="http://schemas.microsoft.com/office/powerpoint/2010/main" val="3018848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ernal/Town Halls_Blan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162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Splash page - event logo">
    <p:bg>
      <p:bgPr>
        <a:solidFill>
          <a:srgbClr val="000000"/>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1FFF5AE7-693A-1EA1-448A-851073E1E86B}"/>
              </a:ext>
            </a:extLst>
          </p:cNvPr>
          <p:cNvSpPr>
            <a:spLocks noGrp="1"/>
          </p:cNvSpPr>
          <p:nvPr>
            <p:ph type="pic" sz="quarter" idx="10" hasCustomPrompt="1"/>
          </p:nvPr>
        </p:nvSpPr>
        <p:spPr>
          <a:xfrm>
            <a:off x="6096000" y="887157"/>
            <a:ext cx="5263744" cy="5083685"/>
          </a:xfrm>
          <a:prstGeom prst="roundRect">
            <a:avLst>
              <a:gd name="adj" fmla="val 2850"/>
            </a:avLst>
          </a:prstGeom>
          <a:noFill/>
          <a:ln>
            <a:solidFill>
              <a:schemeClr val="tx2"/>
            </a:solidFill>
          </a:ln>
          <a:effectLst>
            <a:outerShdw blurRad="226684" dist="365489" dir="5400000" algn="t" rotWithShape="0">
              <a:prstClr val="black">
                <a:alpha val="40000"/>
              </a:prstClr>
            </a:outerShdw>
          </a:effectLst>
        </p:spPr>
        <p:txBody>
          <a:bodyPr anchor="ctr"/>
          <a:lstStyle>
            <a:lvl1pPr algn="ctr">
              <a:defRPr sz="1800">
                <a:latin typeface="Aptos" pitchFamily="2" charset="77"/>
              </a:defRPr>
            </a:lvl1pPr>
          </a:lstStyle>
          <a:p>
            <a:r>
              <a:rPr lang="en-US"/>
              <a:t>Click to add an image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738765" y="4406716"/>
            <a:ext cx="443590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7" name="Text Placeholder 23">
            <a:extLst>
              <a:ext uri="{FF2B5EF4-FFF2-40B4-BE49-F238E27FC236}">
                <a16:creationId xmlns:a16="http://schemas.microsoft.com/office/drawing/2014/main" id="{9C4B9E08-03E4-3991-C992-D35CCFCE104B}"/>
              </a:ext>
            </a:extLst>
          </p:cNvPr>
          <p:cNvSpPr>
            <a:spLocks noGrp="1"/>
          </p:cNvSpPr>
          <p:nvPr>
            <p:ph type="body" sz="quarter" idx="30" hasCustomPrompt="1"/>
          </p:nvPr>
        </p:nvSpPr>
        <p:spPr>
          <a:xfrm>
            <a:off x="738767" y="1573760"/>
            <a:ext cx="4435906" cy="2685089"/>
          </a:xfrm>
          <a:prstGeom prst="rect">
            <a:avLst/>
          </a:prstGeom>
        </p:spPr>
        <p:txBody>
          <a:bodyPr anchor="t" anchorCtr="0">
            <a:noAutofit/>
          </a:bodyPr>
          <a:lstStyle>
            <a:lvl1pPr marL="0" indent="0" algn="l">
              <a:buNone/>
              <a:defRPr sz="36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that should be 10 words or less</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738765" y="887157"/>
            <a:ext cx="443590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Tree>
    <p:extLst>
      <p:ext uri="{BB962C8B-B14F-4D97-AF65-F5344CB8AC3E}">
        <p14:creationId xmlns:p14="http://schemas.microsoft.com/office/powerpoint/2010/main" val="60047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urity_Roadmap slide_1 feature">
    <p:bg>
      <p:bgPr>
        <a:solidFill>
          <a:schemeClr val="bg1"/>
        </a:solidFill>
        <a:effectLst/>
      </p:bgPr>
    </p:bg>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79C7943A-B90A-54C3-B112-3171A8FDB2FD}"/>
              </a:ext>
            </a:extLst>
          </p:cNvPr>
          <p:cNvSpPr>
            <a:spLocks noGrp="1"/>
          </p:cNvSpPr>
          <p:nvPr>
            <p:ph type="pic" sz="quarter" idx="32"/>
          </p:nvPr>
        </p:nvSpPr>
        <p:spPr>
          <a:xfrm>
            <a:off x="6088062" y="0"/>
            <a:ext cx="6103938" cy="6858000"/>
          </a:xfrm>
          <a:prstGeom prst="rect">
            <a:avLst/>
          </a:prstGeom>
        </p:spPr>
        <p:txBody>
          <a:bodyPr/>
          <a:lstStyle/>
          <a:p>
            <a:r>
              <a:rPr lang="en-US"/>
              <a:t>Click icon to add picture</a:t>
            </a:r>
          </a:p>
        </p:txBody>
      </p:sp>
      <p:sp>
        <p:nvSpPr>
          <p:cNvPr id="4" name="Text Placeholder 23">
            <a:extLst>
              <a:ext uri="{FF2B5EF4-FFF2-40B4-BE49-F238E27FC236}">
                <a16:creationId xmlns:a16="http://schemas.microsoft.com/office/drawing/2014/main" id="{5FBBC732-E702-3E6F-497C-7F29694D13F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6" name="Text Placeholder 23">
            <a:extLst>
              <a:ext uri="{FF2B5EF4-FFF2-40B4-BE49-F238E27FC236}">
                <a16:creationId xmlns:a16="http://schemas.microsoft.com/office/drawing/2014/main" id="{36049FF2-2512-15EC-0BC5-02E04BA2768C}"/>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7" name="Title 3">
            <a:extLst>
              <a:ext uri="{FF2B5EF4-FFF2-40B4-BE49-F238E27FC236}">
                <a16:creationId xmlns:a16="http://schemas.microsoft.com/office/drawing/2014/main" id="{70DE6B89-9C84-0073-FFF4-317627227D3A}"/>
              </a:ext>
            </a:extLst>
          </p:cNvPr>
          <p:cNvSpPr>
            <a:spLocks noGrp="1"/>
          </p:cNvSpPr>
          <p:nvPr>
            <p:ph type="title" hasCustomPrompt="1"/>
          </p:nvPr>
        </p:nvSpPr>
        <p:spPr>
          <a:xfrm>
            <a:off x="380678" y="1078522"/>
            <a:ext cx="5329526" cy="2860431"/>
          </a:xfrm>
          <a:prstGeom prst="rect">
            <a:avLst/>
          </a:prstGeom>
        </p:spPr>
        <p:txBody>
          <a:bodyPr anchor="t"/>
          <a:lstStyle>
            <a:lvl1pPr>
              <a:defRPr b="1" i="0">
                <a:solidFill>
                  <a:schemeClr val="tx1"/>
                </a:solidFill>
                <a:latin typeface="Aptos" pitchFamily="2" charset="77"/>
              </a:defRPr>
            </a:lvl1pPr>
          </a:lstStyle>
          <a:p>
            <a:r>
              <a:rPr lang="en-US"/>
              <a:t>The name of the new feature/tool</a:t>
            </a:r>
          </a:p>
        </p:txBody>
      </p:sp>
      <p:sp>
        <p:nvSpPr>
          <p:cNvPr id="9" name="Rectangle 8">
            <a:extLst>
              <a:ext uri="{FF2B5EF4-FFF2-40B4-BE49-F238E27FC236}">
                <a16:creationId xmlns:a16="http://schemas.microsoft.com/office/drawing/2014/main" id="{A6F09B9F-3FE4-6399-1385-FFD635ADD1DA}"/>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817D17F9-863A-DEA9-AD9D-B5963C46FDA4}"/>
              </a:ext>
            </a:extLst>
          </p:cNvPr>
          <p:cNvSpPr/>
          <p:nvPr/>
        </p:nvSpPr>
        <p:spPr>
          <a:xfrm>
            <a:off x="-6317174" y="1078345"/>
            <a:ext cx="2669164" cy="415936"/>
          </a:xfrm>
          <a:prstGeom prst="roundRect">
            <a:avLst>
              <a:gd name="adj" fmla="val 50000"/>
            </a:avLst>
          </a:prstGeom>
          <a:noFill/>
          <a:ln w="12700">
            <a:gradFill flip="none" rotWithShape="1">
              <a:gsLst>
                <a:gs pos="0">
                  <a:srgbClr val="8342FB"/>
                </a:gs>
                <a:gs pos="47000">
                  <a:srgbClr val="3194FF"/>
                </a:gs>
                <a:gs pos="100000">
                  <a:schemeClr val="accent3"/>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a:latin typeface="Aptos" pitchFamily="2" charset="77"/>
              </a:rPr>
              <a:t>       </a:t>
            </a:r>
            <a:r>
              <a:rPr lang="en-US" sz="1600">
                <a:latin typeface="Aptos" pitchFamily="2" charset="77"/>
              </a:rPr>
              <a:t>Copilot feature name</a:t>
            </a:r>
          </a:p>
        </p:txBody>
      </p:sp>
      <p:grpSp>
        <p:nvGrpSpPr>
          <p:cNvPr id="17" name="Google Shape;1693;p69">
            <a:extLst>
              <a:ext uri="{FF2B5EF4-FFF2-40B4-BE49-F238E27FC236}">
                <a16:creationId xmlns:a16="http://schemas.microsoft.com/office/drawing/2014/main" id="{90C9FAD5-5318-45E8-71B2-93F19CCC648E}"/>
              </a:ext>
            </a:extLst>
          </p:cNvPr>
          <p:cNvGrpSpPr/>
          <p:nvPr/>
        </p:nvGrpSpPr>
        <p:grpSpPr>
          <a:xfrm>
            <a:off x="-6166919" y="1201727"/>
            <a:ext cx="192384" cy="160586"/>
            <a:chOff x="690700" y="246575"/>
            <a:chExt cx="6228425" cy="5199000"/>
          </a:xfrm>
        </p:grpSpPr>
        <p:sp>
          <p:nvSpPr>
            <p:cNvPr id="18" name="Google Shape;1694;p69">
              <a:extLst>
                <a:ext uri="{FF2B5EF4-FFF2-40B4-BE49-F238E27FC236}">
                  <a16:creationId xmlns:a16="http://schemas.microsoft.com/office/drawing/2014/main" id="{9181ADA1-486B-A4ED-A80A-733E51A55A58}"/>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19" name="Google Shape;1695;p69">
              <a:extLst>
                <a:ext uri="{FF2B5EF4-FFF2-40B4-BE49-F238E27FC236}">
                  <a16:creationId xmlns:a16="http://schemas.microsoft.com/office/drawing/2014/main" id="{D2EB6D54-1D04-3426-1116-BD526BBF8BCE}"/>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20" name="Google Shape;1696;p69">
              <a:extLst>
                <a:ext uri="{FF2B5EF4-FFF2-40B4-BE49-F238E27FC236}">
                  <a16:creationId xmlns:a16="http://schemas.microsoft.com/office/drawing/2014/main" id="{9B8CA1D0-EE17-781A-D7C4-3837D25A133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grpSp>
      <p:sp>
        <p:nvSpPr>
          <p:cNvPr id="21" name="Text Placeholder 23">
            <a:extLst>
              <a:ext uri="{FF2B5EF4-FFF2-40B4-BE49-F238E27FC236}">
                <a16:creationId xmlns:a16="http://schemas.microsoft.com/office/drawing/2014/main" id="{681F3C19-4A00-5C21-68D9-AE3DB7F3C883}"/>
              </a:ext>
            </a:extLst>
          </p:cNvPr>
          <p:cNvSpPr txBox="1">
            <a:spLocks/>
          </p:cNvSpPr>
          <p:nvPr/>
        </p:nvSpPr>
        <p:spPr>
          <a:xfrm>
            <a:off x="-6355919" y="4899085"/>
            <a:ext cx="5329526" cy="1564127"/>
          </a:xfrm>
          <a:prstGeom prst="rect">
            <a:avLst/>
          </a:prstGeom>
        </p:spPr>
        <p:txBody>
          <a:bodyPr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rgbClr val="B6BFB8"/>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Supporting text if applicable. Keep it short and sweet.</a:t>
            </a:r>
          </a:p>
        </p:txBody>
      </p:sp>
      <p:sp>
        <p:nvSpPr>
          <p:cNvPr id="22" name="Text Placeholder 23">
            <a:extLst>
              <a:ext uri="{FF2B5EF4-FFF2-40B4-BE49-F238E27FC236}">
                <a16:creationId xmlns:a16="http://schemas.microsoft.com/office/drawing/2014/main" id="{C30760E8-5FE2-1485-13D4-2511792EDD61}"/>
              </a:ext>
            </a:extLst>
          </p:cNvPr>
          <p:cNvSpPr txBox="1">
            <a:spLocks/>
          </p:cNvSpPr>
          <p:nvPr/>
        </p:nvSpPr>
        <p:spPr>
          <a:xfrm>
            <a:off x="-6355919" y="394788"/>
            <a:ext cx="5329528" cy="538736"/>
          </a:xfrm>
          <a:prstGeom prst="rect">
            <a:avLst/>
          </a:prstGeom>
        </p:spPr>
        <p:txBody>
          <a:bodyPr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2"/>
                </a:solidFill>
              </a:rPr>
              <a:t>Beta / Coming soon </a:t>
            </a:r>
          </a:p>
        </p:txBody>
      </p:sp>
      <p:sp>
        <p:nvSpPr>
          <p:cNvPr id="23" name="Title 3">
            <a:extLst>
              <a:ext uri="{FF2B5EF4-FFF2-40B4-BE49-F238E27FC236}">
                <a16:creationId xmlns:a16="http://schemas.microsoft.com/office/drawing/2014/main" id="{89E16DA8-14E9-7B47-04BA-0D076C597EF0}"/>
              </a:ext>
            </a:extLst>
          </p:cNvPr>
          <p:cNvSpPr txBox="1">
            <a:spLocks/>
          </p:cNvSpPr>
          <p:nvPr/>
        </p:nvSpPr>
        <p:spPr>
          <a:xfrm>
            <a:off x="-6355919" y="1814384"/>
            <a:ext cx="5329526" cy="2860431"/>
          </a:xfrm>
          <a:prstGeom prst="rect">
            <a:avLst/>
          </a:prstGeom>
        </p:spPr>
        <p:txBody>
          <a:bodyPr/>
          <a:lst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a:lstStyle>
          <a:p>
            <a:r>
              <a:rPr lang="en-US"/>
              <a:t>A value prop in sentence case that is 12 words or less</a:t>
            </a:r>
          </a:p>
        </p:txBody>
      </p:sp>
      <p:sp>
        <p:nvSpPr>
          <p:cNvPr id="24" name="Rectangle 23">
            <a:extLst>
              <a:ext uri="{FF2B5EF4-FFF2-40B4-BE49-F238E27FC236}">
                <a16:creationId xmlns:a16="http://schemas.microsoft.com/office/drawing/2014/main" id="{38705596-F813-0C20-3648-BC8286CDA0A0}"/>
              </a:ext>
            </a:extLst>
          </p:cNvPr>
          <p:cNvSpPr/>
          <p:nvPr/>
        </p:nvSpPr>
        <p:spPr>
          <a:xfrm>
            <a:off x="-686937"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21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Locked">
    <p:bg>
      <p:bgPr>
        <a:solidFill>
          <a:srgbClr val="000000"/>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6F6C720-DF33-D17F-F413-FB11274DEF80}"/>
              </a:ext>
            </a:extLst>
          </p:cNvPr>
          <p:cNvSpPr/>
          <p:nvPr/>
        </p:nvSpPr>
        <p:spPr>
          <a:xfrm>
            <a:off x="-5221" y="-887828"/>
            <a:ext cx="914400" cy="457200"/>
          </a:xfrm>
          <a:prstGeom prst="roundRect">
            <a:avLst>
              <a:gd name="adj" fmla="val 50000"/>
            </a:avLst>
          </a:prstGeom>
          <a:solidFill>
            <a:srgbClr val="FF507A"/>
          </a:solidFill>
          <a:ln>
            <a:solidFill>
              <a:schemeClr val="tx2"/>
            </a:solidFill>
          </a:ln>
          <a:effectLst>
            <a:outerShdw blurRad="254000" dist="254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i="0">
                <a:solidFill>
                  <a:schemeClr val="tx1"/>
                </a:solidFill>
                <a:latin typeface="Aptos" pitchFamily="2" charset="77"/>
              </a:rPr>
              <a:t>Locked</a:t>
            </a:r>
          </a:p>
        </p:txBody>
      </p:sp>
      <p:pic>
        <p:nvPicPr>
          <p:cNvPr id="3" name="Picture 2">
            <a:extLst>
              <a:ext uri="{FF2B5EF4-FFF2-40B4-BE49-F238E27FC236}">
                <a16:creationId xmlns:a16="http://schemas.microsoft.com/office/drawing/2014/main" id="{7F89459C-3D23-DFF1-35FB-F4DBA62BC888}"/>
              </a:ext>
            </a:extLst>
          </p:cNvPr>
          <p:cNvPicPr/>
          <p:nvPr/>
        </p:nvPicPr>
        <p:blipFill>
          <a:blip r:embed="rId2" cstate="screen">
            <a:extLst>
              <a:ext uri="{28A0092B-C50C-407E-A947-70E740481C1C}">
                <a14:useLocalDpi xmlns:a14="http://schemas.microsoft.com/office/drawing/2010/main"/>
              </a:ext>
            </a:extLst>
          </a:blip>
          <a:stretch>
            <a:fillRect/>
          </a:stretch>
        </p:blipFill>
        <p:spPr>
          <a:xfrm>
            <a:off x="0" y="7148946"/>
            <a:ext cx="2660073" cy="177752"/>
          </a:xfrm>
          <a:prstGeom prst="rect">
            <a:avLst/>
          </a:prstGeom>
        </p:spPr>
      </p:pic>
      <p:sp>
        <p:nvSpPr>
          <p:cNvPr id="5" name="TextBox 4">
            <a:extLst>
              <a:ext uri="{FF2B5EF4-FFF2-40B4-BE49-F238E27FC236}">
                <a16:creationId xmlns:a16="http://schemas.microsoft.com/office/drawing/2014/main" id="{023DC181-FD35-DCFF-793A-2CC1A0FF3EC2}"/>
              </a:ext>
            </a:extLst>
          </p:cNvPr>
          <p:cNvSpPr txBox="1"/>
          <p:nvPr/>
        </p:nvSpPr>
        <p:spPr>
          <a:xfrm>
            <a:off x="6865257" y="7101159"/>
            <a:ext cx="5326743" cy="276999"/>
          </a:xfrm>
          <a:prstGeom prst="rect">
            <a:avLst/>
          </a:prstGeom>
          <a:noFill/>
        </p:spPr>
        <p:txBody>
          <a:bodyPr wrap="square" rtlCol="0">
            <a:spAutoFit/>
          </a:bodyPr>
          <a:lstStyle/>
          <a:p>
            <a:pPr algn="r"/>
            <a:r>
              <a:rPr lang="en-US" sz="1200">
                <a:latin typeface="Aptos" pitchFamily="2" charset="77"/>
              </a:rPr>
              <a:t>slide expiration _ TUES, NOV 26 2024</a:t>
            </a:r>
          </a:p>
        </p:txBody>
      </p:sp>
    </p:spTree>
    <p:extLst>
      <p:ext uri="{BB962C8B-B14F-4D97-AF65-F5344CB8AC3E}">
        <p14:creationId xmlns:p14="http://schemas.microsoft.com/office/powerpoint/2010/main" val="168947907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neral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491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I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341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vEx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3176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urity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03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ten words</a:t>
            </a:r>
          </a:p>
        </p:txBody>
      </p:sp>
    </p:spTree>
    <p:extLst>
      <p:ext uri="{BB962C8B-B14F-4D97-AF65-F5344CB8AC3E}">
        <p14:creationId xmlns:p14="http://schemas.microsoft.com/office/powerpoint/2010/main" val="15823819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ecurity feature specific 2">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0" y="0"/>
            <a:ext cx="6103938" cy="6858000"/>
          </a:xfrm>
          <a:prstGeom prst="rect">
            <a:avLst/>
          </a:prstGeom>
          <a:gradFill>
            <a:gsLst>
              <a:gs pos="100000">
                <a:srgbClr val="9EECFF"/>
              </a:gs>
              <a:gs pos="0">
                <a:srgbClr val="3194FF"/>
              </a:gs>
            </a:gsLst>
            <a:lin ang="2700000" scaled="1"/>
          </a:gradFill>
        </p:spPr>
        <p:txBody>
          <a:bodyPr/>
          <a:lstStyle/>
          <a:p>
            <a:r>
              <a:rPr lang="en-US"/>
              <a:t>Click icon to add picture</a:t>
            </a:r>
          </a:p>
        </p:txBody>
      </p:sp>
      <p:sp>
        <p:nvSpPr>
          <p:cNvPr id="7" name="Rectangle 6">
            <a:extLst>
              <a:ext uri="{FF2B5EF4-FFF2-40B4-BE49-F238E27FC236}">
                <a16:creationId xmlns:a16="http://schemas.microsoft.com/office/drawing/2014/main" id="{7A362230-C912-A080-0D76-BAD92A2A4CBE}"/>
              </a:ext>
            </a:extLst>
          </p:cNvPr>
          <p:cNvSpPr/>
          <p:nvPr/>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B30DED90-C8A1-712C-7287-27FF7BF3A153}"/>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1" name="Text Placeholder 23">
            <a:extLst>
              <a:ext uri="{FF2B5EF4-FFF2-40B4-BE49-F238E27FC236}">
                <a16:creationId xmlns:a16="http://schemas.microsoft.com/office/drawing/2014/main" id="{19F1A0AB-79B7-AB7D-46CD-5F3E3DE389B2}"/>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3" name="Text Placeholder 23">
            <a:extLst>
              <a:ext uri="{FF2B5EF4-FFF2-40B4-BE49-F238E27FC236}">
                <a16:creationId xmlns:a16="http://schemas.microsoft.com/office/drawing/2014/main" id="{55B49007-0D35-3B56-802C-A03CE7C08D12}"/>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3381925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I_Large number &amp; statement">
    <p:bg>
      <p:bgPr>
        <a:solidFill>
          <a:srgbClr val="000000"/>
        </a:solidFill>
        <a:effectLst/>
      </p:bgPr>
    </p:bg>
    <p:spTree>
      <p:nvGrpSpPr>
        <p:cNvPr id="1" name=""/>
        <p:cNvGrpSpPr/>
        <p:nvPr/>
      </p:nvGrpSpPr>
      <p:grpSpPr>
        <a:xfrm>
          <a:off x="0" y="0"/>
          <a:ext cx="0" cy="0"/>
          <a:chOff x="0" y="0"/>
          <a:chExt cx="0" cy="0"/>
        </a:xfrm>
      </p:grpSpPr>
      <p:pic>
        <p:nvPicPr>
          <p:cNvPr id="26" name="Picture 25" descr="A blue sky with clouds&#10;&#10;AI-generated content may be incorrect.">
            <a:extLst>
              <a:ext uri="{FF2B5EF4-FFF2-40B4-BE49-F238E27FC236}">
                <a16:creationId xmlns:a16="http://schemas.microsoft.com/office/drawing/2014/main" id="{58960C67-0FEF-76A6-AD49-528B3E8E24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66" y="0"/>
            <a:ext cx="6102266" cy="6858000"/>
          </a:xfrm>
          <a:prstGeom prst="rect">
            <a:avLst/>
          </a:prstGeom>
        </p:spPr>
      </p:pic>
      <p:sp>
        <p:nvSpPr>
          <p:cNvPr id="27" name="Title 1">
            <a:extLst>
              <a:ext uri="{FF2B5EF4-FFF2-40B4-BE49-F238E27FC236}">
                <a16:creationId xmlns:a16="http://schemas.microsoft.com/office/drawing/2014/main" id="{4D9AF2ED-3216-A0DB-3B2F-2F8D011C1203}"/>
              </a:ext>
            </a:extLst>
          </p:cNvPr>
          <p:cNvSpPr>
            <a:spLocks noGrp="1"/>
          </p:cNvSpPr>
          <p:nvPr>
            <p:ph type="ctrTitle" hasCustomPrompt="1"/>
          </p:nvPr>
        </p:nvSpPr>
        <p:spPr>
          <a:xfrm>
            <a:off x="499432" y="2451283"/>
            <a:ext cx="5090871" cy="1955433"/>
          </a:xfrm>
          <a:prstGeom prst="rect">
            <a:avLst/>
          </a:prstGeom>
        </p:spPr>
        <p:txBody>
          <a:bodyPr anchor="ctr">
            <a:noAutofit/>
          </a:bodyPr>
          <a:lstStyle>
            <a:lvl1pPr algn="ctr">
              <a:defRPr sz="12000" b="1" i="0" spc="-300">
                <a:solidFill>
                  <a:schemeClr val="bg1"/>
                </a:solidFill>
                <a:latin typeface="Aptos" pitchFamily="2" charset="77"/>
              </a:defRPr>
            </a:lvl1pPr>
          </a:lstStyle>
          <a:p>
            <a:r>
              <a:rPr lang="en-US"/>
              <a:t>XXM</a:t>
            </a:r>
          </a:p>
        </p:txBody>
      </p:sp>
      <p:sp>
        <p:nvSpPr>
          <p:cNvPr id="28" name="Text Placeholder 23">
            <a:extLst>
              <a:ext uri="{FF2B5EF4-FFF2-40B4-BE49-F238E27FC236}">
                <a16:creationId xmlns:a16="http://schemas.microsoft.com/office/drawing/2014/main" id="{695EE8D7-ECE2-9E6B-6D33-216903961B0D}"/>
              </a:ext>
            </a:extLst>
          </p:cNvPr>
          <p:cNvSpPr>
            <a:spLocks noGrp="1"/>
          </p:cNvSpPr>
          <p:nvPr>
            <p:ph type="body" sz="quarter" idx="32" hasCustomPrompt="1"/>
          </p:nvPr>
        </p:nvSpPr>
        <p:spPr>
          <a:xfrm>
            <a:off x="499431" y="4406716"/>
            <a:ext cx="5090871" cy="1384511"/>
          </a:xfrm>
          <a:prstGeom prst="rect">
            <a:avLst/>
          </a:prstGeom>
        </p:spPr>
        <p:txBody>
          <a:bodyPr anchor="t"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And/or statement here</a:t>
            </a:r>
          </a:p>
        </p:txBody>
      </p:sp>
      <p:sp>
        <p:nvSpPr>
          <p:cNvPr id="29" name="Text Placeholder 23">
            <a:extLst>
              <a:ext uri="{FF2B5EF4-FFF2-40B4-BE49-F238E27FC236}">
                <a16:creationId xmlns:a16="http://schemas.microsoft.com/office/drawing/2014/main" id="{1D69AF07-CF7E-EC05-D359-1D0CEF0097A5}"/>
              </a:ext>
            </a:extLst>
          </p:cNvPr>
          <p:cNvSpPr>
            <a:spLocks noGrp="1"/>
          </p:cNvSpPr>
          <p:nvPr>
            <p:ph type="body" sz="quarter" idx="33" hasCustomPrompt="1"/>
          </p:nvPr>
        </p:nvSpPr>
        <p:spPr>
          <a:xfrm>
            <a:off x="499431" y="1066772"/>
            <a:ext cx="5090871" cy="1334528"/>
          </a:xfrm>
          <a:prstGeom prst="rect">
            <a:avLst/>
          </a:prstGeom>
        </p:spPr>
        <p:txBody>
          <a:bodyPr anchor="b"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here</a:t>
            </a:r>
          </a:p>
        </p:txBody>
      </p:sp>
      <p:sp>
        <p:nvSpPr>
          <p:cNvPr id="30" name="Rectangle 29">
            <a:extLst>
              <a:ext uri="{FF2B5EF4-FFF2-40B4-BE49-F238E27FC236}">
                <a16:creationId xmlns:a16="http://schemas.microsoft.com/office/drawing/2014/main" id="{70F3FB04-B8E4-3529-78EA-6396FB756359}"/>
              </a:ext>
            </a:extLst>
          </p:cNvPr>
          <p:cNvSpPr/>
          <p:nvPr/>
        </p:nvSpPr>
        <p:spPr>
          <a:xfrm>
            <a:off x="609600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3">
            <a:extLst>
              <a:ext uri="{FF2B5EF4-FFF2-40B4-BE49-F238E27FC236}">
                <a16:creationId xmlns:a16="http://schemas.microsoft.com/office/drawing/2014/main" id="{1E3EC00F-A751-32AF-B158-5684CEF4EDD3}"/>
              </a:ext>
            </a:extLst>
          </p:cNvPr>
          <p:cNvSpPr>
            <a:spLocks noGrp="1"/>
          </p:cNvSpPr>
          <p:nvPr>
            <p:ph type="body" sz="quarter" idx="26" hasCustomPrompt="1"/>
          </p:nvPr>
        </p:nvSpPr>
        <p:spPr>
          <a:xfrm>
            <a:off x="650651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32" name="Text Placeholder 23">
            <a:extLst>
              <a:ext uri="{FF2B5EF4-FFF2-40B4-BE49-F238E27FC236}">
                <a16:creationId xmlns:a16="http://schemas.microsoft.com/office/drawing/2014/main" id="{3160BE5B-2BA3-D923-86BE-6A1E7BEAB11A}"/>
              </a:ext>
            </a:extLst>
          </p:cNvPr>
          <p:cNvSpPr>
            <a:spLocks noGrp="1"/>
          </p:cNvSpPr>
          <p:nvPr>
            <p:ph type="body" sz="quarter" idx="31" hasCustomPrompt="1"/>
          </p:nvPr>
        </p:nvSpPr>
        <p:spPr>
          <a:xfrm>
            <a:off x="650651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
        <p:nvSpPr>
          <p:cNvPr id="33" name="Text Placeholder 9">
            <a:extLst>
              <a:ext uri="{FF2B5EF4-FFF2-40B4-BE49-F238E27FC236}">
                <a16:creationId xmlns:a16="http://schemas.microsoft.com/office/drawing/2014/main" id="{99BC23C1-D9EB-EBDD-BF6B-F0076FC5726A}"/>
              </a:ext>
            </a:extLst>
          </p:cNvPr>
          <p:cNvSpPr>
            <a:spLocks noGrp="1"/>
          </p:cNvSpPr>
          <p:nvPr>
            <p:ph type="body" sz="quarter" idx="34" hasCustomPrompt="1"/>
          </p:nvPr>
        </p:nvSpPr>
        <p:spPr>
          <a:xfrm>
            <a:off x="6506162" y="1078522"/>
            <a:ext cx="5329882" cy="2862072"/>
          </a:xfrm>
          <a:prstGeom prst="rect">
            <a:avLst/>
          </a:prstGeom>
        </p:spPr>
        <p:txBody>
          <a:bodyPr/>
          <a:lstStyle>
            <a:lvl1pPr>
              <a:defRPr sz="3600" b="1" i="0">
                <a:solidFill>
                  <a:schemeClr val="tx1"/>
                </a:solidFill>
                <a:latin typeface="Aptos" pitchFamily="2" charset="77"/>
                <a:cs typeface="Aptos" pitchFamily="2" charset="77"/>
              </a:defRPr>
            </a:lvl1pPr>
          </a:lstStyle>
          <a:p>
            <a:pPr lvl="0"/>
            <a:r>
              <a:rPr lang="en-US"/>
              <a:t>Statement that should be 10 words or less</a:t>
            </a:r>
          </a:p>
        </p:txBody>
      </p:sp>
    </p:spTree>
    <p:extLst>
      <p:ext uri="{BB962C8B-B14F-4D97-AF65-F5344CB8AC3E}">
        <p14:creationId xmlns:p14="http://schemas.microsoft.com/office/powerpoint/2010/main" val="546143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rowser / two statements">
    <p:bg>
      <p:bgPr>
        <a:solidFill>
          <a:srgbClr val="000000"/>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60FCB388-AE2B-FEE6-EDFC-B51DA5958CAB}"/>
              </a:ext>
            </a:extLst>
          </p:cNvPr>
          <p:cNvSpPr>
            <a:spLocks noGrp="1"/>
          </p:cNvSpPr>
          <p:nvPr>
            <p:ph type="pic" sz="quarter" idx="10" hasCustomPrompt="1"/>
          </p:nvPr>
        </p:nvSpPr>
        <p:spPr>
          <a:xfrm>
            <a:off x="7458497" y="966819"/>
            <a:ext cx="4866854" cy="5073650"/>
          </a:xfrm>
          <a:prstGeom prst="rect">
            <a:avLst/>
          </a:prstGeom>
          <a:solidFill>
            <a:schemeClr val="bg1"/>
          </a:solidFill>
          <a:effectLst>
            <a:outerShdw blurRad="420955" dist="232110" dir="5100000" algn="t" rotWithShape="0">
              <a:prstClr val="black">
                <a:alpha val="40000"/>
              </a:prstClr>
            </a:outerShdw>
          </a:effectLst>
        </p:spPr>
        <p:txBody>
          <a:bodyPr anchor="ctr">
            <a:normAutofit/>
          </a:bodyPr>
          <a:lstStyle>
            <a:lvl1pPr algn="ctr">
              <a:defRPr sz="1800">
                <a:latin typeface="Aptos" pitchFamily="2" charset="77"/>
              </a:defRPr>
            </a:lvl1pPr>
          </a:lstStyle>
          <a:p>
            <a:r>
              <a:rPr lang="en-US"/>
              <a:t>Screenshot</a:t>
            </a:r>
          </a:p>
        </p:txBody>
      </p:sp>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6263325"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a:t>
            </a:r>
            <a:br>
              <a:rPr lang="en-US"/>
            </a:br>
            <a:r>
              <a:rPr lang="en-US"/>
              <a:t>than ten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973113"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973114"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973114"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1" y="574423"/>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pic>
        <p:nvPicPr>
          <p:cNvPr id="9" name="Picture 7">
            <a:extLst>
              <a:ext uri="{FF2B5EF4-FFF2-40B4-BE49-F238E27FC236}">
                <a16:creationId xmlns:a16="http://schemas.microsoft.com/office/drawing/2014/main" id="{7AE14FBB-7CBC-D32F-39FD-4ABA51B008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458497" y="492220"/>
            <a:ext cx="8686800" cy="478511"/>
          </a:xfrm>
          <a:prstGeom prst="rect">
            <a:avLst/>
          </a:prstGeom>
        </p:spPr>
      </p:pic>
    </p:spTree>
    <p:extLst>
      <p:ext uri="{BB962C8B-B14F-4D97-AF65-F5344CB8AC3E}">
        <p14:creationId xmlns:p14="http://schemas.microsoft.com/office/powerpoint/2010/main" val="233450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card - Dark mode - 2 speakers">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1674" y="2766"/>
            <a:ext cx="12172140" cy="6852464"/>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2621097" y="380348"/>
            <a:ext cx="9077911" cy="4824698"/>
          </a:xfrm>
          <a:prstGeom prst="rect">
            <a:avLst/>
          </a:prstGeom>
        </p:spPr>
        <p:txBody>
          <a:bodyPr anchor="t">
            <a:normAutofit/>
          </a:bodyPr>
          <a:lstStyle>
            <a:lvl1pPr algn="l">
              <a:lnSpc>
                <a:spcPct val="80000"/>
              </a:lnSpc>
              <a:defRPr sz="8000" b="1" i="0">
                <a:solidFill>
                  <a:srgbClr val="8BF1A6"/>
                </a:solidFill>
                <a:latin typeface="Aptos" pitchFamily="2" charset="77"/>
              </a:defRPr>
            </a:lvl1pPr>
          </a:lstStyle>
          <a:p>
            <a:r>
              <a:rPr lang="en-US"/>
              <a:t>Presentation title </a:t>
            </a:r>
          </a:p>
        </p:txBody>
      </p:sp>
      <p:sp>
        <p:nvSpPr>
          <p:cNvPr id="28" name="Text Placeholder 23">
            <a:extLst>
              <a:ext uri="{FF2B5EF4-FFF2-40B4-BE49-F238E27FC236}">
                <a16:creationId xmlns:a16="http://schemas.microsoft.com/office/drawing/2014/main" id="{63BAA1F4-E359-6D1D-15CC-0F72B8861330}"/>
              </a:ext>
            </a:extLst>
          </p:cNvPr>
          <p:cNvSpPr>
            <a:spLocks noGrp="1"/>
          </p:cNvSpPr>
          <p:nvPr>
            <p:ph type="body" sz="quarter" idx="25" hasCustomPrompt="1"/>
          </p:nvPr>
        </p:nvSpPr>
        <p:spPr>
          <a:xfrm>
            <a:off x="3704302"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29" name="Text Placeholder 23">
            <a:extLst>
              <a:ext uri="{FF2B5EF4-FFF2-40B4-BE49-F238E27FC236}">
                <a16:creationId xmlns:a16="http://schemas.microsoft.com/office/drawing/2014/main" id="{CDD225E2-CA3A-7780-C15A-F080FC674F51}"/>
              </a:ext>
            </a:extLst>
          </p:cNvPr>
          <p:cNvSpPr>
            <a:spLocks noGrp="1"/>
          </p:cNvSpPr>
          <p:nvPr>
            <p:ph type="body" sz="quarter" idx="26" hasCustomPrompt="1"/>
          </p:nvPr>
        </p:nvSpPr>
        <p:spPr>
          <a:xfrm>
            <a:off x="3704302"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8775953"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8775953"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userDrawn="1"/>
        </p:nvSpPr>
        <p:spPr>
          <a:xfrm rot="5400000">
            <a:off x="7150276" y="535918"/>
            <a:ext cx="36576" cy="1002352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9">
            <a:extLst>
              <a:ext uri="{FF2B5EF4-FFF2-40B4-BE49-F238E27FC236}">
                <a16:creationId xmlns:a16="http://schemas.microsoft.com/office/drawing/2014/main" id="{29CF073E-C979-1616-02A6-D777AA3C33E1}"/>
              </a:ext>
            </a:extLst>
          </p:cNvPr>
          <p:cNvSpPr>
            <a:spLocks noGrp="1" noChangeAspect="1"/>
          </p:cNvSpPr>
          <p:nvPr>
            <p:ph type="pic" sz="quarter" idx="41"/>
          </p:nvPr>
        </p:nvSpPr>
        <p:spPr>
          <a:xfrm>
            <a:off x="2184783" y="5565045"/>
            <a:ext cx="1298448" cy="1298448"/>
          </a:xfrm>
          <a:prstGeom prst="rect">
            <a:avLst/>
          </a:prstGeom>
        </p:spPr>
        <p:txBody>
          <a:bodyPr/>
          <a:lstStyle/>
          <a:p>
            <a:endParaRPr lang="en-US"/>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7230039" y="5565045"/>
            <a:ext cx="1298448" cy="1298448"/>
          </a:xfrm>
          <a:prstGeom prst="rect">
            <a:avLst/>
          </a:prstGeom>
        </p:spPr>
        <p:txBody>
          <a:bodyPr/>
          <a:lstStyle/>
          <a:p>
            <a:endParaRPr lang="en-US"/>
          </a:p>
        </p:txBody>
      </p:sp>
      <p:sp>
        <p:nvSpPr>
          <p:cNvPr id="4" name="Rectangle 3">
            <a:extLst>
              <a:ext uri="{FF2B5EF4-FFF2-40B4-BE49-F238E27FC236}">
                <a16:creationId xmlns:a16="http://schemas.microsoft.com/office/drawing/2014/main" id="{DAE7CB62-5C8D-2981-EAA4-46E33D55EA7C}"/>
              </a:ext>
            </a:extLst>
          </p:cNvPr>
          <p:cNvSpPr/>
          <p:nvPr userDrawn="1"/>
        </p:nvSpPr>
        <p:spPr>
          <a:xfrm>
            <a:off x="7195694" y="5532120"/>
            <a:ext cx="36576" cy="1325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224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26410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C6ECBF4C-BF4F-0D2C-EA8E-54C29F31B2F7}"/>
              </a:ext>
            </a:extLst>
          </p:cNvPr>
          <p:cNvSpPr>
            <a:spLocks noGrp="1"/>
          </p:cNvSpPr>
          <p:nvPr>
            <p:ph type="body" sz="quarter" idx="11" hasCustomPrompt="1"/>
          </p:nvPr>
        </p:nvSpPr>
        <p:spPr>
          <a:xfrm>
            <a:off x="4109814" y="335102"/>
            <a:ext cx="726315" cy="6187796"/>
          </a:xfrm>
          <a:prstGeom prst="rect">
            <a:avLst/>
          </a:prstGeom>
        </p:spPr>
        <p:txBody>
          <a:bodyPr/>
          <a:lstStyle>
            <a:lvl1pPr>
              <a:defRPr sz="2800" b="1" i="0">
                <a:solidFill>
                  <a:srgbClr val="B6BFB8"/>
                </a:solidFill>
                <a:latin typeface="Aptos" pitchFamily="2" charset="77"/>
              </a:defRPr>
            </a:lvl1pPr>
          </a:lstStyle>
          <a:p>
            <a:pPr lvl="0"/>
            <a:r>
              <a:rPr lang="en-US"/>
              <a:t>01</a:t>
            </a:r>
          </a:p>
          <a:p>
            <a:pPr lvl="0"/>
            <a:r>
              <a:rPr lang="en-US"/>
              <a:t>02</a:t>
            </a:r>
          </a:p>
          <a:p>
            <a:pPr lvl="0"/>
            <a:r>
              <a:rPr lang="en-US"/>
              <a:t>03</a:t>
            </a:r>
          </a:p>
          <a:p>
            <a:pPr lvl="0"/>
            <a:r>
              <a:rPr lang="en-US"/>
              <a:t>04</a:t>
            </a:r>
          </a:p>
          <a:p>
            <a:pPr lvl="0"/>
            <a:r>
              <a:rPr lang="en-US"/>
              <a:t>05</a:t>
            </a:r>
          </a:p>
        </p:txBody>
      </p:sp>
      <p:sp>
        <p:nvSpPr>
          <p:cNvPr id="3" name="Text Placeholder 2">
            <a:extLst>
              <a:ext uri="{FF2B5EF4-FFF2-40B4-BE49-F238E27FC236}">
                <a16:creationId xmlns:a16="http://schemas.microsoft.com/office/drawing/2014/main" id="{88A2D5E6-6218-3513-0338-32F1DADBF965}"/>
              </a:ext>
            </a:extLst>
          </p:cNvPr>
          <p:cNvSpPr>
            <a:spLocks noGrp="1"/>
          </p:cNvSpPr>
          <p:nvPr>
            <p:ph type="body" sz="quarter" idx="12" hasCustomPrompt="1"/>
          </p:nvPr>
        </p:nvSpPr>
        <p:spPr>
          <a:xfrm>
            <a:off x="4836128" y="335102"/>
            <a:ext cx="6955155" cy="6187796"/>
          </a:xfrm>
          <a:prstGeom prst="rect">
            <a:avLst/>
          </a:prstGeom>
        </p:spPr>
        <p:txBody>
          <a:bodyPr/>
          <a:lstStyle>
            <a:lvl1pPr>
              <a:defRPr sz="2800" b="1" i="0">
                <a:solidFill>
                  <a:schemeClr val="tx1"/>
                </a:solidFill>
                <a:latin typeface="Aptos"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 </a:t>
            </a:r>
          </a:p>
        </p:txBody>
      </p:sp>
      <p:sp>
        <p:nvSpPr>
          <p:cNvPr id="8" name="TextBox 7">
            <a:extLst>
              <a:ext uri="{FF2B5EF4-FFF2-40B4-BE49-F238E27FC236}">
                <a16:creationId xmlns:a16="http://schemas.microsoft.com/office/drawing/2014/main" id="{16ADB4EE-5BC1-F20C-23D5-E728D77BC32D}"/>
              </a:ext>
            </a:extLst>
          </p:cNvPr>
          <p:cNvSpPr txBox="1"/>
          <p:nvPr userDrawn="1"/>
        </p:nvSpPr>
        <p:spPr>
          <a:xfrm>
            <a:off x="256841" y="335102"/>
            <a:ext cx="3060790" cy="1015663"/>
          </a:xfrm>
          <a:prstGeom prst="rect">
            <a:avLst/>
          </a:prstGeom>
          <a:noFill/>
        </p:spPr>
        <p:txBody>
          <a:bodyPr wrap="square" rtlCol="0">
            <a:spAutoFit/>
          </a:bodyPr>
          <a:lstStyle/>
          <a:p>
            <a:pPr algn="ctr"/>
            <a:r>
              <a:rPr lang="en-US" sz="6000" b="1" i="0">
                <a:solidFill>
                  <a:schemeClr val="tx1"/>
                </a:solidFill>
                <a:latin typeface="Aptos" pitchFamily="2" charset="77"/>
                <a:cs typeface="Aptos" pitchFamily="2" charset="77"/>
              </a:rPr>
              <a:t>Agenda</a:t>
            </a:r>
          </a:p>
        </p:txBody>
      </p:sp>
      <p:sp>
        <p:nvSpPr>
          <p:cNvPr id="9" name="Rectangle 8">
            <a:extLst>
              <a:ext uri="{FF2B5EF4-FFF2-40B4-BE49-F238E27FC236}">
                <a16:creationId xmlns:a16="http://schemas.microsoft.com/office/drawing/2014/main" id="{CE94A6F1-D848-E63F-EE08-EB5E912E073C}"/>
              </a:ext>
            </a:extLst>
          </p:cNvPr>
          <p:cNvSpPr/>
          <p:nvPr userDrawn="1"/>
        </p:nvSpPr>
        <p:spPr>
          <a:xfrm>
            <a:off x="3663995"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1667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Panel Title Card - green mode">
    <p:bg>
      <p:bgPr>
        <a:solidFill>
          <a:srgbClr val="0000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2B1EC0-7FF8-CC20-FE27-A035712249B9}"/>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2822"/>
            <a:ext cx="12192000" cy="6863644"/>
          </a:xfrm>
          <a:prstGeom prst="rect">
            <a:avLst/>
          </a:prstGeom>
        </p:spPr>
      </p:pic>
      <p:sp>
        <p:nvSpPr>
          <p:cNvPr id="12" name="Title 1">
            <a:extLst>
              <a:ext uri="{FF2B5EF4-FFF2-40B4-BE49-F238E27FC236}">
                <a16:creationId xmlns:a16="http://schemas.microsoft.com/office/drawing/2014/main" id="{17311656-A7F6-E685-5661-15D8FA1D6A45}"/>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bg1"/>
                </a:solidFill>
                <a:latin typeface="Aptos" pitchFamily="2" charset="77"/>
              </a:defRPr>
            </a:lvl1pPr>
          </a:lstStyle>
          <a:p>
            <a:r>
              <a:rPr lang="en-US"/>
              <a:t>Section title</a:t>
            </a:r>
          </a:p>
        </p:txBody>
      </p:sp>
    </p:spTree>
    <p:extLst>
      <p:ext uri="{BB962C8B-B14F-4D97-AF65-F5344CB8AC3E}">
        <p14:creationId xmlns:p14="http://schemas.microsoft.com/office/powerpoint/2010/main" val="2703246573"/>
      </p:ext>
    </p:extLst>
  </p:cSld>
  <p:clrMapOvr>
    <a:masterClrMapping/>
  </p:clrMapOvr>
  <p:extLst>
    <p:ext uri="{DCECCB84-F9BA-43D5-87BE-67443E8EF086}">
      <p15:sldGuideLst xmlns:p15="http://schemas.microsoft.com/office/powerpoint/2012/main">
        <p15:guide id="1" pos="17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pilot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EC38ED57-A90D-1FEC-BCD3-69F2431F29E6}"/>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4208422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pilot feature specific 2">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0" name="Picture Placeholder 9">
            <a:extLst>
              <a:ext uri="{FF2B5EF4-FFF2-40B4-BE49-F238E27FC236}">
                <a16:creationId xmlns:a16="http://schemas.microsoft.com/office/drawing/2014/main" id="{16F761FA-ABFC-2709-D9A4-285A770143CD}"/>
              </a:ext>
            </a:extLst>
          </p:cNvPr>
          <p:cNvSpPr>
            <a:spLocks noGrp="1"/>
          </p:cNvSpPr>
          <p:nvPr>
            <p:ph type="pic" sz="quarter" idx="32"/>
          </p:nvPr>
        </p:nvSpPr>
        <p:spPr>
          <a:xfrm>
            <a:off x="0" y="0"/>
            <a:ext cx="6103938" cy="6858000"/>
          </a:xfrm>
          <a:prstGeom prst="rect">
            <a:avLst/>
          </a:prstGeom>
          <a:solidFill>
            <a:schemeClr val="accent3"/>
          </a:solidFill>
        </p:spPr>
        <p:txBody>
          <a:bodyPr/>
          <a:lstStyle/>
          <a:p>
            <a:endParaRPr lang="en-US"/>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90834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pilot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18453648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692948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9297366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Enterprise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608E0FD1-CD5E-A504-86F7-8B2F8D1E3CC9}"/>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Tree>
    <p:extLst>
      <p:ext uri="{BB962C8B-B14F-4D97-AF65-F5344CB8AC3E}">
        <p14:creationId xmlns:p14="http://schemas.microsoft.com/office/powerpoint/2010/main" val="17548762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Enterprise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16924322-F239-A0FF-709F-A1F181CBA489}"/>
              </a:ext>
            </a:extLst>
          </p:cNvPr>
          <p:cNvSpPr>
            <a:spLocks noGrp="1"/>
          </p:cNvSpPr>
          <p:nvPr>
            <p:ph type="pic" sz="quarter" idx="32"/>
          </p:nvPr>
        </p:nvSpPr>
        <p:spPr>
          <a:xfrm>
            <a:off x="0" y="0"/>
            <a:ext cx="6103938" cy="6858000"/>
          </a:xfrm>
          <a:prstGeom prst="rect">
            <a:avLst/>
          </a:prstGeom>
          <a:solidFill>
            <a:schemeClr val="accent5"/>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9794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Enterprise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7489211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solidFill>
            <a:schemeClr val="accent3"/>
          </a:solidFill>
        </p:spPr>
        <p:txBody>
          <a:bodyPr/>
          <a:lstStyle/>
          <a:p>
            <a:endParaRPr lang="en-US"/>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solidFill>
            <a:schemeClr val="accent3"/>
          </a:solidFill>
        </p:spPr>
        <p:txBody>
          <a:bodyPr/>
          <a:lstStyle/>
          <a:p>
            <a:endParaRPr lang="en-US"/>
          </a:p>
        </p:txBody>
      </p:sp>
    </p:spTree>
    <p:extLst>
      <p:ext uri="{BB962C8B-B14F-4D97-AF65-F5344CB8AC3E}">
        <p14:creationId xmlns:p14="http://schemas.microsoft.com/office/powerpoint/2010/main" val="512641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Security Roadmap slide_3 features - light mod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E16561-B8B1-9D14-AD15-7B3274B52B27}"/>
              </a:ext>
            </a:extLst>
          </p:cNvPr>
          <p:cNvSpPr/>
          <p:nvPr userDrawn="1"/>
        </p:nvSpPr>
        <p:spPr>
          <a:xfrm>
            <a:off x="8117893"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3">
            <a:extLst>
              <a:ext uri="{FF2B5EF4-FFF2-40B4-BE49-F238E27FC236}">
                <a16:creationId xmlns:a16="http://schemas.microsoft.com/office/drawing/2014/main" id="{64EEAE1A-5DA8-56EB-F8EA-26929E8D8A2A}"/>
              </a:ext>
            </a:extLst>
          </p:cNvPr>
          <p:cNvSpPr>
            <a:spLocks noGrp="1"/>
          </p:cNvSpPr>
          <p:nvPr>
            <p:ph type="body" sz="quarter" idx="31" hasCustomPrompt="1"/>
          </p:nvPr>
        </p:nvSpPr>
        <p:spPr>
          <a:xfrm>
            <a:off x="266509" y="315963"/>
            <a:ext cx="11671846" cy="442635"/>
          </a:xfrm>
          <a:prstGeom prst="rect">
            <a:avLst/>
          </a:prstGeom>
        </p:spPr>
        <p:txBody>
          <a:bodyPr anchor="b" anchorCtr="0">
            <a:noAutofit/>
          </a:bodyPr>
          <a:lstStyle>
            <a:lvl1pPr marL="0" indent="0" algn="l">
              <a:buNone/>
              <a:defRPr sz="16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9" name="Text Placeholder 23">
            <a:extLst>
              <a:ext uri="{FF2B5EF4-FFF2-40B4-BE49-F238E27FC236}">
                <a16:creationId xmlns:a16="http://schemas.microsoft.com/office/drawing/2014/main" id="{E0769167-6666-38D4-621D-ED2CDB7679E5}"/>
              </a:ext>
            </a:extLst>
          </p:cNvPr>
          <p:cNvSpPr>
            <a:spLocks noGrp="1"/>
          </p:cNvSpPr>
          <p:nvPr>
            <p:ph type="body" sz="quarter" idx="26" hasCustomPrompt="1"/>
          </p:nvPr>
        </p:nvSpPr>
        <p:spPr>
          <a:xfrm>
            <a:off x="265242" y="5434006"/>
            <a:ext cx="3508572"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0" name="Text Placeholder 23">
            <a:extLst>
              <a:ext uri="{FF2B5EF4-FFF2-40B4-BE49-F238E27FC236}">
                <a16:creationId xmlns:a16="http://schemas.microsoft.com/office/drawing/2014/main" id="{39A8D513-B9E9-7B5B-B3D5-A4C690BDF9AE}"/>
              </a:ext>
            </a:extLst>
          </p:cNvPr>
          <p:cNvSpPr>
            <a:spLocks noGrp="1"/>
          </p:cNvSpPr>
          <p:nvPr>
            <p:ph type="body" sz="quarter" idx="27" hasCustomPrompt="1"/>
          </p:nvPr>
        </p:nvSpPr>
        <p:spPr>
          <a:xfrm>
            <a:off x="265241" y="5941613"/>
            <a:ext cx="3508572"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1" name="Text Placeholder 23">
            <a:extLst>
              <a:ext uri="{FF2B5EF4-FFF2-40B4-BE49-F238E27FC236}">
                <a16:creationId xmlns:a16="http://schemas.microsoft.com/office/drawing/2014/main" id="{A76A2BB0-FCD6-2636-7423-16BB5C27207D}"/>
              </a:ext>
            </a:extLst>
          </p:cNvPr>
          <p:cNvSpPr>
            <a:spLocks noGrp="1"/>
          </p:cNvSpPr>
          <p:nvPr>
            <p:ph type="body" sz="quarter" idx="32" hasCustomPrompt="1"/>
          </p:nvPr>
        </p:nvSpPr>
        <p:spPr>
          <a:xfrm>
            <a:off x="4291201" y="5434006"/>
            <a:ext cx="3610056"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2" name="Text Placeholder 23">
            <a:extLst>
              <a:ext uri="{FF2B5EF4-FFF2-40B4-BE49-F238E27FC236}">
                <a16:creationId xmlns:a16="http://schemas.microsoft.com/office/drawing/2014/main" id="{04EA0C85-87D4-757E-83C4-5832F27B42D3}"/>
              </a:ext>
            </a:extLst>
          </p:cNvPr>
          <p:cNvSpPr>
            <a:spLocks noGrp="1"/>
          </p:cNvSpPr>
          <p:nvPr>
            <p:ph type="body" sz="quarter" idx="33" hasCustomPrompt="1"/>
          </p:nvPr>
        </p:nvSpPr>
        <p:spPr>
          <a:xfrm>
            <a:off x="4291200" y="5941613"/>
            <a:ext cx="3610056"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3" name="Text Placeholder 23">
            <a:extLst>
              <a:ext uri="{FF2B5EF4-FFF2-40B4-BE49-F238E27FC236}">
                <a16:creationId xmlns:a16="http://schemas.microsoft.com/office/drawing/2014/main" id="{6D8116AD-CE22-2D8C-9DE3-F3C77FA0753B}"/>
              </a:ext>
            </a:extLst>
          </p:cNvPr>
          <p:cNvSpPr>
            <a:spLocks noGrp="1"/>
          </p:cNvSpPr>
          <p:nvPr>
            <p:ph type="body" sz="quarter" idx="35" hasCustomPrompt="1"/>
          </p:nvPr>
        </p:nvSpPr>
        <p:spPr>
          <a:xfrm>
            <a:off x="8371106" y="5434006"/>
            <a:ext cx="3602734"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4" name="Text Placeholder 23">
            <a:extLst>
              <a:ext uri="{FF2B5EF4-FFF2-40B4-BE49-F238E27FC236}">
                <a16:creationId xmlns:a16="http://schemas.microsoft.com/office/drawing/2014/main" id="{151BA3FC-D378-BC14-12AC-B36B8DDEBA1A}"/>
              </a:ext>
            </a:extLst>
          </p:cNvPr>
          <p:cNvSpPr>
            <a:spLocks noGrp="1"/>
          </p:cNvSpPr>
          <p:nvPr>
            <p:ph type="body" sz="quarter" idx="36" hasCustomPrompt="1"/>
          </p:nvPr>
        </p:nvSpPr>
        <p:spPr>
          <a:xfrm>
            <a:off x="8371105" y="5941613"/>
            <a:ext cx="3602734"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5" name="Text Placeholder 23">
            <a:extLst>
              <a:ext uri="{FF2B5EF4-FFF2-40B4-BE49-F238E27FC236}">
                <a16:creationId xmlns:a16="http://schemas.microsoft.com/office/drawing/2014/main" id="{5B4CF656-7D1C-725E-023D-71287E559159}"/>
              </a:ext>
            </a:extLst>
          </p:cNvPr>
          <p:cNvSpPr>
            <a:spLocks noGrp="1"/>
          </p:cNvSpPr>
          <p:nvPr>
            <p:ph type="body" sz="quarter" idx="41" hasCustomPrompt="1"/>
          </p:nvPr>
        </p:nvSpPr>
        <p:spPr>
          <a:xfrm>
            <a:off x="265241" y="5205470"/>
            <a:ext cx="3508572"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6" name="Text Placeholder 23">
            <a:extLst>
              <a:ext uri="{FF2B5EF4-FFF2-40B4-BE49-F238E27FC236}">
                <a16:creationId xmlns:a16="http://schemas.microsoft.com/office/drawing/2014/main" id="{233DF6E9-5543-2FB0-CA50-1F53ED4A1728}"/>
              </a:ext>
            </a:extLst>
          </p:cNvPr>
          <p:cNvSpPr>
            <a:spLocks noGrp="1"/>
          </p:cNvSpPr>
          <p:nvPr>
            <p:ph type="body" sz="quarter" idx="42" hasCustomPrompt="1"/>
          </p:nvPr>
        </p:nvSpPr>
        <p:spPr>
          <a:xfrm>
            <a:off x="4291200" y="5187721"/>
            <a:ext cx="3610056"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7" name="Text Placeholder 23">
            <a:extLst>
              <a:ext uri="{FF2B5EF4-FFF2-40B4-BE49-F238E27FC236}">
                <a16:creationId xmlns:a16="http://schemas.microsoft.com/office/drawing/2014/main" id="{19097207-A056-2FD7-F060-385A6EC4EDD3}"/>
              </a:ext>
            </a:extLst>
          </p:cNvPr>
          <p:cNvSpPr>
            <a:spLocks noGrp="1"/>
          </p:cNvSpPr>
          <p:nvPr>
            <p:ph type="body" sz="quarter" idx="43" hasCustomPrompt="1"/>
          </p:nvPr>
        </p:nvSpPr>
        <p:spPr>
          <a:xfrm>
            <a:off x="8371105" y="5187721"/>
            <a:ext cx="3602734"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8" name="Title 5">
            <a:extLst>
              <a:ext uri="{FF2B5EF4-FFF2-40B4-BE49-F238E27FC236}">
                <a16:creationId xmlns:a16="http://schemas.microsoft.com/office/drawing/2014/main" id="{F59283A9-EF46-CC74-737A-A8DA35AE2369}"/>
              </a:ext>
            </a:extLst>
          </p:cNvPr>
          <p:cNvSpPr>
            <a:spLocks noGrp="1"/>
          </p:cNvSpPr>
          <p:nvPr>
            <p:ph type="title" hasCustomPrompt="1"/>
          </p:nvPr>
        </p:nvSpPr>
        <p:spPr>
          <a:xfrm>
            <a:off x="265241" y="896026"/>
            <a:ext cx="11671847" cy="701863"/>
          </a:xfrm>
          <a:prstGeom prst="rect">
            <a:avLst/>
          </a:prstGeom>
        </p:spPr>
        <p:txBody>
          <a:bodyPr/>
          <a:lstStyle>
            <a:lvl1pPr>
              <a:defRPr b="1" i="0">
                <a:solidFill>
                  <a:schemeClr val="bg1"/>
                </a:solidFill>
                <a:latin typeface="Aptos" pitchFamily="2" charset="77"/>
              </a:defRPr>
            </a:lvl1pPr>
          </a:lstStyle>
          <a:p>
            <a:r>
              <a:rPr lang="en-US"/>
              <a:t>Title that should be 10 words or less</a:t>
            </a:r>
          </a:p>
        </p:txBody>
      </p:sp>
      <p:sp>
        <p:nvSpPr>
          <p:cNvPr id="3" name="Rectangle 2">
            <a:extLst>
              <a:ext uri="{FF2B5EF4-FFF2-40B4-BE49-F238E27FC236}">
                <a16:creationId xmlns:a16="http://schemas.microsoft.com/office/drawing/2014/main" id="{4A760EA7-4222-D88A-826C-72AA4D4DD8B0}"/>
              </a:ext>
            </a:extLst>
          </p:cNvPr>
          <p:cNvSpPr/>
          <p:nvPr userDrawn="1"/>
        </p:nvSpPr>
        <p:spPr>
          <a:xfrm>
            <a:off x="4041649"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D93795-C7C0-7636-091A-A6E374D7AD46}"/>
              </a:ext>
            </a:extLst>
          </p:cNvPr>
          <p:cNvSpPr/>
          <p:nvPr userDrawn="1"/>
        </p:nvSpPr>
        <p:spPr>
          <a:xfrm rot="5400000">
            <a:off x="6077712" y="-4328386"/>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13">
            <a:extLst>
              <a:ext uri="{FF2B5EF4-FFF2-40B4-BE49-F238E27FC236}">
                <a16:creationId xmlns:a16="http://schemas.microsoft.com/office/drawing/2014/main" id="{EBC815E3-BB59-F649-6CA9-D540D7BF34BC}"/>
              </a:ext>
            </a:extLst>
          </p:cNvPr>
          <p:cNvSpPr>
            <a:spLocks noGrp="1"/>
          </p:cNvSpPr>
          <p:nvPr>
            <p:ph type="pic" sz="quarter" idx="44"/>
          </p:nvPr>
        </p:nvSpPr>
        <p:spPr>
          <a:xfrm>
            <a:off x="0" y="1784379"/>
            <a:ext cx="4032250" cy="3103545"/>
          </a:xfrm>
          <a:prstGeom prst="rect">
            <a:avLst/>
          </a:prstGeom>
          <a:solidFill>
            <a:schemeClr val="accent1"/>
          </a:solidFill>
        </p:spPr>
        <p:txBody>
          <a:bodyPr/>
          <a:lstStyle/>
          <a:p>
            <a:endParaRPr lang="en-US"/>
          </a:p>
        </p:txBody>
      </p:sp>
      <p:sp>
        <p:nvSpPr>
          <p:cNvPr id="15" name="Picture Placeholder 13">
            <a:extLst>
              <a:ext uri="{FF2B5EF4-FFF2-40B4-BE49-F238E27FC236}">
                <a16:creationId xmlns:a16="http://schemas.microsoft.com/office/drawing/2014/main" id="{0A1DC661-4272-AC8D-8951-BCB09F14B217}"/>
              </a:ext>
            </a:extLst>
          </p:cNvPr>
          <p:cNvSpPr>
            <a:spLocks noGrp="1"/>
          </p:cNvSpPr>
          <p:nvPr>
            <p:ph type="pic" sz="quarter" idx="45"/>
          </p:nvPr>
        </p:nvSpPr>
        <p:spPr>
          <a:xfrm>
            <a:off x="4079875" y="1784379"/>
            <a:ext cx="4032250" cy="3103545"/>
          </a:xfrm>
          <a:prstGeom prst="rect">
            <a:avLst/>
          </a:prstGeom>
          <a:solidFill>
            <a:schemeClr val="accent1"/>
          </a:solidFill>
        </p:spPr>
        <p:txBody>
          <a:bodyPr/>
          <a:lstStyle/>
          <a:p>
            <a:endParaRPr lang="en-US"/>
          </a:p>
        </p:txBody>
      </p:sp>
      <p:sp>
        <p:nvSpPr>
          <p:cNvPr id="16" name="Picture Placeholder 13">
            <a:extLst>
              <a:ext uri="{FF2B5EF4-FFF2-40B4-BE49-F238E27FC236}">
                <a16:creationId xmlns:a16="http://schemas.microsoft.com/office/drawing/2014/main" id="{C7D4584E-4C3C-7308-6D5B-892C90B6695F}"/>
              </a:ext>
            </a:extLst>
          </p:cNvPr>
          <p:cNvSpPr>
            <a:spLocks noGrp="1"/>
          </p:cNvSpPr>
          <p:nvPr>
            <p:ph type="pic" sz="quarter" idx="46"/>
          </p:nvPr>
        </p:nvSpPr>
        <p:spPr>
          <a:xfrm>
            <a:off x="8159750" y="1784379"/>
            <a:ext cx="4032250" cy="3103545"/>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1382047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Enterprise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896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peaker bios (2 speaker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F3FDF2F6-0C09-B759-ED6E-3BDD87138F69}"/>
              </a:ext>
            </a:extLst>
          </p:cNvPr>
          <p:cNvSpPr>
            <a:spLocks noGrp="1"/>
          </p:cNvSpPr>
          <p:nvPr>
            <p:ph type="pic" sz="quarter" idx="39" hasCustomPrompt="1"/>
          </p:nvPr>
        </p:nvSpPr>
        <p:spPr>
          <a:xfrm>
            <a:off x="6212954"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3" name="Picture Placeholder 17">
            <a:extLst>
              <a:ext uri="{FF2B5EF4-FFF2-40B4-BE49-F238E27FC236}">
                <a16:creationId xmlns:a16="http://schemas.microsoft.com/office/drawing/2014/main" id="{984C9A0B-0D19-5546-B75C-FEC1FABD63FF}"/>
              </a:ext>
            </a:extLst>
          </p:cNvPr>
          <p:cNvSpPr>
            <a:spLocks noGrp="1"/>
          </p:cNvSpPr>
          <p:nvPr>
            <p:ph type="pic" sz="quarter" idx="10" hasCustomPrompt="1"/>
          </p:nvPr>
        </p:nvSpPr>
        <p:spPr>
          <a:xfrm>
            <a:off x="870283"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6" name="Text Placeholder 23">
            <a:extLst>
              <a:ext uri="{FF2B5EF4-FFF2-40B4-BE49-F238E27FC236}">
                <a16:creationId xmlns:a16="http://schemas.microsoft.com/office/drawing/2014/main" id="{347ABF95-5A12-B61E-19CB-B893D566D326}"/>
              </a:ext>
            </a:extLst>
          </p:cNvPr>
          <p:cNvSpPr>
            <a:spLocks noGrp="1"/>
          </p:cNvSpPr>
          <p:nvPr>
            <p:ph type="body" sz="quarter" idx="34" hasCustomPrompt="1"/>
          </p:nvPr>
        </p:nvSpPr>
        <p:spPr>
          <a:xfrm>
            <a:off x="87028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7" name="Text Placeholder 23">
            <a:extLst>
              <a:ext uri="{FF2B5EF4-FFF2-40B4-BE49-F238E27FC236}">
                <a16:creationId xmlns:a16="http://schemas.microsoft.com/office/drawing/2014/main" id="{01BFB022-2179-4159-D6AB-E98490DA0C42}"/>
              </a:ext>
            </a:extLst>
          </p:cNvPr>
          <p:cNvSpPr>
            <a:spLocks noGrp="1"/>
          </p:cNvSpPr>
          <p:nvPr>
            <p:ph type="body" sz="quarter" idx="30" hasCustomPrompt="1"/>
          </p:nvPr>
        </p:nvSpPr>
        <p:spPr>
          <a:xfrm>
            <a:off x="87028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8" name="Text Placeholder 23">
            <a:extLst>
              <a:ext uri="{FF2B5EF4-FFF2-40B4-BE49-F238E27FC236}">
                <a16:creationId xmlns:a16="http://schemas.microsoft.com/office/drawing/2014/main" id="{8A57A9A7-E0F4-7827-5DF6-3585E337734F}"/>
              </a:ext>
            </a:extLst>
          </p:cNvPr>
          <p:cNvSpPr>
            <a:spLocks noGrp="1"/>
          </p:cNvSpPr>
          <p:nvPr>
            <p:ph type="body" sz="quarter" idx="31" hasCustomPrompt="1"/>
          </p:nvPr>
        </p:nvSpPr>
        <p:spPr>
          <a:xfrm>
            <a:off x="87028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
        <p:nvSpPr>
          <p:cNvPr id="5" name="Text Placeholder 23">
            <a:extLst>
              <a:ext uri="{FF2B5EF4-FFF2-40B4-BE49-F238E27FC236}">
                <a16:creationId xmlns:a16="http://schemas.microsoft.com/office/drawing/2014/main" id="{9069A236-613C-7FB0-5EA8-A37EDBDE6A37}"/>
              </a:ext>
            </a:extLst>
          </p:cNvPr>
          <p:cNvSpPr>
            <a:spLocks noGrp="1"/>
          </p:cNvSpPr>
          <p:nvPr>
            <p:ph type="body" sz="quarter" idx="36" hasCustomPrompt="1"/>
          </p:nvPr>
        </p:nvSpPr>
        <p:spPr>
          <a:xfrm>
            <a:off x="625502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9" name="Text Placeholder 23">
            <a:extLst>
              <a:ext uri="{FF2B5EF4-FFF2-40B4-BE49-F238E27FC236}">
                <a16:creationId xmlns:a16="http://schemas.microsoft.com/office/drawing/2014/main" id="{133A6542-358F-68BF-EC8C-3ED656B2CE84}"/>
              </a:ext>
            </a:extLst>
          </p:cNvPr>
          <p:cNvSpPr>
            <a:spLocks noGrp="1"/>
          </p:cNvSpPr>
          <p:nvPr>
            <p:ph type="body" sz="quarter" idx="37" hasCustomPrompt="1"/>
          </p:nvPr>
        </p:nvSpPr>
        <p:spPr>
          <a:xfrm>
            <a:off x="625502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0" name="Text Placeholder 23">
            <a:extLst>
              <a:ext uri="{FF2B5EF4-FFF2-40B4-BE49-F238E27FC236}">
                <a16:creationId xmlns:a16="http://schemas.microsoft.com/office/drawing/2014/main" id="{1FBE1546-3446-D9B9-3F7B-461085F58DCB}"/>
              </a:ext>
            </a:extLst>
          </p:cNvPr>
          <p:cNvSpPr>
            <a:spLocks noGrp="1"/>
          </p:cNvSpPr>
          <p:nvPr>
            <p:ph type="body" sz="quarter" idx="38" hasCustomPrompt="1"/>
          </p:nvPr>
        </p:nvSpPr>
        <p:spPr>
          <a:xfrm>
            <a:off x="625502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Tree>
    <p:extLst>
      <p:ext uri="{BB962C8B-B14F-4D97-AF65-F5344CB8AC3E}">
        <p14:creationId xmlns:p14="http://schemas.microsoft.com/office/powerpoint/2010/main" val="3891562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6313731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1510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04848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Browser Screenshot ">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33D682-D6C7-BB0B-E7A1-27EB07B2149D}"/>
              </a:ext>
            </a:extLst>
          </p:cNvPr>
          <p:cNvSpPr>
            <a:spLocks noGrp="1"/>
          </p:cNvSpPr>
          <p:nvPr>
            <p:ph type="ctrTitle" hasCustomPrompt="1"/>
          </p:nvPr>
        </p:nvSpPr>
        <p:spPr>
          <a:xfrm>
            <a:off x="1752601" y="272307"/>
            <a:ext cx="8686800" cy="1026260"/>
          </a:xfrm>
          <a:prstGeom prst="rect">
            <a:avLst/>
          </a:prstGeom>
        </p:spPr>
        <p:txBody>
          <a:bodyPr anchor="b">
            <a:noAutofit/>
          </a:bodyPr>
          <a:lstStyle>
            <a:lvl1pPr algn="ctr">
              <a:defRPr sz="3600"/>
            </a:lvl1pPr>
          </a:lstStyle>
          <a:p>
            <a:r>
              <a:rPr lang="en-US"/>
              <a:t>Statement</a:t>
            </a:r>
          </a:p>
        </p:txBody>
      </p:sp>
      <p:sp>
        <p:nvSpPr>
          <p:cNvPr id="2" name="Picture Placeholder 17">
            <a:extLst>
              <a:ext uri="{FF2B5EF4-FFF2-40B4-BE49-F238E27FC236}">
                <a16:creationId xmlns:a16="http://schemas.microsoft.com/office/drawing/2014/main" id="{B638C55F-4F51-F341-6897-942CDD853FE9}"/>
              </a:ext>
            </a:extLst>
          </p:cNvPr>
          <p:cNvSpPr>
            <a:spLocks noGrp="1"/>
          </p:cNvSpPr>
          <p:nvPr>
            <p:ph type="pic" sz="quarter" idx="40" hasCustomPrompt="1"/>
          </p:nvPr>
        </p:nvSpPr>
        <p:spPr>
          <a:xfrm>
            <a:off x="1752599" y="1932318"/>
            <a:ext cx="8686799" cy="4925682"/>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3" name="Picture 7">
            <a:extLst>
              <a:ext uri="{FF2B5EF4-FFF2-40B4-BE49-F238E27FC236}">
                <a16:creationId xmlns:a16="http://schemas.microsoft.com/office/drawing/2014/main" id="{7E64FA12-7867-1868-4C73-36438FFA823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752600" y="1469134"/>
            <a:ext cx="8686798" cy="484001"/>
          </a:xfrm>
          <a:prstGeom prst="rect">
            <a:avLst/>
          </a:prstGeom>
        </p:spPr>
      </p:pic>
    </p:spTree>
    <p:extLst>
      <p:ext uri="{BB962C8B-B14F-4D97-AF65-F5344CB8AC3E}">
        <p14:creationId xmlns:p14="http://schemas.microsoft.com/office/powerpoint/2010/main" val="34718825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Browser Screenshot ">
    <p:bg>
      <p:bgPr>
        <a:solidFill>
          <a:srgbClr val="000000"/>
        </a:solidFill>
        <a:effectLst/>
      </p:bgPr>
    </p:bg>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DE226210-E3AE-F559-CE3E-71798445EE6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316179" y="780228"/>
            <a:ext cx="9559641" cy="532633"/>
          </a:xfrm>
          <a:prstGeom prst="rect">
            <a:avLst/>
          </a:prstGeom>
        </p:spPr>
      </p:pic>
      <p:sp>
        <p:nvSpPr>
          <p:cNvPr id="6" name="Picture Placeholder 17">
            <a:extLst>
              <a:ext uri="{FF2B5EF4-FFF2-40B4-BE49-F238E27FC236}">
                <a16:creationId xmlns:a16="http://schemas.microsoft.com/office/drawing/2014/main" id="{CBD43E14-4F9E-7FFC-4AAE-2567E350367F}"/>
              </a:ext>
            </a:extLst>
          </p:cNvPr>
          <p:cNvSpPr>
            <a:spLocks noGrp="1"/>
          </p:cNvSpPr>
          <p:nvPr>
            <p:ph type="pic" sz="quarter" idx="40" hasCustomPrompt="1"/>
          </p:nvPr>
        </p:nvSpPr>
        <p:spPr>
          <a:xfrm>
            <a:off x="1316179" y="1296234"/>
            <a:ext cx="9553250" cy="5561766"/>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spTree>
    <p:extLst>
      <p:ext uri="{BB962C8B-B14F-4D97-AF65-F5344CB8AC3E}">
        <p14:creationId xmlns:p14="http://schemas.microsoft.com/office/powerpoint/2010/main" val="40520418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Browser  + one statement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ECEB7E09-F65B-E646-C7C1-3FA885EE7C8D}"/>
              </a:ext>
            </a:extLst>
          </p:cNvPr>
          <p:cNvSpPr>
            <a:spLocks noGrp="1"/>
          </p:cNvSpPr>
          <p:nvPr>
            <p:ph type="pic" sz="quarter" idx="40" hasCustomPrompt="1"/>
          </p:nvPr>
        </p:nvSpPr>
        <p:spPr>
          <a:xfrm>
            <a:off x="4714389" y="1093319"/>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6" name="Picture 7">
            <a:extLst>
              <a:ext uri="{FF2B5EF4-FFF2-40B4-BE49-F238E27FC236}">
                <a16:creationId xmlns:a16="http://schemas.microsoft.com/office/drawing/2014/main" id="{0D0131A4-66AF-9252-C050-4A1BFC918C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714389" y="619505"/>
            <a:ext cx="8588275" cy="478511"/>
          </a:xfrm>
          <a:prstGeom prst="rect">
            <a:avLst/>
          </a:prstGeom>
        </p:spPr>
      </p:pic>
      <p:sp>
        <p:nvSpPr>
          <p:cNvPr id="9" name="Text Placeholder 23">
            <a:extLst>
              <a:ext uri="{FF2B5EF4-FFF2-40B4-BE49-F238E27FC236}">
                <a16:creationId xmlns:a16="http://schemas.microsoft.com/office/drawing/2014/main" id="{D133B315-FB64-194A-87A0-429B84B99B3C}"/>
              </a:ext>
            </a:extLst>
          </p:cNvPr>
          <p:cNvSpPr>
            <a:spLocks noGrp="1"/>
          </p:cNvSpPr>
          <p:nvPr>
            <p:ph type="body" sz="quarter" idx="34" hasCustomPrompt="1"/>
          </p:nvPr>
        </p:nvSpPr>
        <p:spPr>
          <a:xfrm>
            <a:off x="738765" y="4406716"/>
            <a:ext cx="321274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11" name="Text Placeholder 23">
            <a:extLst>
              <a:ext uri="{FF2B5EF4-FFF2-40B4-BE49-F238E27FC236}">
                <a16:creationId xmlns:a16="http://schemas.microsoft.com/office/drawing/2014/main" id="{B078373A-3B9F-DB44-BBFF-036E9257E0F6}"/>
              </a:ext>
            </a:extLst>
          </p:cNvPr>
          <p:cNvSpPr>
            <a:spLocks noGrp="1"/>
          </p:cNvSpPr>
          <p:nvPr>
            <p:ph type="body" sz="quarter" idx="31" hasCustomPrompt="1"/>
          </p:nvPr>
        </p:nvSpPr>
        <p:spPr>
          <a:xfrm>
            <a:off x="738765" y="887157"/>
            <a:ext cx="321274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 name="Title 1">
            <a:extLst>
              <a:ext uri="{FF2B5EF4-FFF2-40B4-BE49-F238E27FC236}">
                <a16:creationId xmlns:a16="http://schemas.microsoft.com/office/drawing/2014/main" id="{2F193039-BF81-F4D1-2A15-937C5E3F83AF}"/>
              </a:ext>
            </a:extLst>
          </p:cNvPr>
          <p:cNvSpPr>
            <a:spLocks noGrp="1"/>
          </p:cNvSpPr>
          <p:nvPr>
            <p:ph type="title" hasCustomPrompt="1"/>
          </p:nvPr>
        </p:nvSpPr>
        <p:spPr>
          <a:xfrm>
            <a:off x="744838" y="1573760"/>
            <a:ext cx="3212747" cy="2685089"/>
          </a:xfrm>
        </p:spPr>
        <p:txBody>
          <a:bodyPr anchor="t"/>
          <a:lstStyle/>
          <a:p>
            <a:r>
              <a:rPr lang="en-US"/>
              <a:t>Statement that should be 10 words or less</a:t>
            </a:r>
          </a:p>
        </p:txBody>
      </p:sp>
    </p:spTree>
    <p:extLst>
      <p:ext uri="{BB962C8B-B14F-4D97-AF65-F5344CB8AC3E}">
        <p14:creationId xmlns:p14="http://schemas.microsoft.com/office/powerpoint/2010/main" val="16621652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Browser + two statements">
    <p:bg>
      <p:bgPr>
        <a:solidFill>
          <a:srgbClr val="000000"/>
        </a:solidFill>
        <a:effectLst/>
      </p:bgPr>
    </p:b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C2C150FA-A4CA-8395-791F-9D0E796D9E12}"/>
              </a:ext>
            </a:extLst>
          </p:cNvPr>
          <p:cNvSpPr>
            <a:spLocks noGrp="1"/>
          </p:cNvSpPr>
          <p:nvPr>
            <p:ph type="pic" sz="quarter" idx="40" hasCustomPrompt="1"/>
          </p:nvPr>
        </p:nvSpPr>
        <p:spPr>
          <a:xfrm>
            <a:off x="6634753" y="966034"/>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10" name="Picture 7">
            <a:extLst>
              <a:ext uri="{FF2B5EF4-FFF2-40B4-BE49-F238E27FC236}">
                <a16:creationId xmlns:a16="http://schemas.microsoft.com/office/drawing/2014/main" id="{FF359A12-80F5-3CE1-0CBE-00661609E87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634753" y="492220"/>
            <a:ext cx="8588275" cy="478511"/>
          </a:xfrm>
          <a:prstGeom prst="rect">
            <a:avLst/>
          </a:prstGeom>
        </p:spPr>
      </p:pic>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5378032"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than 10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422499"/>
            <a:ext cx="2511761"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624652" y="4422499"/>
            <a:ext cx="2511762"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624653"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62465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0" y="574423"/>
            <a:ext cx="53780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104179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hank you ">
    <p:bg>
      <p:bgPr>
        <a:solidFill>
          <a:srgbClr val="000000"/>
        </a:solidFill>
        <a:effectLst/>
      </p:bgPr>
    </p:bg>
    <p:spTree>
      <p:nvGrpSpPr>
        <p:cNvPr id="1" name=""/>
        <p:cNvGrpSpPr/>
        <p:nvPr/>
      </p:nvGrpSpPr>
      <p:grpSpPr>
        <a:xfrm>
          <a:off x="0" y="0"/>
          <a:ext cx="0" cy="0"/>
          <a:chOff x="0" y="0"/>
          <a:chExt cx="0" cy="0"/>
        </a:xfrm>
      </p:grpSpPr>
      <p:pic>
        <p:nvPicPr>
          <p:cNvPr id="3" name="Picture 2" descr="A blue and white gradient&#10;&#10;AI-generated content may be incorrect.">
            <a:extLst>
              <a:ext uri="{FF2B5EF4-FFF2-40B4-BE49-F238E27FC236}">
                <a16:creationId xmlns:a16="http://schemas.microsoft.com/office/drawing/2014/main" id="{B1434823-A993-4891-D507-11A7222B1F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descr="A blue rectangle in a black background&#10;&#10;AI-generated content may be incorrect.">
            <a:extLst>
              <a:ext uri="{FF2B5EF4-FFF2-40B4-BE49-F238E27FC236}">
                <a16:creationId xmlns:a16="http://schemas.microsoft.com/office/drawing/2014/main" id="{958AAFC2-54C0-8004-C214-941FE32D11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640412" y="1820590"/>
            <a:ext cx="2884729" cy="8298180"/>
          </a:xfrm>
          <a:prstGeom prst="rect">
            <a:avLst/>
          </a:prstGeom>
        </p:spPr>
      </p:pic>
      <p:sp>
        <p:nvSpPr>
          <p:cNvPr id="31" name="TextBox 30">
            <a:extLst>
              <a:ext uri="{FF2B5EF4-FFF2-40B4-BE49-F238E27FC236}">
                <a16:creationId xmlns:a16="http://schemas.microsoft.com/office/drawing/2014/main" id="{0C840639-8979-42F9-CF5B-5F471C757C54}"/>
              </a:ext>
            </a:extLst>
          </p:cNvPr>
          <p:cNvSpPr txBox="1"/>
          <p:nvPr userDrawn="1"/>
        </p:nvSpPr>
        <p:spPr>
          <a:xfrm>
            <a:off x="4358263" y="2321003"/>
            <a:ext cx="6535406" cy="2215991"/>
          </a:xfrm>
          <a:prstGeom prst="rect">
            <a:avLst/>
          </a:prstGeom>
          <a:noFill/>
        </p:spPr>
        <p:txBody>
          <a:bodyPr wrap="square" rtlCol="0" anchor="ctr">
            <a:spAutoFit/>
          </a:bodyPr>
          <a:lstStyle/>
          <a:p>
            <a:pPr algn="l"/>
            <a:r>
              <a:rPr lang="en-US" sz="9000" b="1" i="0" spc="-150" dirty="0">
                <a:solidFill>
                  <a:schemeClr val="bg1"/>
                </a:solidFill>
                <a:latin typeface="Aptos" pitchFamily="2" charset="77"/>
              </a:rPr>
              <a:t>Thank you</a:t>
            </a:r>
          </a:p>
          <a:p>
            <a:pPr algn="l"/>
            <a:r>
              <a:rPr lang="en-US" sz="4800" b="1" i="0" spc="-150" dirty="0">
                <a:solidFill>
                  <a:schemeClr val="bg1"/>
                </a:solidFill>
                <a:latin typeface="Aptos" pitchFamily="2" charset="77"/>
              </a:rPr>
              <a:t>gh.io/copilot</a:t>
            </a:r>
          </a:p>
        </p:txBody>
      </p:sp>
    </p:spTree>
    <p:extLst>
      <p:ext uri="{BB962C8B-B14F-4D97-AF65-F5344CB8AC3E}">
        <p14:creationId xmlns:p14="http://schemas.microsoft.com/office/powerpoint/2010/main" val="22180129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 Roadmap slide_3 features">
    <p:bg>
      <p:bgPr>
        <a:solidFill>
          <a:schemeClr val="bg1"/>
        </a:solidFill>
        <a:effectLst/>
      </p:bgPr>
    </p:bg>
    <p:spTree>
      <p:nvGrpSpPr>
        <p:cNvPr id="1" name=""/>
        <p:cNvGrpSpPr/>
        <p:nvPr/>
      </p:nvGrpSpPr>
      <p:grpSpPr>
        <a:xfrm>
          <a:off x="0" y="0"/>
          <a:ext cx="0" cy="0"/>
          <a:chOff x="0" y="0"/>
          <a:chExt cx="0" cy="0"/>
        </a:xfrm>
      </p:grpSpPr>
      <p:sp>
        <p:nvSpPr>
          <p:cNvPr id="11" name="Text Placeholder 23">
            <a:extLst>
              <a:ext uri="{FF2B5EF4-FFF2-40B4-BE49-F238E27FC236}">
                <a16:creationId xmlns:a16="http://schemas.microsoft.com/office/drawing/2014/main" id="{871B12BF-714D-4148-7DAF-F5F3A003A937}"/>
              </a:ext>
            </a:extLst>
          </p:cNvPr>
          <p:cNvSpPr>
            <a:spLocks noGrp="1"/>
          </p:cNvSpPr>
          <p:nvPr>
            <p:ph type="body" sz="quarter" idx="26" hasCustomPrompt="1"/>
          </p:nvPr>
        </p:nvSpPr>
        <p:spPr>
          <a:xfrm>
            <a:off x="1017916" y="4300494"/>
            <a:ext cx="3239551" cy="457200"/>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2" name="Text Placeholder 23">
            <a:extLst>
              <a:ext uri="{FF2B5EF4-FFF2-40B4-BE49-F238E27FC236}">
                <a16:creationId xmlns:a16="http://schemas.microsoft.com/office/drawing/2014/main" id="{61F04878-5E01-B6D4-0083-C00A353CCE73}"/>
              </a:ext>
            </a:extLst>
          </p:cNvPr>
          <p:cNvSpPr>
            <a:spLocks noGrp="1"/>
          </p:cNvSpPr>
          <p:nvPr>
            <p:ph type="body" sz="quarter" idx="27" hasCustomPrompt="1"/>
          </p:nvPr>
        </p:nvSpPr>
        <p:spPr>
          <a:xfrm>
            <a:off x="1017917" y="4775443"/>
            <a:ext cx="3239550" cy="1598980"/>
          </a:xfrm>
          <a:prstGeom prst="rect">
            <a:avLst/>
          </a:prstGeo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3" name="Text Placeholder 23">
            <a:extLst>
              <a:ext uri="{FF2B5EF4-FFF2-40B4-BE49-F238E27FC236}">
                <a16:creationId xmlns:a16="http://schemas.microsoft.com/office/drawing/2014/main" id="{9B274079-B7C8-86A7-F089-E3FEB120327B}"/>
              </a:ext>
            </a:extLst>
          </p:cNvPr>
          <p:cNvSpPr>
            <a:spLocks noGrp="1"/>
          </p:cNvSpPr>
          <p:nvPr>
            <p:ph type="body" sz="quarter" idx="32" hasCustomPrompt="1"/>
          </p:nvPr>
        </p:nvSpPr>
        <p:spPr>
          <a:xfrm>
            <a:off x="4472518" y="4300494"/>
            <a:ext cx="3239551" cy="457200"/>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4" name="Text Placeholder 23">
            <a:extLst>
              <a:ext uri="{FF2B5EF4-FFF2-40B4-BE49-F238E27FC236}">
                <a16:creationId xmlns:a16="http://schemas.microsoft.com/office/drawing/2014/main" id="{6D7792B5-B94C-2AB1-FA51-FFF827B09E02}"/>
              </a:ext>
            </a:extLst>
          </p:cNvPr>
          <p:cNvSpPr>
            <a:spLocks noGrp="1"/>
          </p:cNvSpPr>
          <p:nvPr>
            <p:ph type="body" sz="quarter" idx="33" hasCustomPrompt="1"/>
          </p:nvPr>
        </p:nvSpPr>
        <p:spPr>
          <a:xfrm>
            <a:off x="4472518" y="4775443"/>
            <a:ext cx="3239550" cy="1598980"/>
          </a:xfrm>
          <a:prstGeom prst="rect">
            <a:avLst/>
          </a:prstGeo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5" name="Text Placeholder 23">
            <a:extLst>
              <a:ext uri="{FF2B5EF4-FFF2-40B4-BE49-F238E27FC236}">
                <a16:creationId xmlns:a16="http://schemas.microsoft.com/office/drawing/2014/main" id="{2059E041-6E65-3F99-66D2-766588FBA9FF}"/>
              </a:ext>
            </a:extLst>
          </p:cNvPr>
          <p:cNvSpPr>
            <a:spLocks noGrp="1"/>
          </p:cNvSpPr>
          <p:nvPr>
            <p:ph type="body" sz="quarter" idx="35" hasCustomPrompt="1"/>
          </p:nvPr>
        </p:nvSpPr>
        <p:spPr>
          <a:xfrm>
            <a:off x="7944664" y="4300494"/>
            <a:ext cx="3239551" cy="457200"/>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6" name="Text Placeholder 23">
            <a:extLst>
              <a:ext uri="{FF2B5EF4-FFF2-40B4-BE49-F238E27FC236}">
                <a16:creationId xmlns:a16="http://schemas.microsoft.com/office/drawing/2014/main" id="{837F7DAF-96CF-662B-1035-EDCFA0244D3A}"/>
              </a:ext>
            </a:extLst>
          </p:cNvPr>
          <p:cNvSpPr>
            <a:spLocks noGrp="1"/>
          </p:cNvSpPr>
          <p:nvPr>
            <p:ph type="body" sz="quarter" idx="36" hasCustomPrompt="1"/>
          </p:nvPr>
        </p:nvSpPr>
        <p:spPr>
          <a:xfrm>
            <a:off x="7944665" y="4775443"/>
            <a:ext cx="3239550" cy="1598980"/>
          </a:xfrm>
          <a:prstGeom prst="rect">
            <a:avLst/>
          </a:prstGeo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5" name="Picture Placeholder 17">
            <a:extLst>
              <a:ext uri="{FF2B5EF4-FFF2-40B4-BE49-F238E27FC236}">
                <a16:creationId xmlns:a16="http://schemas.microsoft.com/office/drawing/2014/main" id="{44CAA73D-69E8-20EE-1253-A4EA858AD4E1}"/>
              </a:ext>
            </a:extLst>
          </p:cNvPr>
          <p:cNvSpPr>
            <a:spLocks noGrp="1"/>
          </p:cNvSpPr>
          <p:nvPr>
            <p:ph type="pic" sz="quarter" idx="40" hasCustomPrompt="1"/>
          </p:nvPr>
        </p:nvSpPr>
        <p:spPr>
          <a:xfrm>
            <a:off x="980132" y="1135025"/>
            <a:ext cx="3314895" cy="3002308"/>
          </a:xfrm>
          <a:prstGeom prst="roundRect">
            <a:avLst>
              <a:gd name="adj" fmla="val 2850"/>
            </a:avLst>
          </a:prstGeom>
          <a:noFill/>
          <a:ln>
            <a:noFill/>
          </a:ln>
          <a:effectLst/>
        </p:spPr>
        <p:txBody>
          <a:bodyPr anchor="ctr"/>
          <a:lstStyle>
            <a:lvl1pPr algn="ctr">
              <a:defRPr sz="1200">
                <a:latin typeface="Aptos" pitchFamily="2" charset="77"/>
              </a:defRPr>
            </a:lvl1pPr>
          </a:lstStyle>
          <a:p>
            <a:r>
              <a:rPr lang="en-US"/>
              <a:t>Click to add an image – use a </a:t>
            </a:r>
            <a:r>
              <a:rPr lang="en-US" err="1"/>
              <a:t>png</a:t>
            </a:r>
            <a:r>
              <a:rPr lang="en-US"/>
              <a:t> so you can layer on top of this graphic</a:t>
            </a:r>
          </a:p>
        </p:txBody>
      </p:sp>
      <p:sp>
        <p:nvSpPr>
          <p:cNvPr id="8" name="Picture Placeholder 17">
            <a:extLst>
              <a:ext uri="{FF2B5EF4-FFF2-40B4-BE49-F238E27FC236}">
                <a16:creationId xmlns:a16="http://schemas.microsoft.com/office/drawing/2014/main" id="{B248AE0C-D961-9BC1-2FAF-22F2EBB4C496}"/>
              </a:ext>
            </a:extLst>
          </p:cNvPr>
          <p:cNvSpPr>
            <a:spLocks noGrp="1"/>
          </p:cNvSpPr>
          <p:nvPr>
            <p:ph type="pic" sz="quarter" idx="41" hasCustomPrompt="1"/>
          </p:nvPr>
        </p:nvSpPr>
        <p:spPr>
          <a:xfrm>
            <a:off x="4447546" y="1135025"/>
            <a:ext cx="3310911" cy="3002308"/>
          </a:xfrm>
          <a:prstGeom prst="roundRect">
            <a:avLst>
              <a:gd name="adj" fmla="val 2850"/>
            </a:avLst>
          </a:prstGeom>
          <a:noFill/>
          <a:ln>
            <a:noFill/>
          </a:ln>
          <a:effectLst/>
        </p:spPr>
        <p:txBody>
          <a:bodyPr anchor="ctr"/>
          <a:lstStyle>
            <a:lvl1pPr algn="ctr">
              <a:defRPr sz="1200">
                <a:latin typeface="Aptos" pitchFamily="2" charset="77"/>
              </a:defRPr>
            </a:lvl1pPr>
          </a:lstStyle>
          <a:p>
            <a:r>
              <a:rPr lang="en-US"/>
              <a:t>Click to add an image – use a </a:t>
            </a:r>
            <a:r>
              <a:rPr lang="en-US" err="1"/>
              <a:t>png</a:t>
            </a:r>
            <a:r>
              <a:rPr lang="en-US"/>
              <a:t> so you can layer on top of this graphic</a:t>
            </a:r>
          </a:p>
        </p:txBody>
      </p:sp>
      <p:sp>
        <p:nvSpPr>
          <p:cNvPr id="19" name="Picture Placeholder 17">
            <a:extLst>
              <a:ext uri="{FF2B5EF4-FFF2-40B4-BE49-F238E27FC236}">
                <a16:creationId xmlns:a16="http://schemas.microsoft.com/office/drawing/2014/main" id="{5540DB94-0D2A-2D7C-3D1D-7A92B354C03C}"/>
              </a:ext>
            </a:extLst>
          </p:cNvPr>
          <p:cNvSpPr>
            <a:spLocks noGrp="1"/>
          </p:cNvSpPr>
          <p:nvPr>
            <p:ph type="pic" sz="quarter" idx="38" hasCustomPrompt="1"/>
          </p:nvPr>
        </p:nvSpPr>
        <p:spPr>
          <a:xfrm>
            <a:off x="7928613" y="1135025"/>
            <a:ext cx="3255602" cy="3002308"/>
          </a:xfrm>
          <a:prstGeom prst="roundRect">
            <a:avLst>
              <a:gd name="adj" fmla="val 2850"/>
            </a:avLst>
          </a:prstGeom>
          <a:noFill/>
          <a:ln>
            <a:noFill/>
          </a:ln>
          <a:effectLst/>
        </p:spPr>
        <p:txBody>
          <a:bodyPr anchor="ctr"/>
          <a:lstStyle>
            <a:lvl1pPr algn="ctr">
              <a:defRPr sz="1200">
                <a:latin typeface="Aptos" pitchFamily="2" charset="77"/>
              </a:defRPr>
            </a:lvl1pPr>
          </a:lstStyle>
          <a:p>
            <a:r>
              <a:rPr lang="en-US"/>
              <a:t>Click to add an image – use a </a:t>
            </a:r>
            <a:r>
              <a:rPr lang="en-US" err="1"/>
              <a:t>png</a:t>
            </a:r>
            <a:r>
              <a:rPr lang="en-US"/>
              <a:t> so you can layer on top of this graphic</a:t>
            </a:r>
          </a:p>
        </p:txBody>
      </p:sp>
    </p:spTree>
    <p:extLst>
      <p:ext uri="{BB962C8B-B14F-4D97-AF65-F5344CB8AC3E}">
        <p14:creationId xmlns:p14="http://schemas.microsoft.com/office/powerpoint/2010/main" val="35651173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Roadmap slide_2 features">
    <p:bg>
      <p:bgPr>
        <a:solidFill>
          <a:schemeClr val="bg1"/>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B5E75503-9EBC-8731-E089-ADAEDA5FC9F3}"/>
              </a:ext>
            </a:extLst>
          </p:cNvPr>
          <p:cNvSpPr>
            <a:spLocks noGrp="1"/>
          </p:cNvSpPr>
          <p:nvPr>
            <p:ph type="body" sz="quarter" idx="30" hasCustomPrompt="1"/>
          </p:nvPr>
        </p:nvSpPr>
        <p:spPr>
          <a:xfrm>
            <a:off x="813150" y="1875532"/>
            <a:ext cx="3255601" cy="3953765"/>
          </a:xfrm>
          <a:prstGeom prst="rect">
            <a:avLst/>
          </a:prstGeom>
        </p:spPr>
        <p:txBody>
          <a:bodyPr anchor="t" anchorCtr="0">
            <a:noAutofit/>
          </a:bodyPr>
          <a:lstStyle>
            <a:lvl1pPr marL="0" indent="0" algn="l">
              <a:lnSpc>
                <a:spcPct val="80000"/>
              </a:lnSpc>
              <a:buNone/>
              <a:defRPr sz="36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Title that should be 10 words or less</a:t>
            </a:r>
          </a:p>
        </p:txBody>
      </p:sp>
      <p:sp>
        <p:nvSpPr>
          <p:cNvPr id="10" name="Text Placeholder 23">
            <a:extLst>
              <a:ext uri="{FF2B5EF4-FFF2-40B4-BE49-F238E27FC236}">
                <a16:creationId xmlns:a16="http://schemas.microsoft.com/office/drawing/2014/main" id="{A92CA3AF-B2EB-3185-F18B-A668DC3EAA86}"/>
              </a:ext>
            </a:extLst>
          </p:cNvPr>
          <p:cNvSpPr>
            <a:spLocks noGrp="1"/>
          </p:cNvSpPr>
          <p:nvPr>
            <p:ph type="body" sz="quarter" idx="31" hasCustomPrompt="1"/>
          </p:nvPr>
        </p:nvSpPr>
        <p:spPr>
          <a:xfrm>
            <a:off x="813150" y="1299227"/>
            <a:ext cx="3255602" cy="442635"/>
          </a:xfrm>
          <a:prstGeom prst="rect">
            <a:avLst/>
          </a:prstGeom>
        </p:spPr>
        <p:txBody>
          <a:bodyPr anchor="b" anchorCtr="0">
            <a:noAutofit/>
          </a:bodyPr>
          <a:lstStyle>
            <a:lvl1pPr marL="0" indent="0" algn="l">
              <a:buNone/>
              <a:defRPr sz="1600" b="0" i="0">
                <a:solidFill>
                  <a:schemeClr val="tx1">
                    <a:alpha val="70000"/>
                  </a:schemeClr>
                </a:solidFill>
                <a:latin typeface="SF Mono" panose="020B0009000002000000" pitchFamily="49"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3" name="Text Placeholder 23">
            <a:extLst>
              <a:ext uri="{FF2B5EF4-FFF2-40B4-BE49-F238E27FC236}">
                <a16:creationId xmlns:a16="http://schemas.microsoft.com/office/drawing/2014/main" id="{9B274079-B7C8-86A7-F089-E3FEB120327B}"/>
              </a:ext>
            </a:extLst>
          </p:cNvPr>
          <p:cNvSpPr>
            <a:spLocks noGrp="1"/>
          </p:cNvSpPr>
          <p:nvPr>
            <p:ph type="body" sz="quarter" idx="32" hasCustomPrompt="1"/>
          </p:nvPr>
        </p:nvSpPr>
        <p:spPr>
          <a:xfrm>
            <a:off x="4678035" y="4753925"/>
            <a:ext cx="3239551" cy="457200"/>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14" name="Text Placeholder 23">
            <a:extLst>
              <a:ext uri="{FF2B5EF4-FFF2-40B4-BE49-F238E27FC236}">
                <a16:creationId xmlns:a16="http://schemas.microsoft.com/office/drawing/2014/main" id="{6D7792B5-B94C-2AB1-FA51-FFF827B09E02}"/>
              </a:ext>
            </a:extLst>
          </p:cNvPr>
          <p:cNvSpPr>
            <a:spLocks noGrp="1"/>
          </p:cNvSpPr>
          <p:nvPr>
            <p:ph type="body" sz="quarter" idx="33" hasCustomPrompt="1"/>
          </p:nvPr>
        </p:nvSpPr>
        <p:spPr>
          <a:xfrm>
            <a:off x="4678036" y="5261532"/>
            <a:ext cx="3239550" cy="600424"/>
          </a:xfrm>
          <a:prstGeom prst="rect">
            <a:avLst/>
          </a:prstGeo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5" name="Text Placeholder 23">
            <a:extLst>
              <a:ext uri="{FF2B5EF4-FFF2-40B4-BE49-F238E27FC236}">
                <a16:creationId xmlns:a16="http://schemas.microsoft.com/office/drawing/2014/main" id="{2059E041-6E65-3F99-66D2-766588FBA9FF}"/>
              </a:ext>
            </a:extLst>
          </p:cNvPr>
          <p:cNvSpPr>
            <a:spLocks noGrp="1"/>
          </p:cNvSpPr>
          <p:nvPr>
            <p:ph type="body" sz="quarter" idx="35" hasCustomPrompt="1"/>
          </p:nvPr>
        </p:nvSpPr>
        <p:spPr>
          <a:xfrm>
            <a:off x="8140606" y="4753925"/>
            <a:ext cx="3239551" cy="457200"/>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16" name="Text Placeholder 23">
            <a:extLst>
              <a:ext uri="{FF2B5EF4-FFF2-40B4-BE49-F238E27FC236}">
                <a16:creationId xmlns:a16="http://schemas.microsoft.com/office/drawing/2014/main" id="{837F7DAF-96CF-662B-1035-EDCFA0244D3A}"/>
              </a:ext>
            </a:extLst>
          </p:cNvPr>
          <p:cNvSpPr>
            <a:spLocks noGrp="1"/>
          </p:cNvSpPr>
          <p:nvPr>
            <p:ph type="body" sz="quarter" idx="36" hasCustomPrompt="1"/>
          </p:nvPr>
        </p:nvSpPr>
        <p:spPr>
          <a:xfrm>
            <a:off x="8140607" y="5261532"/>
            <a:ext cx="3239550" cy="600424"/>
          </a:xfrm>
          <a:prstGeom prst="rect">
            <a:avLst/>
          </a:prstGeo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4" name="Picture Placeholder 17">
            <a:extLst>
              <a:ext uri="{FF2B5EF4-FFF2-40B4-BE49-F238E27FC236}">
                <a16:creationId xmlns:a16="http://schemas.microsoft.com/office/drawing/2014/main" id="{AE72DC64-3427-AFC6-843B-C22989B5E75E}"/>
              </a:ext>
            </a:extLst>
          </p:cNvPr>
          <p:cNvSpPr>
            <a:spLocks noGrp="1"/>
          </p:cNvSpPr>
          <p:nvPr>
            <p:ph type="pic" sz="quarter" idx="39" hasCustomPrompt="1"/>
          </p:nvPr>
        </p:nvSpPr>
        <p:spPr>
          <a:xfrm>
            <a:off x="4656917" y="1276146"/>
            <a:ext cx="3255602" cy="3002308"/>
          </a:xfrm>
          <a:prstGeom prst="roundRect">
            <a:avLst>
              <a:gd name="adj" fmla="val 2850"/>
            </a:avLst>
          </a:prstGeom>
          <a:noFill/>
          <a:ln>
            <a:noFill/>
          </a:ln>
          <a:effectLst/>
        </p:spPr>
        <p:txBody>
          <a:bodyPr anchor="ctr"/>
          <a:lstStyle>
            <a:lvl1pPr algn="ctr">
              <a:defRPr sz="1200">
                <a:latin typeface="Aptos" pitchFamily="2" charset="77"/>
              </a:defRPr>
            </a:lvl1pPr>
          </a:lstStyle>
          <a:p>
            <a:r>
              <a:rPr lang="en-US"/>
              <a:t>Click to add </a:t>
            </a:r>
            <a:br>
              <a:rPr lang="en-US"/>
            </a:br>
            <a:r>
              <a:rPr lang="en-US" err="1"/>
              <a:t>png</a:t>
            </a:r>
            <a:r>
              <a:rPr lang="en-US"/>
              <a:t> screenshot of UI</a:t>
            </a:r>
          </a:p>
        </p:txBody>
      </p:sp>
      <p:sp>
        <p:nvSpPr>
          <p:cNvPr id="20" name="Text Placeholder 23">
            <a:extLst>
              <a:ext uri="{FF2B5EF4-FFF2-40B4-BE49-F238E27FC236}">
                <a16:creationId xmlns:a16="http://schemas.microsoft.com/office/drawing/2014/main" id="{8A38638D-9B3C-6593-76D6-29FA91061726}"/>
              </a:ext>
            </a:extLst>
          </p:cNvPr>
          <p:cNvSpPr>
            <a:spLocks noGrp="1"/>
          </p:cNvSpPr>
          <p:nvPr>
            <p:ph type="body" sz="quarter" idx="42" hasCustomPrompt="1"/>
          </p:nvPr>
        </p:nvSpPr>
        <p:spPr>
          <a:xfrm>
            <a:off x="4680192" y="4507640"/>
            <a:ext cx="3239550" cy="228536"/>
          </a:xfrm>
          <a:prstGeom prst="rect">
            <a:avLst/>
          </a:prstGeom>
        </p:spPr>
        <p:txBody>
          <a:bodyPr anchor="ctr" anchorCtr="0">
            <a:noAutofit/>
          </a:bodyPr>
          <a:lstStyle>
            <a:lvl1pPr marL="0" indent="0" algn="l">
              <a:buNone/>
              <a:defRPr sz="1200" b="0" i="0">
                <a:solidFill>
                  <a:schemeClr val="tx1">
                    <a:alpha val="70000"/>
                  </a:schemeClr>
                </a:solidFill>
                <a:latin typeface="SF Mono" panose="020B0009000002000000" pitchFamily="49"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1" name="Text Placeholder 23">
            <a:extLst>
              <a:ext uri="{FF2B5EF4-FFF2-40B4-BE49-F238E27FC236}">
                <a16:creationId xmlns:a16="http://schemas.microsoft.com/office/drawing/2014/main" id="{2AA4DFF5-3DCC-0AF3-08D1-A16434564AF5}"/>
              </a:ext>
            </a:extLst>
          </p:cNvPr>
          <p:cNvSpPr>
            <a:spLocks noGrp="1"/>
          </p:cNvSpPr>
          <p:nvPr>
            <p:ph type="body" sz="quarter" idx="43" hasCustomPrompt="1"/>
          </p:nvPr>
        </p:nvSpPr>
        <p:spPr>
          <a:xfrm>
            <a:off x="8123250" y="4507640"/>
            <a:ext cx="3239550" cy="228536"/>
          </a:xfrm>
          <a:prstGeom prst="rect">
            <a:avLst/>
          </a:prstGeom>
        </p:spPr>
        <p:txBody>
          <a:bodyPr anchor="ctr" anchorCtr="0">
            <a:noAutofit/>
          </a:bodyPr>
          <a:lstStyle>
            <a:lvl1pPr marL="0" indent="0" algn="l">
              <a:buNone/>
              <a:defRPr sz="1200" b="0" i="0">
                <a:solidFill>
                  <a:schemeClr val="tx1">
                    <a:alpha val="70000"/>
                  </a:schemeClr>
                </a:solidFill>
                <a:latin typeface="SF Mono" panose="020B0009000002000000" pitchFamily="49"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6" name="Picture Placeholder 17">
            <a:extLst>
              <a:ext uri="{FF2B5EF4-FFF2-40B4-BE49-F238E27FC236}">
                <a16:creationId xmlns:a16="http://schemas.microsoft.com/office/drawing/2014/main" id="{E6737012-9800-0DEA-F0D7-EF0E1153D167}"/>
              </a:ext>
            </a:extLst>
          </p:cNvPr>
          <p:cNvSpPr>
            <a:spLocks noGrp="1"/>
          </p:cNvSpPr>
          <p:nvPr>
            <p:ph type="pic" sz="quarter" idx="38" hasCustomPrompt="1"/>
          </p:nvPr>
        </p:nvSpPr>
        <p:spPr>
          <a:xfrm>
            <a:off x="8123250" y="1276146"/>
            <a:ext cx="3255602" cy="3002307"/>
          </a:xfrm>
          <a:prstGeom prst="roundRect">
            <a:avLst>
              <a:gd name="adj" fmla="val 2850"/>
            </a:avLst>
          </a:prstGeom>
          <a:noFill/>
          <a:ln>
            <a:noFill/>
          </a:ln>
          <a:effectLst/>
        </p:spPr>
        <p:txBody>
          <a:bodyPr anchor="ctr"/>
          <a:lstStyle>
            <a:lvl1pPr algn="ctr">
              <a:defRPr sz="1200">
                <a:latin typeface="Aptos" pitchFamily="2" charset="77"/>
              </a:defRPr>
            </a:lvl1pPr>
          </a:lstStyle>
          <a:p>
            <a:r>
              <a:rPr lang="en-US"/>
              <a:t>Click to add </a:t>
            </a:r>
            <a:br>
              <a:rPr lang="en-US"/>
            </a:br>
            <a:r>
              <a:rPr lang="en-US" err="1"/>
              <a:t>png</a:t>
            </a:r>
            <a:r>
              <a:rPr lang="en-US"/>
              <a:t> screenshot of UI</a:t>
            </a:r>
          </a:p>
        </p:txBody>
      </p:sp>
    </p:spTree>
    <p:extLst>
      <p:ext uri="{BB962C8B-B14F-4D97-AF65-F5344CB8AC3E}">
        <p14:creationId xmlns:p14="http://schemas.microsoft.com/office/powerpoint/2010/main" val="22393957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emo 2">
    <p:bg>
      <p:bgRef idx="1001">
        <a:schemeClr val="bg1"/>
      </p:bgRef>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526614" y="550334"/>
            <a:ext cx="2596138" cy="306109"/>
          </a:xfrm>
          <a:prstGeom prst="rect">
            <a:avLst/>
          </a:prstGeom>
        </p:spPr>
        <p:txBody>
          <a:bodyPr wrap="square">
            <a:spAutoFit/>
          </a:bodyPr>
          <a:lstStyle>
            <a:lvl1pPr marL="0" indent="0" algn="l" defTabSz="457109" rtl="0" eaLnBrk="1" latinLnBrk="0" hangingPunct="1">
              <a:lnSpc>
                <a:spcPts val="1800"/>
              </a:lnSpc>
              <a:buNone/>
              <a:defRPr lang="en-US" sz="1200" b="0" i="0" kern="0" spc="-28" baseline="0" dirty="0">
                <a:solidFill>
                  <a:schemeClr val="tx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indent="0" algn="l">
              <a:lnSpc>
                <a:spcPts val="1800"/>
              </a:lnSpc>
              <a:buNone/>
            </a:pPr>
            <a:r>
              <a:rPr lang="en-US" sz="1400" kern="0" spc="-28">
                <a:solidFill>
                  <a:schemeClr val="bg2"/>
                </a:solidFill>
                <a:latin typeface="Segoe UI Variable Display Semibold" pitchFamily="34" charset="0"/>
                <a:ea typeface="Segoe UI Variable Display Semibold" pitchFamily="34" charset="-122"/>
                <a:cs typeface="Segoe UI Variable Display Semibold" pitchFamily="34" charset="-120"/>
              </a:rPr>
              <a:t>Product name</a:t>
            </a:r>
            <a:endParaRPr lang="en-US" sz="1400">
              <a:solidFill>
                <a:schemeClr val="bg2"/>
              </a:solidFill>
            </a:endParaRP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526614" y="854500"/>
            <a:ext cx="2596138" cy="365806"/>
          </a:xfrm>
          <a:prstGeom prst="rect">
            <a:avLst/>
          </a:prstGeom>
        </p:spPr>
        <p:txBody>
          <a:bodyPr wrap="square">
            <a:spAutoFit/>
          </a:bodyPr>
          <a:lstStyle>
            <a:lvl1pPr marL="0" indent="0" algn="l" defTabSz="457109" rtl="0" eaLnBrk="1" latinLnBrk="0" hangingPunct="1">
              <a:lnSpc>
                <a:spcPts val="2200"/>
              </a:lnSpc>
              <a:buNone/>
              <a:defRPr lang="en-US" sz="1600" b="0" i="0" kern="0" spc="-36" baseline="0" dirty="0" smtClean="0">
                <a:solidFill>
                  <a:schemeClr val="tx1"/>
                </a:solidFill>
                <a:latin typeface="+mn-lt"/>
                <a:ea typeface="Segoe UI Semibold" panose="020B0702040204020203" pitchFamily="34" charset="0"/>
                <a:cs typeface="Segoe UI Semibold" panose="020B0702040204020203" pitchFamily="34" charset="0"/>
              </a:defRPr>
            </a:lvl1pPr>
          </a:lstStyle>
          <a:p>
            <a:pPr marL="0" indent="0" algn="l">
              <a:lnSpc>
                <a:spcPts val="2200"/>
              </a:lnSpc>
              <a:buNone/>
            </a:pPr>
            <a:r>
              <a:rPr lang="en-US" sz="1800" kern="0" spc="-36">
                <a:solidFill>
                  <a:schemeClr val="bg1"/>
                </a:solidFill>
                <a:latin typeface="Segoe UI Variable Display Semibold" pitchFamily="34" charset="0"/>
                <a:ea typeface="Segoe UI Variable Display Semibold" pitchFamily="34" charset="-122"/>
                <a:cs typeface="Segoe UI Variable Display Semibold" pitchFamily="34" charset="-120"/>
              </a:rPr>
              <a:t>Demo title</a:t>
            </a:r>
            <a:endParaRPr lang="en-US" sz="1800">
              <a:solidFill>
                <a:schemeClr val="bg1"/>
              </a:solidFill>
            </a:endParaRPr>
          </a:p>
        </p:txBody>
      </p:sp>
    </p:spTree>
    <p:extLst>
      <p:ext uri="{BB962C8B-B14F-4D97-AF65-F5344CB8AC3E}">
        <p14:creationId xmlns:p14="http://schemas.microsoft.com/office/powerpoint/2010/main" val="177038194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pilot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35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urity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2CE00D18-58A3-619E-6372-329E8F278A4F}"/>
              </a:ext>
            </a:extLst>
          </p:cNvPr>
          <p:cNvSpPr>
            <a:spLocks noGrp="1"/>
          </p:cNvSpPr>
          <p:nvPr>
            <p:ph type="pic" sz="quarter" idx="33"/>
          </p:nvPr>
        </p:nvSpPr>
        <p:spPr>
          <a:xfrm>
            <a:off x="0" y="0"/>
            <a:ext cx="6103938" cy="6858000"/>
          </a:xfrm>
          <a:prstGeom prst="rect">
            <a:avLst/>
          </a:prstGeom>
          <a:solidFill>
            <a:schemeClr val="accent1"/>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85888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6115353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39396869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79134B-F8BD-AF84-FC8F-B01F81F73C15}"/>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Title 1">
            <a:extLst>
              <a:ext uri="{FF2B5EF4-FFF2-40B4-BE49-F238E27FC236}">
                <a16:creationId xmlns:a16="http://schemas.microsoft.com/office/drawing/2014/main" id="{8BBF8ABC-61EB-DB2E-3AFE-76A947CAA49E}"/>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tx1"/>
                </a:solidFill>
                <a:latin typeface="Aptos" pitchFamily="2" charset="77"/>
              </a:defRPr>
            </a:lvl1pPr>
          </a:lstStyle>
          <a:p>
            <a:r>
              <a:rPr lang="en-US" dirty="0"/>
              <a:t>Section title</a:t>
            </a:r>
          </a:p>
        </p:txBody>
      </p:sp>
    </p:spTree>
    <p:extLst>
      <p:ext uri="{BB962C8B-B14F-4D97-AF65-F5344CB8AC3E}">
        <p14:creationId xmlns:p14="http://schemas.microsoft.com/office/powerpoint/2010/main" val="17817598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8EB23-30EC-D9A5-D09F-EBD7B052AF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A7FA7F-82B9-D117-26CB-9657C199A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5878170"/>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80" r:id="rId10"/>
    <p:sldLayoutId id="2147483787" r:id="rId11"/>
    <p:sldLayoutId id="2147483791" r:id="rId12"/>
    <p:sldLayoutId id="2147483793" r:id="rId13"/>
    <p:sldLayoutId id="2147483839" r:id="rId14"/>
    <p:sldLayoutId id="2147483686" r:id="rId15"/>
    <p:sldLayoutId id="2147483764" r:id="rId16"/>
    <p:sldLayoutId id="2147483702" r:id="rId17"/>
    <p:sldLayoutId id="2147483703" r:id="rId18"/>
    <p:sldLayoutId id="2147483704" r:id="rId19"/>
    <p:sldLayoutId id="2147483705" r:id="rId20"/>
    <p:sldLayoutId id="2147483707" r:id="rId21"/>
    <p:sldLayoutId id="2147483708" r:id="rId22"/>
    <p:sldLayoutId id="2147483709" r:id="rId23"/>
    <p:sldLayoutId id="2147483710" r:id="rId24"/>
    <p:sldLayoutId id="2147483713" r:id="rId25"/>
    <p:sldLayoutId id="2147483722" r:id="rId26"/>
    <p:sldLayoutId id="2147483723" r:id="rId27"/>
    <p:sldLayoutId id="2147483739" r:id="rId28"/>
    <p:sldLayoutId id="2147483742" r:id="rId29"/>
    <p:sldLayoutId id="2147483745" r:id="rId30"/>
    <p:sldLayoutId id="2147483753" r:id="rId31"/>
    <p:sldLayoutId id="2147483754" r:id="rId32"/>
    <p:sldLayoutId id="2147483755" r:id="rId33"/>
    <p:sldLayoutId id="2147483756" r:id="rId34"/>
    <p:sldLayoutId id="2147483860" r:id="rId35"/>
    <p:sldLayoutId id="2147483862" r:id="rId36"/>
    <p:sldLayoutId id="2147483863" r:id="rId37"/>
    <p:sldLayoutId id="2147483866" r:id="rId38"/>
    <p:sldLayoutId id="2147483903" r:id="rId39"/>
    <p:sldLayoutId id="2147483904" r:id="rId40"/>
    <p:sldLayoutId id="2147483905" r:id="rId41"/>
    <p:sldLayoutId id="2147483906" r:id="rId42"/>
    <p:sldLayoutId id="2147483907" r:id="rId43"/>
  </p:sldLayoutIdLst>
  <p:txStyles>
    <p:title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6.xml"/><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37.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37.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7.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7.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7.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7.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7.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hyperlink" Target="https://aka.ms/githubcopilotdevdays/sweepstakes" TargetMode="External"/><Relationship Id="rId2" Type="http://schemas.openxmlformats.org/officeDocument/2006/relationships/image" Target="../media/image44.png"/><Relationship Id="rId1" Type="http://schemas.openxmlformats.org/officeDocument/2006/relationships/slideLayout" Target="../slideLayouts/slideLayout14.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E980-03F6-A842-2974-D4AB80531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73F31-E88F-FE41-8DD3-E021FAE838C6}"/>
              </a:ext>
            </a:extLst>
          </p:cNvPr>
          <p:cNvSpPr>
            <a:spLocks noGrp="1"/>
          </p:cNvSpPr>
          <p:nvPr>
            <p:ph type="ctrTitle"/>
          </p:nvPr>
        </p:nvSpPr>
        <p:spPr/>
        <p:txBody>
          <a:bodyPr>
            <a:normAutofit/>
          </a:bodyPr>
          <a:lstStyle/>
          <a:p>
            <a:r>
              <a:rPr lang="en-US" sz="9600" dirty="0">
                <a:latin typeface="Aptos"/>
                <a:ea typeface="Calibri"/>
                <a:cs typeface="Calibri"/>
              </a:rPr>
              <a:t>GitHub Copilot </a:t>
            </a:r>
            <a:br>
              <a:rPr lang="en-US" sz="9600" dirty="0">
                <a:latin typeface="Aptos"/>
                <a:ea typeface="Calibri"/>
                <a:cs typeface="Calibri"/>
              </a:rPr>
            </a:br>
            <a:r>
              <a:rPr lang="en-US" sz="9600" dirty="0">
                <a:latin typeface="Aptos"/>
                <a:ea typeface="Calibri"/>
                <a:cs typeface="Calibri"/>
              </a:rPr>
              <a:t>Dev Days</a:t>
            </a:r>
            <a:br>
              <a:rPr lang="en-US" sz="9600" dirty="0">
                <a:latin typeface="Aptos"/>
                <a:ea typeface="Calibri"/>
                <a:cs typeface="Calibri"/>
              </a:rPr>
            </a:br>
            <a:r>
              <a:rPr lang="en-US" sz="9600" dirty="0">
                <a:solidFill>
                  <a:schemeClr val="tx1"/>
                </a:solidFill>
                <a:latin typeface="Aptos"/>
                <a:ea typeface="Calibri"/>
                <a:cs typeface="Calibri"/>
              </a:rPr>
              <a:t>Hyderabad</a:t>
            </a:r>
            <a:br>
              <a:rPr lang="en-US" sz="9600" dirty="0">
                <a:solidFill>
                  <a:schemeClr val="tx1"/>
                </a:solidFill>
                <a:latin typeface="Aptos"/>
                <a:ea typeface="Calibri"/>
                <a:cs typeface="Calibri"/>
              </a:rPr>
            </a:br>
            <a:r>
              <a:rPr lang="en-US" sz="3000" dirty="0">
                <a:solidFill>
                  <a:schemeClr val="tx1"/>
                </a:solidFill>
                <a:latin typeface="Aptos"/>
                <a:ea typeface="Calibri"/>
                <a:cs typeface="Calibri"/>
              </a:rPr>
              <a:t>April 18</a:t>
            </a:r>
            <a:r>
              <a:rPr lang="en-US" sz="3000" baseline="30000" dirty="0">
                <a:solidFill>
                  <a:schemeClr val="tx1"/>
                </a:solidFill>
                <a:latin typeface="Aptos"/>
                <a:ea typeface="Calibri"/>
                <a:cs typeface="Calibri"/>
              </a:rPr>
              <a:t>th</a:t>
            </a:r>
            <a:r>
              <a:rPr lang="en-US" sz="3000" dirty="0">
                <a:solidFill>
                  <a:schemeClr val="tx1"/>
                </a:solidFill>
                <a:latin typeface="Aptos"/>
                <a:ea typeface="Calibri"/>
                <a:cs typeface="Calibri"/>
              </a:rPr>
              <a:t>, 2026</a:t>
            </a:r>
          </a:p>
        </p:txBody>
      </p:sp>
      <p:sp>
        <p:nvSpPr>
          <p:cNvPr id="3" name="Text Placeholder 2">
            <a:extLst>
              <a:ext uri="{FF2B5EF4-FFF2-40B4-BE49-F238E27FC236}">
                <a16:creationId xmlns:a16="http://schemas.microsoft.com/office/drawing/2014/main" id="{7C234C61-AD51-1141-E543-FC3264283FC6}"/>
              </a:ext>
            </a:extLst>
          </p:cNvPr>
          <p:cNvSpPr>
            <a:spLocks noGrp="1"/>
          </p:cNvSpPr>
          <p:nvPr>
            <p:ph type="body" sz="quarter" idx="25"/>
          </p:nvPr>
        </p:nvSpPr>
        <p:spPr>
          <a:xfrm>
            <a:off x="3704302" y="5696444"/>
            <a:ext cx="2918060" cy="457200"/>
          </a:xfrm>
        </p:spPr>
        <p:txBody>
          <a:bodyPr/>
          <a:lstStyle/>
          <a:p>
            <a:r>
              <a:rPr lang="en-US" dirty="0"/>
              <a:t>Satya K</a:t>
            </a:r>
          </a:p>
        </p:txBody>
      </p:sp>
      <p:sp>
        <p:nvSpPr>
          <p:cNvPr id="4" name="Text Placeholder 3">
            <a:extLst>
              <a:ext uri="{FF2B5EF4-FFF2-40B4-BE49-F238E27FC236}">
                <a16:creationId xmlns:a16="http://schemas.microsoft.com/office/drawing/2014/main" id="{3AEC6A8D-05C0-0E2C-8223-FBF006AFEB2B}"/>
              </a:ext>
            </a:extLst>
          </p:cNvPr>
          <p:cNvSpPr>
            <a:spLocks noGrp="1"/>
          </p:cNvSpPr>
          <p:nvPr>
            <p:ph type="body" sz="quarter" idx="26"/>
          </p:nvPr>
        </p:nvSpPr>
        <p:spPr>
          <a:xfrm>
            <a:off x="3704302" y="6153644"/>
            <a:ext cx="2918060" cy="457200"/>
          </a:xfrm>
        </p:spPr>
        <p:txBody>
          <a:bodyPr/>
          <a:lstStyle/>
          <a:p>
            <a:r>
              <a:rPr lang="en-US" dirty="0"/>
              <a:t>Lead Engineer, Dhan AI</a:t>
            </a:r>
          </a:p>
          <a:p>
            <a:r>
              <a:rPr lang="en-US" dirty="0"/>
              <a:t>@SriSatyaLokesh</a:t>
            </a:r>
          </a:p>
        </p:txBody>
      </p:sp>
      <p:pic>
        <p:nvPicPr>
          <p:cNvPr id="1026" name="Picture 2">
            <a:extLst>
              <a:ext uri="{FF2B5EF4-FFF2-40B4-BE49-F238E27FC236}">
                <a16:creationId xmlns:a16="http://schemas.microsoft.com/office/drawing/2014/main" id="{BCB0F3F9-EC89-7F62-C89C-CEDAC05E5520}"/>
              </a:ext>
            </a:extLst>
          </p:cNvPr>
          <p:cNvPicPr>
            <a:picLocks noGrp="1" noChangeAspect="1" noChangeArrowheads="1"/>
          </p:cNvPicPr>
          <p:nvPr>
            <p:ph type="pic" sz="quarter" idx="41"/>
          </p:nvPr>
        </p:nvPicPr>
        <p:blipFill>
          <a:blip r:embed="rId3" cstate="print">
            <a:extLst>
              <a:ext uri="{28A0092B-C50C-407E-A947-70E740481C1C}">
                <a14:useLocalDpi xmlns:a14="http://schemas.microsoft.com/office/drawing/2010/main" val="0"/>
              </a:ext>
            </a:extLst>
          </a:blip>
          <a:srcRect t="61" b="61"/>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6DA4843-2233-6408-05D8-D5E3C5642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5445" y="3219211"/>
            <a:ext cx="3391633" cy="3391633"/>
          </a:xfrm>
          <a:prstGeom prst="rect">
            <a:avLst/>
          </a:prstGeom>
          <a:noFill/>
          <a:effectLst>
            <a:outerShdw blurRad="63500" sx="102000" sy="102000" algn="ctr" rotWithShape="0">
              <a:schemeClr val="accent1">
                <a:alpha val="68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71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6BE3-942B-7CB8-D0E3-17541BFCB25C}"/>
            </a:ext>
          </a:extLst>
        </p:cNvPr>
        <p:cNvGrpSpPr/>
        <p:nvPr/>
      </p:nvGrpSpPr>
      <p:grpSpPr>
        <a:xfrm>
          <a:off x="0" y="0"/>
          <a:ext cx="0" cy="0"/>
          <a:chOff x="0" y="0"/>
          <a:chExt cx="0" cy="0"/>
        </a:xfrm>
      </p:grpSpPr>
      <p:pic>
        <p:nvPicPr>
          <p:cNvPr id="2050" name="Picture 2" descr="GitHub Copilot Master Guide 2026: The Ultimate AI Coding Handbook">
            <a:extLst>
              <a:ext uri="{FF2B5EF4-FFF2-40B4-BE49-F238E27FC236}">
                <a16:creationId xmlns:a16="http://schemas.microsoft.com/office/drawing/2014/main" id="{D27B8D69-FDED-2EDE-D053-AFCD3FE45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732" y="1038225"/>
            <a:ext cx="10818832" cy="567988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6886647-8658-CB19-152A-346855CC7CC2}"/>
              </a:ext>
            </a:extLst>
          </p:cNvPr>
          <p:cNvSpPr>
            <a:spLocks noGrp="1"/>
          </p:cNvSpPr>
          <p:nvPr>
            <p:ph type="ctrTitle"/>
          </p:nvPr>
        </p:nvSpPr>
        <p:spPr>
          <a:xfrm>
            <a:off x="1450745" y="417572"/>
            <a:ext cx="9358213" cy="3217000"/>
          </a:xfrm>
        </p:spPr>
        <p:txBody>
          <a:bodyPr/>
          <a:lstStyle/>
          <a:p>
            <a:pPr algn="ctr"/>
            <a:r>
              <a:rPr lang="en-US" dirty="0"/>
              <a:t>Customizing GitHub Copilot</a:t>
            </a:r>
          </a:p>
        </p:txBody>
      </p:sp>
    </p:spTree>
    <p:extLst>
      <p:ext uri="{BB962C8B-B14F-4D97-AF65-F5344CB8AC3E}">
        <p14:creationId xmlns:p14="http://schemas.microsoft.com/office/powerpoint/2010/main" val="4119831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FAD9C92-439B-244B-6B48-1696D82E7AC3}"/>
              </a:ext>
            </a:extLst>
          </p:cNvPr>
          <p:cNvSpPr>
            <a:spLocks noGrp="1"/>
          </p:cNvSpPr>
          <p:nvPr>
            <p:ph type="body" sz="quarter" idx="26"/>
          </p:nvPr>
        </p:nvSpPr>
        <p:spPr>
          <a:xfrm>
            <a:off x="1006341" y="3814357"/>
            <a:ext cx="3239551" cy="457200"/>
          </a:xfrm>
        </p:spPr>
        <p:txBody>
          <a:bodyPr/>
          <a:lstStyle/>
          <a:p>
            <a:r>
              <a:rPr lang="en-US">
                <a:latin typeface="Segoe UI Semibold" panose="020B0702040204020203" pitchFamily="34" charset="0"/>
                <a:cs typeface="Segoe UI Semibold" panose="020B0702040204020203" pitchFamily="34" charset="0"/>
              </a:rPr>
              <a:t>Any model for any team</a:t>
            </a:r>
          </a:p>
        </p:txBody>
      </p:sp>
      <p:sp>
        <p:nvSpPr>
          <p:cNvPr id="10" name="Text Placeholder 9">
            <a:extLst>
              <a:ext uri="{FF2B5EF4-FFF2-40B4-BE49-F238E27FC236}">
                <a16:creationId xmlns:a16="http://schemas.microsoft.com/office/drawing/2014/main" id="{03F4316B-128F-BAC5-FA59-570C1EBB268A}"/>
              </a:ext>
            </a:extLst>
          </p:cNvPr>
          <p:cNvSpPr>
            <a:spLocks noGrp="1"/>
          </p:cNvSpPr>
          <p:nvPr>
            <p:ph type="body" sz="quarter" idx="27"/>
          </p:nvPr>
        </p:nvSpPr>
        <p:spPr>
          <a:xfrm>
            <a:off x="1006342" y="4289306"/>
            <a:ext cx="3239550" cy="1598980"/>
          </a:xfrm>
          <a:prstGeom prst="rect">
            <a:avLst/>
          </a:prstGeom>
        </p:spPr>
        <p:txBody>
          <a:bodyPr/>
          <a:lstStyle/>
          <a:p>
            <a:r>
              <a:rPr lang="en-US">
                <a:latin typeface="Segoe UI" panose="020B0502040204020203" pitchFamily="34" charset="0"/>
                <a:cs typeface="Segoe UI" panose="020B0502040204020203" pitchFamily="34" charset="0"/>
              </a:rPr>
              <a:t>Use AI models like Claude Sonnet out of the box, or bring your own key to access models from Azure, Anthropic, Google, </a:t>
            </a:r>
            <a:r>
              <a:rPr lang="en-US" err="1">
                <a:latin typeface="Segoe UI" panose="020B0502040204020203" pitchFamily="34" charset="0"/>
                <a:cs typeface="Segoe UI" panose="020B0502040204020203" pitchFamily="34" charset="0"/>
              </a:rPr>
              <a:t>Ollama</a:t>
            </a:r>
            <a:r>
              <a:rPr lang="en-US">
                <a:latin typeface="Segoe UI" panose="020B0502040204020203" pitchFamily="34" charset="0"/>
                <a:cs typeface="Segoe UI" panose="020B0502040204020203" pitchFamily="34" charset="0"/>
              </a:rPr>
              <a:t>, OpenAI, and </a:t>
            </a:r>
            <a:r>
              <a:rPr lang="en-US" err="1">
                <a:latin typeface="Segoe UI" panose="020B0502040204020203" pitchFamily="34" charset="0"/>
                <a:cs typeface="Segoe UI" panose="020B0502040204020203" pitchFamily="34" charset="0"/>
              </a:rPr>
              <a:t>OpenRouter</a:t>
            </a:r>
            <a:r>
              <a:rPr lang="en-US">
                <a:latin typeface="Segoe UI" panose="020B0502040204020203" pitchFamily="34" charset="0"/>
                <a:cs typeface="Segoe UI" panose="020B0502040204020203" pitchFamily="34" charset="0"/>
              </a:rPr>
              <a:t>.</a:t>
            </a:r>
          </a:p>
        </p:txBody>
      </p:sp>
      <p:sp>
        <p:nvSpPr>
          <p:cNvPr id="20" name="Text Placeholder 19">
            <a:extLst>
              <a:ext uri="{FF2B5EF4-FFF2-40B4-BE49-F238E27FC236}">
                <a16:creationId xmlns:a16="http://schemas.microsoft.com/office/drawing/2014/main" id="{B8CC94F9-98AE-D6CB-1456-1843503F3273}"/>
              </a:ext>
            </a:extLst>
          </p:cNvPr>
          <p:cNvSpPr>
            <a:spLocks noGrp="1"/>
          </p:cNvSpPr>
          <p:nvPr>
            <p:ph type="body" sz="quarter" idx="32"/>
          </p:nvPr>
        </p:nvSpPr>
        <p:spPr>
          <a:xfrm>
            <a:off x="4460943" y="3814357"/>
            <a:ext cx="3239551" cy="457200"/>
          </a:xfrm>
        </p:spPr>
        <p:txBody>
          <a:bodyPr/>
          <a:lstStyle/>
          <a:p>
            <a:r>
              <a:rPr lang="en-US">
                <a:latin typeface="Segoe UI Semibold" panose="020B0702040204020203" pitchFamily="34" charset="0"/>
                <a:cs typeface="Segoe UI Semibold" panose="020B0702040204020203" pitchFamily="34" charset="0"/>
              </a:rPr>
              <a:t>An expert on your codebase</a:t>
            </a:r>
          </a:p>
        </p:txBody>
      </p:sp>
      <p:sp>
        <p:nvSpPr>
          <p:cNvPr id="21" name="Text Placeholder 20">
            <a:extLst>
              <a:ext uri="{FF2B5EF4-FFF2-40B4-BE49-F238E27FC236}">
                <a16:creationId xmlns:a16="http://schemas.microsoft.com/office/drawing/2014/main" id="{44D4FDB4-16A0-A154-B6C1-47964011B682}"/>
              </a:ext>
            </a:extLst>
          </p:cNvPr>
          <p:cNvSpPr>
            <a:spLocks noGrp="1"/>
          </p:cNvSpPr>
          <p:nvPr>
            <p:ph type="body" sz="quarter" idx="33"/>
          </p:nvPr>
        </p:nvSpPr>
        <p:spPr>
          <a:xfrm>
            <a:off x="4460943" y="4289306"/>
            <a:ext cx="3239550" cy="1598980"/>
          </a:xfrm>
        </p:spPr>
        <p:txBody>
          <a:bodyPr/>
          <a:lstStyle/>
          <a:p>
            <a:r>
              <a:rPr lang="en-US">
                <a:latin typeface="Segoe UI" panose="020B0502040204020203" pitchFamily="34" charset="0"/>
                <a:cs typeface="Segoe UI" panose="020B0502040204020203" pitchFamily="34" charset="0"/>
              </a:rPr>
              <a:t>Your codebase is indexed locally and remotely (on GitHub) to understand what's relevant, enabling fast, context-aware interactions.</a:t>
            </a:r>
          </a:p>
        </p:txBody>
      </p:sp>
      <p:sp>
        <p:nvSpPr>
          <p:cNvPr id="8" name="Text Placeholder 7">
            <a:extLst>
              <a:ext uri="{FF2B5EF4-FFF2-40B4-BE49-F238E27FC236}">
                <a16:creationId xmlns:a16="http://schemas.microsoft.com/office/drawing/2014/main" id="{092262DE-287D-C8DE-CD51-3C34FD20AED9}"/>
              </a:ext>
            </a:extLst>
          </p:cNvPr>
          <p:cNvSpPr>
            <a:spLocks noGrp="1"/>
          </p:cNvSpPr>
          <p:nvPr>
            <p:ph type="body" sz="quarter" idx="35"/>
          </p:nvPr>
        </p:nvSpPr>
        <p:spPr>
          <a:xfrm>
            <a:off x="7933089" y="3814357"/>
            <a:ext cx="3239551" cy="457200"/>
          </a:xfrm>
        </p:spPr>
        <p:txBody>
          <a:bodyPr/>
          <a:lstStyle/>
          <a:p>
            <a:r>
              <a:rPr lang="en-US">
                <a:latin typeface="Segoe UI Semibold" panose="020B0702040204020203" pitchFamily="34" charset="0"/>
                <a:cs typeface="Segoe UI Semibold" panose="020B0702040204020203" pitchFamily="34" charset="0"/>
              </a:rPr>
              <a:t>AI that works the way you do</a:t>
            </a:r>
          </a:p>
        </p:txBody>
      </p:sp>
      <p:sp>
        <p:nvSpPr>
          <p:cNvPr id="22" name="Text Placeholder 21">
            <a:extLst>
              <a:ext uri="{FF2B5EF4-FFF2-40B4-BE49-F238E27FC236}">
                <a16:creationId xmlns:a16="http://schemas.microsoft.com/office/drawing/2014/main" id="{29D2E97A-C2E7-3B73-2874-3159036E07BF}"/>
              </a:ext>
            </a:extLst>
          </p:cNvPr>
          <p:cNvSpPr>
            <a:spLocks noGrp="1"/>
          </p:cNvSpPr>
          <p:nvPr>
            <p:ph type="body" sz="quarter" idx="36"/>
          </p:nvPr>
        </p:nvSpPr>
        <p:spPr>
          <a:xfrm>
            <a:off x="7933090" y="4289306"/>
            <a:ext cx="3239550" cy="1598980"/>
          </a:xfrm>
        </p:spPr>
        <p:txBody>
          <a:bodyPr/>
          <a:lstStyle/>
          <a:p>
            <a:r>
              <a:rPr lang="en-US">
                <a:latin typeface="Segoe UI" panose="020B0502040204020203" pitchFamily="34" charset="0"/>
                <a:cs typeface="Segoe UI" panose="020B0502040204020203" pitchFamily="34" charset="0"/>
              </a:rPr>
              <a:t>Personalize interactions using custom instructions and reusable prompt files tailored to your workflows, tools, and projects.</a:t>
            </a:r>
          </a:p>
        </p:txBody>
      </p:sp>
      <p:pic>
        <p:nvPicPr>
          <p:cNvPr id="2" name="Picture Placeholder 30">
            <a:extLst>
              <a:ext uri="{FF2B5EF4-FFF2-40B4-BE49-F238E27FC236}">
                <a16:creationId xmlns:a16="http://schemas.microsoft.com/office/drawing/2014/main" id="{1FD6BC93-6C8A-1954-8858-BBF50ADBACEC}"/>
              </a:ext>
            </a:extLst>
          </p:cNvPr>
          <p:cNvPicPr>
            <a:picLocks noChangeAspect="1"/>
          </p:cNvPicPr>
          <p:nvPr/>
        </p:nvPicPr>
        <p:blipFill rotWithShape="1">
          <a:blip r:embed="rId3">
            <a:extLst>
              <a:ext uri="{28A0092B-C50C-407E-A947-70E740481C1C}">
                <a14:useLocalDpi xmlns:a14="http://schemas.microsoft.com/office/drawing/2010/main" val="0"/>
              </a:ext>
            </a:extLst>
          </a:blip>
          <a:srcRect l="2483" r="2483"/>
          <a:stretch/>
        </p:blipFill>
        <p:spPr>
          <a:xfrm>
            <a:off x="8077706" y="1083948"/>
            <a:ext cx="2890797" cy="2665886"/>
          </a:xfrm>
          <a:prstGeom prst="roundRect">
            <a:avLst>
              <a:gd name="adj" fmla="val 2850"/>
            </a:avLst>
          </a:prstGeom>
        </p:spPr>
      </p:pic>
      <p:pic>
        <p:nvPicPr>
          <p:cNvPr id="7" name="Picture 6">
            <a:extLst>
              <a:ext uri="{FF2B5EF4-FFF2-40B4-BE49-F238E27FC236}">
                <a16:creationId xmlns:a16="http://schemas.microsoft.com/office/drawing/2014/main" id="{4FA2EE40-3384-6F48-A772-6699548FCBF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71603" y="1187781"/>
            <a:ext cx="3042693" cy="2458220"/>
          </a:xfrm>
          <a:prstGeom prst="rect">
            <a:avLst/>
          </a:prstGeom>
        </p:spPr>
      </p:pic>
      <p:pic>
        <p:nvPicPr>
          <p:cNvPr id="15" name="Picture 14">
            <a:extLst>
              <a:ext uri="{FF2B5EF4-FFF2-40B4-BE49-F238E27FC236}">
                <a16:creationId xmlns:a16="http://schemas.microsoft.com/office/drawing/2014/main" id="{6C073188-0557-E8F1-986D-0B979154320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460943" y="1455788"/>
            <a:ext cx="3107044" cy="2190213"/>
          </a:xfrm>
          <a:prstGeom prst="rect">
            <a:avLst/>
          </a:prstGeom>
        </p:spPr>
      </p:pic>
    </p:spTree>
    <p:extLst>
      <p:ext uri="{BB962C8B-B14F-4D97-AF65-F5344CB8AC3E}">
        <p14:creationId xmlns:p14="http://schemas.microsoft.com/office/powerpoint/2010/main" val="1408054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gent VIKRAM by VISHALxDESIGNS on DeviantArt">
            <a:extLst>
              <a:ext uri="{FF2B5EF4-FFF2-40B4-BE49-F238E27FC236}">
                <a16:creationId xmlns:a16="http://schemas.microsoft.com/office/drawing/2014/main" id="{B89B5932-8C64-1D66-2EC4-3A284CC75B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954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eet GitHub Copilot: The Future of AI-Powered Coding">
            <a:extLst>
              <a:ext uri="{FF2B5EF4-FFF2-40B4-BE49-F238E27FC236}">
                <a16:creationId xmlns:a16="http://schemas.microsoft.com/office/drawing/2014/main" id="{5D735AE5-A166-7E43-D7AC-872E5F007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996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0885D-4481-E485-F3A6-3DBA40FD453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EB318D57-72FE-6CA3-488C-0DD844C6E507}"/>
              </a:ext>
            </a:extLst>
          </p:cNvPr>
          <p:cNvGrpSpPr/>
          <p:nvPr/>
        </p:nvGrpSpPr>
        <p:grpSpPr>
          <a:xfrm>
            <a:off x="756379" y="1278711"/>
            <a:ext cx="2560753" cy="415936"/>
            <a:chOff x="768033" y="5970843"/>
            <a:chExt cx="2560753" cy="415936"/>
          </a:xfrm>
        </p:grpSpPr>
        <p:sp>
          <p:nvSpPr>
            <p:cNvPr id="4" name="Rounded Rectangle 3">
              <a:extLst>
                <a:ext uri="{FF2B5EF4-FFF2-40B4-BE49-F238E27FC236}">
                  <a16:creationId xmlns:a16="http://schemas.microsoft.com/office/drawing/2014/main" id="{05A5E1E5-297F-B230-BE0A-317D5DBA7623}"/>
                </a:ext>
              </a:extLst>
            </p:cNvPr>
            <p:cNvSpPr/>
            <p:nvPr/>
          </p:nvSpPr>
          <p:spPr>
            <a:xfrm>
              <a:off x="768033" y="5970843"/>
              <a:ext cx="2560753"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rPr>
                <a:t>     Team Customization</a:t>
              </a:r>
            </a:p>
          </p:txBody>
        </p:sp>
        <p:grpSp>
          <p:nvGrpSpPr>
            <p:cNvPr id="5" name="Google Shape;1693;p69">
              <a:extLst>
                <a:ext uri="{FF2B5EF4-FFF2-40B4-BE49-F238E27FC236}">
                  <a16:creationId xmlns:a16="http://schemas.microsoft.com/office/drawing/2014/main" id="{6E63B292-9390-66B0-0541-2E36FD5AD76C}"/>
                </a:ext>
              </a:extLst>
            </p:cNvPr>
            <p:cNvGrpSpPr/>
            <p:nvPr/>
          </p:nvGrpSpPr>
          <p:grpSpPr>
            <a:xfrm>
              <a:off x="918288" y="6094225"/>
              <a:ext cx="192384" cy="160586"/>
              <a:chOff x="690700" y="246575"/>
              <a:chExt cx="6228425" cy="5199000"/>
            </a:xfrm>
          </p:grpSpPr>
          <p:sp>
            <p:nvSpPr>
              <p:cNvPr id="6" name="Google Shape;1694;p69">
                <a:extLst>
                  <a:ext uri="{FF2B5EF4-FFF2-40B4-BE49-F238E27FC236}">
                    <a16:creationId xmlns:a16="http://schemas.microsoft.com/office/drawing/2014/main" id="{0A2E92CA-1BFA-3F51-6A62-2E980997701C}"/>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7" name="Google Shape;1695;p69">
                <a:extLst>
                  <a:ext uri="{FF2B5EF4-FFF2-40B4-BE49-F238E27FC236}">
                    <a16:creationId xmlns:a16="http://schemas.microsoft.com/office/drawing/2014/main" id="{BA1280C0-2B9B-0FC5-1FD2-484472BC75BC}"/>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8" name="Google Shape;1696;p69">
                <a:extLst>
                  <a:ext uri="{FF2B5EF4-FFF2-40B4-BE49-F238E27FC236}">
                    <a16:creationId xmlns:a16="http://schemas.microsoft.com/office/drawing/2014/main" id="{871042E1-5DEF-080E-6219-35593331630A}"/>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grpSp>
      <p:sp>
        <p:nvSpPr>
          <p:cNvPr id="12" name="Text Placeholder 2">
            <a:extLst>
              <a:ext uri="{FF2B5EF4-FFF2-40B4-BE49-F238E27FC236}">
                <a16:creationId xmlns:a16="http://schemas.microsoft.com/office/drawing/2014/main" id="{8CCB9295-3139-2F49-4808-2EF64E168264}"/>
              </a:ext>
            </a:extLst>
          </p:cNvPr>
          <p:cNvSpPr txBox="1">
            <a:spLocks/>
          </p:cNvSpPr>
          <p:nvPr/>
        </p:nvSpPr>
        <p:spPr>
          <a:xfrm>
            <a:off x="710622" y="1930465"/>
            <a:ext cx="4496015" cy="1366560"/>
          </a:xfrm>
          <a:prstGeom prst="rect">
            <a:avLst/>
          </a:prstGeom>
        </p:spPr>
        <p:txBody>
          <a:bodyPr lIns="91440" tIns="45720" rIns="91440" bIns="4572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rPr>
              <a:t>Personalized code and workflows</a:t>
            </a:r>
          </a:p>
        </p:txBody>
      </p:sp>
      <p:sp>
        <p:nvSpPr>
          <p:cNvPr id="3" name="TextBox 2">
            <a:extLst>
              <a:ext uri="{FF2B5EF4-FFF2-40B4-BE49-F238E27FC236}">
                <a16:creationId xmlns:a16="http://schemas.microsoft.com/office/drawing/2014/main" id="{F38EBD99-8FE2-C90B-1A77-9E1D1146CF86}"/>
              </a:ext>
            </a:extLst>
          </p:cNvPr>
          <p:cNvSpPr txBox="1"/>
          <p:nvPr/>
        </p:nvSpPr>
        <p:spPr>
          <a:xfrm>
            <a:off x="631929" y="3250775"/>
            <a:ext cx="4976030"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Build </a:t>
            </a:r>
            <a:r>
              <a:rPr kumimoji="0" lang="en-US" sz="1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repeatable, AI-powered workflows for your team</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with </a:t>
            </a:r>
            <a:r>
              <a:rPr kumimoji="0" lang="en-US" sz="1600" b="1" i="0" u="none" strike="noStrike" kern="1200" cap="none" spc="0" normalizeH="0" baseline="0" noProof="0" dirty="0">
                <a:ln>
                  <a:noFill/>
                </a:ln>
                <a:solidFill>
                  <a:srgbClr val="5FED83"/>
                </a:solidFill>
                <a:effectLst/>
                <a:uLnTx/>
                <a:uFillTx/>
                <a:latin typeface="Segoe UI" panose="020B0502040204020203" pitchFamily="34" charset="0"/>
                <a:ea typeface="+mn-ea"/>
                <a:cs typeface="Segoe UI" panose="020B0502040204020203" pitchFamily="34" charset="0"/>
              </a:rPr>
              <a:t>prompt files</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that describe their own prompts, tools, and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Scale domain knowledge from senior engineers </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across the team with </a:t>
            </a:r>
            <a:r>
              <a:rPr kumimoji="0" lang="en-US" sz="1600" b="1" i="0" u="none" strike="noStrike" kern="1200" cap="none" spc="0" normalizeH="0" baseline="0" noProof="0" dirty="0">
                <a:ln>
                  <a:noFill/>
                </a:ln>
                <a:solidFill>
                  <a:srgbClr val="5FED83"/>
                </a:solidFill>
                <a:effectLst/>
                <a:uLnTx/>
                <a:uFillTx/>
                <a:latin typeface="Segoe UI" panose="020B0502040204020203" pitchFamily="34" charset="0"/>
                <a:ea typeface="+mn-ea"/>
                <a:cs typeface="Segoe UI" panose="020B0502040204020203" pitchFamily="34" charset="0"/>
              </a:rPr>
              <a:t>custom instructions</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Create </a:t>
            </a:r>
            <a:r>
              <a:rPr kumimoji="0" lang="en-US" sz="1600" b="1" i="0" u="none" strike="noStrike" kern="1200" cap="none" spc="0" normalizeH="0" baseline="0" noProof="0" dirty="0">
                <a:ln>
                  <a:noFill/>
                </a:ln>
                <a:solidFill>
                  <a:srgbClr val="5FED83"/>
                </a:solidFill>
                <a:effectLst/>
                <a:uLnTx/>
                <a:uFillTx/>
                <a:latin typeface="Segoe UI" panose="020B0502040204020203" pitchFamily="34" charset="0"/>
                <a:ea typeface="+mn-ea"/>
                <a:cs typeface="Segoe UI" panose="020B0502040204020203" pitchFamily="34" charset="0"/>
              </a:rPr>
              <a:t>custom agents</a:t>
            </a:r>
            <a:r>
              <a:rPr kumimoji="0" lang="en-US" sz="1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that encapsulate different workflows</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like planning, debugging, etc.</a:t>
            </a:r>
          </a:p>
        </p:txBody>
      </p:sp>
      <p:pic>
        <p:nvPicPr>
          <p:cNvPr id="5122" name="Picture 2" descr="GitHub Copilot: Meet the new coding agent - The GitHub Blog">
            <a:extLst>
              <a:ext uri="{FF2B5EF4-FFF2-40B4-BE49-F238E27FC236}">
                <a16:creationId xmlns:a16="http://schemas.microsoft.com/office/drawing/2014/main" id="{E5C2A758-3A2B-6FF7-7B47-913E2AEE76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077"/>
          <a:stretch>
            <a:fillRect/>
          </a:stretch>
        </p:blipFill>
        <p:spPr bwMode="auto">
          <a:xfrm>
            <a:off x="5861538" y="228600"/>
            <a:ext cx="6330462"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907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6F565-3FF5-B2A9-2EE5-49E8BFDF880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5DCF5E28-5439-A815-E4A3-9D64361A18E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009280" y="887158"/>
            <a:ext cx="5983427" cy="5083687"/>
          </a:xfrm>
          <a:prstGeom prst="roundRect">
            <a:avLst>
              <a:gd name="adj" fmla="val 2500"/>
            </a:avLst>
          </a:prstGeom>
          <a:solidFill>
            <a:schemeClr val="bg1"/>
          </a:solidFill>
          <a:ln>
            <a:solidFill>
              <a:schemeClr val="tx2"/>
            </a:solidFill>
          </a:ln>
        </p:spPr>
      </p:pic>
      <p:sp>
        <p:nvSpPr>
          <p:cNvPr id="2" name="Text Placeholder 1">
            <a:extLst>
              <a:ext uri="{FF2B5EF4-FFF2-40B4-BE49-F238E27FC236}">
                <a16:creationId xmlns:a16="http://schemas.microsoft.com/office/drawing/2014/main" id="{46E7CF20-BF66-0912-006D-EF0D7304201B}"/>
              </a:ext>
            </a:extLst>
          </p:cNvPr>
          <p:cNvSpPr>
            <a:spLocks noGrp="1"/>
          </p:cNvSpPr>
          <p:nvPr>
            <p:ph type="body" sz="quarter" idx="30"/>
          </p:nvPr>
        </p:nvSpPr>
        <p:spPr>
          <a:xfrm>
            <a:off x="302910" y="620828"/>
            <a:ext cx="10470598" cy="1313480"/>
          </a:xfrm>
        </p:spPr>
        <p:txBody>
          <a:bodyPr/>
          <a:lstStyle/>
          <a:p>
            <a:r>
              <a:rPr lang="en-US" dirty="0"/>
              <a:t>Defining the "Brain": </a:t>
            </a:r>
          </a:p>
          <a:p>
            <a:r>
              <a:rPr lang="en-US" i="1" dirty="0"/>
              <a:t>copilot-instructions.md</a:t>
            </a:r>
          </a:p>
        </p:txBody>
      </p:sp>
      <p:sp>
        <p:nvSpPr>
          <p:cNvPr id="5" name="Text Placeholder 4">
            <a:extLst>
              <a:ext uri="{FF2B5EF4-FFF2-40B4-BE49-F238E27FC236}">
                <a16:creationId xmlns:a16="http://schemas.microsoft.com/office/drawing/2014/main" id="{5446B762-0040-6CE1-2B7C-50934878DE0C}"/>
              </a:ext>
            </a:extLst>
          </p:cNvPr>
          <p:cNvSpPr>
            <a:spLocks noGrp="1"/>
          </p:cNvSpPr>
          <p:nvPr>
            <p:ph type="body" sz="quarter" idx="32"/>
          </p:nvPr>
        </p:nvSpPr>
        <p:spPr>
          <a:xfrm>
            <a:off x="7381217" y="5282780"/>
            <a:ext cx="3239551" cy="457200"/>
          </a:xfrm>
        </p:spPr>
        <p:txBody>
          <a:bodyPr/>
          <a:lstStyle/>
          <a:p>
            <a:pPr algn="ctr"/>
            <a:r>
              <a:rPr lang="en-US" dirty="0"/>
              <a:t>Always on Context</a:t>
            </a:r>
          </a:p>
        </p:txBody>
      </p:sp>
      <p:sp>
        <p:nvSpPr>
          <p:cNvPr id="11" name="Text Placeholder 10">
            <a:extLst>
              <a:ext uri="{FF2B5EF4-FFF2-40B4-BE49-F238E27FC236}">
                <a16:creationId xmlns:a16="http://schemas.microsoft.com/office/drawing/2014/main" id="{916B1159-94FA-B314-C0DB-3D3402ABBA7E}"/>
              </a:ext>
            </a:extLst>
          </p:cNvPr>
          <p:cNvSpPr>
            <a:spLocks noGrp="1"/>
          </p:cNvSpPr>
          <p:nvPr>
            <p:ph type="body" sz="quarter" idx="31"/>
          </p:nvPr>
        </p:nvSpPr>
        <p:spPr>
          <a:xfrm>
            <a:off x="321398" y="1671351"/>
            <a:ext cx="5669395" cy="4299494"/>
          </a:xfrm>
        </p:spPr>
        <p:txBody>
          <a:bodyPr/>
          <a:lstStyle/>
          <a:p>
            <a:r>
              <a:rPr lang="en-US" sz="1800" b="1" dirty="0">
                <a:solidFill>
                  <a:schemeClr val="tx1">
                    <a:lumMod val="95000"/>
                    <a:alpha val="70000"/>
                  </a:schemeClr>
                </a:solidFill>
              </a:rPr>
              <a:t>Global Context:</a:t>
            </a:r>
          </a:p>
          <a:p>
            <a:r>
              <a:rPr lang="en-US" sz="1800" dirty="0">
                <a:solidFill>
                  <a:schemeClr val="tx1">
                    <a:lumMod val="95000"/>
                    <a:alpha val="70000"/>
                  </a:schemeClr>
                </a:solidFill>
              </a:rPr>
              <a:t>/.</a:t>
            </a:r>
            <a:r>
              <a:rPr lang="en-US" sz="1800" dirty="0" err="1">
                <a:solidFill>
                  <a:schemeClr val="tx1">
                    <a:lumMod val="95000"/>
                    <a:alpha val="70000"/>
                  </a:schemeClr>
                </a:solidFill>
              </a:rPr>
              <a:t>github</a:t>
            </a:r>
            <a:r>
              <a:rPr lang="en-US" sz="1800" dirty="0">
                <a:solidFill>
                  <a:schemeClr val="tx1">
                    <a:lumMod val="95000"/>
                    <a:alpha val="70000"/>
                  </a:schemeClr>
                </a:solidFill>
              </a:rPr>
              <a:t>/copilot-instructions.md: Repository-wide rules ("Always on Context")</a:t>
            </a:r>
          </a:p>
          <a:p>
            <a:r>
              <a:rPr lang="en-US" sz="1800" b="1" dirty="0">
                <a:solidFill>
                  <a:schemeClr val="tx1">
                    <a:lumMod val="95000"/>
                    <a:alpha val="70000"/>
                  </a:schemeClr>
                </a:solidFill>
              </a:rPr>
              <a:t>Content Structure:</a:t>
            </a:r>
          </a:p>
          <a:p>
            <a:r>
              <a:rPr lang="en-US" sz="1800" b="1" dirty="0">
                <a:solidFill>
                  <a:schemeClr val="tx1">
                    <a:lumMod val="95000"/>
                    <a:alpha val="70000"/>
                  </a:schemeClr>
                </a:solidFill>
              </a:rPr>
              <a:t>Environment</a:t>
            </a:r>
            <a:r>
              <a:rPr lang="en-US" sz="1800" dirty="0">
                <a:solidFill>
                  <a:schemeClr val="tx1">
                    <a:lumMod val="95000"/>
                    <a:alpha val="70000"/>
                  </a:schemeClr>
                </a:solidFill>
              </a:rPr>
              <a:t>: Build commands, test runners, and CI/CD pipelines.</a:t>
            </a:r>
          </a:p>
          <a:p>
            <a:r>
              <a:rPr lang="en-US" sz="1800" b="1" dirty="0">
                <a:solidFill>
                  <a:schemeClr val="tx1">
                    <a:lumMod val="95000"/>
                    <a:alpha val="70000"/>
                  </a:schemeClr>
                </a:solidFill>
              </a:rPr>
              <a:t>Conventions</a:t>
            </a:r>
            <a:r>
              <a:rPr lang="en-US" sz="1800" dirty="0">
                <a:solidFill>
                  <a:schemeClr val="tx1">
                    <a:lumMod val="95000"/>
                    <a:alpha val="70000"/>
                  </a:schemeClr>
                </a:solidFill>
              </a:rPr>
              <a:t>: API design patterns, naming, and error handling.</a:t>
            </a:r>
          </a:p>
          <a:p>
            <a:r>
              <a:rPr lang="en-US" sz="1800" b="1" dirty="0">
                <a:solidFill>
                  <a:schemeClr val="tx1">
                    <a:lumMod val="95000"/>
                    <a:alpha val="70000"/>
                  </a:schemeClr>
                </a:solidFill>
              </a:rPr>
              <a:t>Avoidance</a:t>
            </a:r>
            <a:r>
              <a:rPr lang="en-US" sz="1800" dirty="0">
                <a:solidFill>
                  <a:schemeClr val="tx1">
                    <a:lumMod val="95000"/>
                    <a:alpha val="70000"/>
                  </a:schemeClr>
                </a:solidFill>
              </a:rPr>
              <a:t>: Lists of deprecated libraries or "anti-patterns" to ignore.</a:t>
            </a:r>
          </a:p>
          <a:p>
            <a:r>
              <a:rPr lang="en-US" sz="1800" b="1" dirty="0">
                <a:solidFill>
                  <a:schemeClr val="tx1">
                    <a:lumMod val="95000"/>
                    <a:alpha val="70000"/>
                  </a:schemeClr>
                </a:solidFill>
              </a:rPr>
              <a:t>Fact</a:t>
            </a:r>
            <a:r>
              <a:rPr lang="en-US" sz="1800" dirty="0">
                <a:solidFill>
                  <a:schemeClr val="tx1">
                    <a:lumMod val="95000"/>
                    <a:alpha val="70000"/>
                  </a:schemeClr>
                </a:solidFill>
              </a:rPr>
              <a:t>: Copilot </a:t>
            </a:r>
            <a:r>
              <a:rPr lang="en-US" sz="1800">
                <a:solidFill>
                  <a:schemeClr val="tx1">
                    <a:lumMod val="95000"/>
                    <a:alpha val="70000"/>
                  </a:schemeClr>
                </a:solidFill>
              </a:rPr>
              <a:t>prioritizes this file </a:t>
            </a:r>
            <a:r>
              <a:rPr lang="en-US" sz="1800" dirty="0">
                <a:solidFill>
                  <a:schemeClr val="tx1">
                    <a:lumMod val="95000"/>
                    <a:alpha val="70000"/>
                  </a:schemeClr>
                </a:solidFill>
              </a:rPr>
              <a:t>over its general training data to ensure project alignment.</a:t>
            </a:r>
          </a:p>
        </p:txBody>
      </p:sp>
      <p:pic>
        <p:nvPicPr>
          <p:cNvPr id="7" name="Picture 6">
            <a:extLst>
              <a:ext uri="{FF2B5EF4-FFF2-40B4-BE49-F238E27FC236}">
                <a16:creationId xmlns:a16="http://schemas.microsoft.com/office/drawing/2014/main" id="{E3A81540-9540-4055-E4A0-2000C92DCC6A}"/>
              </a:ext>
            </a:extLst>
          </p:cNvPr>
          <p:cNvPicPr>
            <a:picLocks noChangeAspect="1"/>
          </p:cNvPicPr>
          <p:nvPr/>
        </p:nvPicPr>
        <p:blipFill>
          <a:blip r:embed="rId4"/>
          <a:srcRect r="16286"/>
          <a:stretch>
            <a:fillRect/>
          </a:stretch>
        </p:blipFill>
        <p:spPr>
          <a:xfrm>
            <a:off x="6169870" y="1277568"/>
            <a:ext cx="5662246" cy="3916972"/>
          </a:xfrm>
          <a:prstGeom prst="rect">
            <a:avLst/>
          </a:prstGeom>
        </p:spPr>
      </p:pic>
    </p:spTree>
    <p:extLst>
      <p:ext uri="{BB962C8B-B14F-4D97-AF65-F5344CB8AC3E}">
        <p14:creationId xmlns:p14="http://schemas.microsoft.com/office/powerpoint/2010/main" val="1566844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No photo description available.">
            <a:extLst>
              <a:ext uri="{FF2B5EF4-FFF2-40B4-BE49-F238E27FC236}">
                <a16:creationId xmlns:a16="http://schemas.microsoft.com/office/drawing/2014/main" id="{F2267573-DB81-4514-CE5E-11410B3C7D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0762" y="1515138"/>
            <a:ext cx="6716205" cy="5038029"/>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1">
            <a:extLst>
              <a:ext uri="{FF2B5EF4-FFF2-40B4-BE49-F238E27FC236}">
                <a16:creationId xmlns:a16="http://schemas.microsoft.com/office/drawing/2014/main" id="{E890EF4D-0EA9-9EF6-2D6E-C583B656DE20}"/>
              </a:ext>
            </a:extLst>
          </p:cNvPr>
          <p:cNvSpPr>
            <a:spLocks noGrp="1"/>
          </p:cNvSpPr>
          <p:nvPr>
            <p:ph type="body" sz="quarter" idx="30"/>
          </p:nvPr>
        </p:nvSpPr>
        <p:spPr>
          <a:xfrm>
            <a:off x="-375662" y="909745"/>
            <a:ext cx="5628123" cy="722624"/>
          </a:xfrm>
        </p:spPr>
        <p:txBody>
          <a:bodyPr/>
          <a:lstStyle/>
          <a:p>
            <a:pPr algn="ctr"/>
            <a:r>
              <a:rPr lang="en-US" sz="2400" dirty="0"/>
              <a:t>Good instructions.md file</a:t>
            </a:r>
          </a:p>
        </p:txBody>
      </p:sp>
      <p:sp>
        <p:nvSpPr>
          <p:cNvPr id="15" name="Text Placeholder 1">
            <a:extLst>
              <a:ext uri="{FF2B5EF4-FFF2-40B4-BE49-F238E27FC236}">
                <a16:creationId xmlns:a16="http://schemas.microsoft.com/office/drawing/2014/main" id="{FA46E007-1E91-D4AF-9B05-1F008ADC2FF8}"/>
              </a:ext>
            </a:extLst>
          </p:cNvPr>
          <p:cNvSpPr txBox="1">
            <a:spLocks/>
          </p:cNvSpPr>
          <p:nvPr/>
        </p:nvSpPr>
        <p:spPr>
          <a:xfrm>
            <a:off x="5601017" y="851130"/>
            <a:ext cx="5628123"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Destructive instructions.md file</a:t>
            </a:r>
          </a:p>
        </p:txBody>
      </p:sp>
      <p:sp>
        <p:nvSpPr>
          <p:cNvPr id="16" name="Text Placeholder 1">
            <a:extLst>
              <a:ext uri="{FF2B5EF4-FFF2-40B4-BE49-F238E27FC236}">
                <a16:creationId xmlns:a16="http://schemas.microsoft.com/office/drawing/2014/main" id="{130E32B4-DBEA-6C9A-CF95-C367778AC8FE}"/>
              </a:ext>
            </a:extLst>
          </p:cNvPr>
          <p:cNvSpPr txBox="1">
            <a:spLocks/>
          </p:cNvSpPr>
          <p:nvPr/>
        </p:nvSpPr>
        <p:spPr>
          <a:xfrm>
            <a:off x="2786955" y="304833"/>
            <a:ext cx="5628123"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copilot-instructions.md</a:t>
            </a:r>
          </a:p>
        </p:txBody>
      </p:sp>
      <p:pic>
        <p:nvPicPr>
          <p:cNvPr id="18" name="Picture 17">
            <a:extLst>
              <a:ext uri="{FF2B5EF4-FFF2-40B4-BE49-F238E27FC236}">
                <a16:creationId xmlns:a16="http://schemas.microsoft.com/office/drawing/2014/main" id="{D92EB9E3-C079-5B5A-D76C-2DA354BE7549}"/>
              </a:ext>
            </a:extLst>
          </p:cNvPr>
          <p:cNvPicPr>
            <a:picLocks noChangeAspect="1"/>
          </p:cNvPicPr>
          <p:nvPr/>
        </p:nvPicPr>
        <p:blipFill>
          <a:blip r:embed="rId3"/>
          <a:srcRect t="1872" b="13102"/>
          <a:stretch>
            <a:fillRect/>
          </a:stretch>
        </p:blipFill>
        <p:spPr>
          <a:xfrm>
            <a:off x="137109" y="1515137"/>
            <a:ext cx="4839375" cy="5038029"/>
          </a:xfrm>
          <a:prstGeom prst="rect">
            <a:avLst/>
          </a:prstGeom>
        </p:spPr>
      </p:pic>
    </p:spTree>
    <p:extLst>
      <p:ext uri="{BB962C8B-B14F-4D97-AF65-F5344CB8AC3E}">
        <p14:creationId xmlns:p14="http://schemas.microsoft.com/office/powerpoint/2010/main" val="1877393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34D95-BE1C-A89A-4D5D-01E86350A5A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7E5A780F-1970-2265-2699-EEF96D6F447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009280" y="887158"/>
            <a:ext cx="5983427" cy="5083687"/>
          </a:xfrm>
          <a:prstGeom prst="roundRect">
            <a:avLst>
              <a:gd name="adj" fmla="val 2500"/>
            </a:avLst>
          </a:prstGeom>
          <a:solidFill>
            <a:schemeClr val="bg1"/>
          </a:solidFill>
          <a:ln>
            <a:solidFill>
              <a:schemeClr val="tx2"/>
            </a:solidFill>
          </a:ln>
        </p:spPr>
      </p:pic>
      <p:sp>
        <p:nvSpPr>
          <p:cNvPr id="2" name="Text Placeholder 1">
            <a:extLst>
              <a:ext uri="{FF2B5EF4-FFF2-40B4-BE49-F238E27FC236}">
                <a16:creationId xmlns:a16="http://schemas.microsoft.com/office/drawing/2014/main" id="{369A1E77-6341-68C2-B231-35EC18790AD3}"/>
              </a:ext>
            </a:extLst>
          </p:cNvPr>
          <p:cNvSpPr>
            <a:spLocks noGrp="1"/>
          </p:cNvSpPr>
          <p:nvPr>
            <p:ph type="body" sz="quarter" idx="30"/>
          </p:nvPr>
        </p:nvSpPr>
        <p:spPr>
          <a:xfrm>
            <a:off x="302910" y="620828"/>
            <a:ext cx="10470598" cy="1313480"/>
          </a:xfrm>
        </p:spPr>
        <p:txBody>
          <a:bodyPr/>
          <a:lstStyle/>
          <a:p>
            <a:r>
              <a:rPr lang="en-US" dirty="0"/>
              <a:t>Contextual Rules: </a:t>
            </a:r>
          </a:p>
          <a:p>
            <a:r>
              <a:rPr lang="en-US" dirty="0"/>
              <a:t>The instructions/ Folder</a:t>
            </a:r>
            <a:endParaRPr lang="en-US" i="1" dirty="0"/>
          </a:p>
        </p:txBody>
      </p:sp>
      <p:sp>
        <p:nvSpPr>
          <p:cNvPr id="5" name="Text Placeholder 4">
            <a:extLst>
              <a:ext uri="{FF2B5EF4-FFF2-40B4-BE49-F238E27FC236}">
                <a16:creationId xmlns:a16="http://schemas.microsoft.com/office/drawing/2014/main" id="{B35F9A4A-05F6-9C26-7F48-0B9F85EC4C59}"/>
              </a:ext>
            </a:extLst>
          </p:cNvPr>
          <p:cNvSpPr>
            <a:spLocks noGrp="1"/>
          </p:cNvSpPr>
          <p:nvPr>
            <p:ph type="body" sz="quarter" idx="32"/>
          </p:nvPr>
        </p:nvSpPr>
        <p:spPr>
          <a:xfrm>
            <a:off x="7381216" y="5459357"/>
            <a:ext cx="3239551" cy="457200"/>
          </a:xfrm>
        </p:spPr>
        <p:txBody>
          <a:bodyPr/>
          <a:lstStyle/>
          <a:p>
            <a:pPr algn="ctr"/>
            <a:r>
              <a:rPr lang="en-US" dirty="0"/>
              <a:t>Loaded when Matching files or relevant tasks</a:t>
            </a:r>
          </a:p>
        </p:txBody>
      </p:sp>
      <p:sp>
        <p:nvSpPr>
          <p:cNvPr id="11" name="Text Placeholder 10">
            <a:extLst>
              <a:ext uri="{FF2B5EF4-FFF2-40B4-BE49-F238E27FC236}">
                <a16:creationId xmlns:a16="http://schemas.microsoft.com/office/drawing/2014/main" id="{1A84545B-6692-A6DB-155C-866A228961BD}"/>
              </a:ext>
            </a:extLst>
          </p:cNvPr>
          <p:cNvSpPr>
            <a:spLocks noGrp="1"/>
          </p:cNvSpPr>
          <p:nvPr>
            <p:ph type="body" sz="quarter" idx="31"/>
          </p:nvPr>
        </p:nvSpPr>
        <p:spPr>
          <a:xfrm>
            <a:off x="339883" y="1523752"/>
            <a:ext cx="5669395" cy="5222564"/>
          </a:xfrm>
        </p:spPr>
        <p:txBody>
          <a:bodyPr/>
          <a:lstStyle/>
          <a:p>
            <a:r>
              <a:rPr lang="en-US" sz="1800" dirty="0"/>
              <a:t>While copilot-instructions.md is global, the </a:t>
            </a:r>
            <a:r>
              <a:rPr lang="en-US" sz="1800" b="1" dirty="0"/>
              <a:t>instructions/ directory allows for granular, folder-level control of Copilot’s behavior.</a:t>
            </a:r>
          </a:p>
          <a:p>
            <a:r>
              <a:rPr lang="en-US" sz="1800" dirty="0"/>
              <a:t>Copilot automatically applies specific rules based on the file or folder you are currently working in.</a:t>
            </a:r>
          </a:p>
          <a:p>
            <a:r>
              <a:rPr lang="en-US" sz="1800" dirty="0"/>
              <a:t>Usage Scenarios: </a:t>
            </a:r>
            <a:r>
              <a:rPr lang="en-US" sz="1800" b="1" dirty="0"/>
              <a:t>Backend vs. Frontend</a:t>
            </a:r>
            <a:r>
              <a:rPr lang="en-US" sz="1800" dirty="0"/>
              <a:t>: Use different .md files for /</a:t>
            </a:r>
            <a:r>
              <a:rPr lang="en-US" sz="1800" dirty="0" err="1"/>
              <a:t>api</a:t>
            </a:r>
            <a:r>
              <a:rPr lang="en-US" sz="1800" dirty="0"/>
              <a:t> (Python/</a:t>
            </a:r>
            <a:r>
              <a:rPr lang="en-US" sz="1800" dirty="0" err="1"/>
              <a:t>FastAPI</a:t>
            </a:r>
            <a:r>
              <a:rPr lang="en-US" sz="1800" dirty="0"/>
              <a:t>) and /web (React/Next.js) to prevent language mixing.</a:t>
            </a:r>
          </a:p>
          <a:p>
            <a:r>
              <a:rPr lang="en-US" sz="1800" b="1" dirty="0"/>
              <a:t>Why it Matters: </a:t>
            </a:r>
          </a:p>
          <a:p>
            <a:r>
              <a:rPr lang="en-US" sz="1800" dirty="0"/>
              <a:t>It prevents </a:t>
            </a:r>
            <a:r>
              <a:rPr lang="en-US" sz="1800" b="1" dirty="0"/>
              <a:t>"Context Pollution“</a:t>
            </a:r>
            <a:r>
              <a:rPr lang="en-US" sz="1800" dirty="0"/>
              <a:t>- Copilot won't suggest React hooks when you're writing a SQL migration script.</a:t>
            </a:r>
          </a:p>
          <a:p>
            <a:r>
              <a:rPr lang="en-US" sz="1800" dirty="0"/>
              <a:t>It allows large </a:t>
            </a:r>
            <a:r>
              <a:rPr lang="en-US" sz="1800" dirty="0" err="1"/>
              <a:t>monorepos</a:t>
            </a:r>
            <a:r>
              <a:rPr lang="en-US" sz="1800" dirty="0"/>
              <a:t> to scale without one massive, confusing instruction file.</a:t>
            </a:r>
          </a:p>
          <a:p>
            <a:r>
              <a:rPr lang="en-US" sz="1800" b="1" dirty="0"/>
              <a:t>Key Takeaway: </a:t>
            </a:r>
            <a:r>
              <a:rPr lang="en-US" sz="1800" dirty="0"/>
              <a:t>Use the instructions/ folder to give Copilot spatial awareness of your codebase.</a:t>
            </a:r>
          </a:p>
          <a:p>
            <a:endParaRPr lang="en-US" sz="1800" dirty="0"/>
          </a:p>
        </p:txBody>
      </p:sp>
      <p:pic>
        <p:nvPicPr>
          <p:cNvPr id="4" name="Picture 3">
            <a:extLst>
              <a:ext uri="{FF2B5EF4-FFF2-40B4-BE49-F238E27FC236}">
                <a16:creationId xmlns:a16="http://schemas.microsoft.com/office/drawing/2014/main" id="{4F85E7DC-7751-0A5A-A899-F2B8E11C481D}"/>
              </a:ext>
            </a:extLst>
          </p:cNvPr>
          <p:cNvPicPr>
            <a:picLocks noChangeAspect="1"/>
          </p:cNvPicPr>
          <p:nvPr/>
        </p:nvPicPr>
        <p:blipFill>
          <a:blip r:embed="rId4"/>
          <a:srcRect r="6730"/>
          <a:stretch>
            <a:fillRect/>
          </a:stretch>
        </p:blipFill>
        <p:spPr>
          <a:xfrm>
            <a:off x="6226080" y="1058673"/>
            <a:ext cx="5549822" cy="4167234"/>
          </a:xfrm>
          <a:prstGeom prst="rect">
            <a:avLst/>
          </a:prstGeom>
        </p:spPr>
      </p:pic>
    </p:spTree>
    <p:extLst>
      <p:ext uri="{BB962C8B-B14F-4D97-AF65-F5344CB8AC3E}">
        <p14:creationId xmlns:p14="http://schemas.microsoft.com/office/powerpoint/2010/main" val="370096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FEE33C69-2E50-F227-AFF0-4753F29DFBC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644902" y="887157"/>
            <a:ext cx="6324360" cy="5419857"/>
          </a:xfrm>
          <a:prstGeom prst="roundRect">
            <a:avLst>
              <a:gd name="adj" fmla="val 2500"/>
            </a:avLst>
          </a:prstGeom>
          <a:solidFill>
            <a:schemeClr val="bg1"/>
          </a:solidFill>
          <a:ln>
            <a:solidFill>
              <a:schemeClr val="tx2"/>
            </a:solidFill>
          </a:ln>
        </p:spPr>
      </p:pic>
      <p:sp>
        <p:nvSpPr>
          <p:cNvPr id="2" name="Text Placeholder 1">
            <a:extLst>
              <a:ext uri="{FF2B5EF4-FFF2-40B4-BE49-F238E27FC236}">
                <a16:creationId xmlns:a16="http://schemas.microsoft.com/office/drawing/2014/main" id="{E4C49A7A-1857-ED5D-866C-A0E5F6AF6BFB}"/>
              </a:ext>
            </a:extLst>
          </p:cNvPr>
          <p:cNvSpPr>
            <a:spLocks noGrp="1"/>
          </p:cNvSpPr>
          <p:nvPr>
            <p:ph type="body" sz="quarter" idx="30"/>
          </p:nvPr>
        </p:nvSpPr>
        <p:spPr>
          <a:xfrm>
            <a:off x="398062" y="525845"/>
            <a:ext cx="5628123" cy="722624"/>
          </a:xfrm>
        </p:spPr>
        <p:txBody>
          <a:bodyPr/>
          <a:lstStyle/>
          <a:p>
            <a:r>
              <a:rPr lang="en-US" dirty="0"/>
              <a:t>Specialized Workers: Building .agent.md</a:t>
            </a:r>
          </a:p>
        </p:txBody>
      </p:sp>
      <p:sp>
        <p:nvSpPr>
          <p:cNvPr id="5" name="Text Placeholder 4">
            <a:extLst>
              <a:ext uri="{FF2B5EF4-FFF2-40B4-BE49-F238E27FC236}">
                <a16:creationId xmlns:a16="http://schemas.microsoft.com/office/drawing/2014/main" id="{02D98816-2B36-55B0-5B73-D5C299A9C0C8}"/>
              </a:ext>
            </a:extLst>
          </p:cNvPr>
          <p:cNvSpPr>
            <a:spLocks noGrp="1"/>
          </p:cNvSpPr>
          <p:nvPr>
            <p:ph type="body" sz="quarter" idx="32"/>
          </p:nvPr>
        </p:nvSpPr>
        <p:spPr>
          <a:xfrm>
            <a:off x="7187306" y="5779695"/>
            <a:ext cx="3239551" cy="457200"/>
          </a:xfrm>
        </p:spPr>
        <p:txBody>
          <a:bodyPr/>
          <a:lstStyle/>
          <a:p>
            <a:r>
              <a:rPr lang="en-US" dirty="0"/>
              <a:t>Specialize an agent to a job</a:t>
            </a:r>
          </a:p>
        </p:txBody>
      </p:sp>
      <p:sp>
        <p:nvSpPr>
          <p:cNvPr id="11" name="Text Placeholder 10">
            <a:extLst>
              <a:ext uri="{FF2B5EF4-FFF2-40B4-BE49-F238E27FC236}">
                <a16:creationId xmlns:a16="http://schemas.microsoft.com/office/drawing/2014/main" id="{D75A9C65-325F-4F07-C207-35A2D3DE9FEB}"/>
              </a:ext>
            </a:extLst>
          </p:cNvPr>
          <p:cNvSpPr>
            <a:spLocks noGrp="1"/>
          </p:cNvSpPr>
          <p:nvPr>
            <p:ph type="body" sz="quarter" idx="31"/>
          </p:nvPr>
        </p:nvSpPr>
        <p:spPr>
          <a:xfrm>
            <a:off x="452021" y="822976"/>
            <a:ext cx="5036348" cy="5036238"/>
          </a:xfrm>
        </p:spPr>
        <p:txBody>
          <a:bodyPr/>
          <a:lstStyle/>
          <a:p>
            <a:r>
              <a:rPr lang="en-US" sz="1800" b="1" dirty="0"/>
              <a:t>The .agent.md </a:t>
            </a:r>
            <a:r>
              <a:rPr lang="en-US" sz="1800" dirty="0"/>
              <a:t>File: A new standard to define specialized agents (e.g., @security-expert, @db-optimizer).</a:t>
            </a:r>
          </a:p>
          <a:p>
            <a:r>
              <a:rPr lang="en-US" sz="1800" b="1" dirty="0"/>
              <a:t>What’s Inside?</a:t>
            </a:r>
          </a:p>
          <a:p>
            <a:r>
              <a:rPr lang="en-US" sz="1800" b="1" dirty="0"/>
              <a:t>Persona</a:t>
            </a:r>
            <a:r>
              <a:rPr lang="en-US" sz="1800" dirty="0"/>
              <a:t>: Defines the agent's tone and expertise.</a:t>
            </a:r>
          </a:p>
          <a:p>
            <a:r>
              <a:rPr lang="en-US" sz="1800" b="1" dirty="0"/>
              <a:t>Toolbox: </a:t>
            </a:r>
            <a:r>
              <a:rPr lang="en-US" sz="1800" dirty="0"/>
              <a:t>Lists which "Skills" or APIs the agent can access.</a:t>
            </a:r>
          </a:p>
          <a:p>
            <a:r>
              <a:rPr lang="en-US" sz="1800" b="1" dirty="0"/>
              <a:t>Model Selection: </a:t>
            </a:r>
            <a:r>
              <a:rPr lang="en-US" sz="1800" dirty="0"/>
              <a:t>Specific agents can now be pinned to different models (e.g., GPT-4o for logic, Claude 3.5 for creative refactoring).</a:t>
            </a:r>
          </a:p>
          <a:p>
            <a:r>
              <a:rPr lang="en-US" sz="1800" b="1" dirty="0"/>
              <a:t>Usage</a:t>
            </a:r>
            <a:r>
              <a:rPr lang="en-US" sz="1800" dirty="0"/>
              <a:t>: Simply call them in chat using @name to switch the entire context of the conversation instantly.</a:t>
            </a:r>
          </a:p>
        </p:txBody>
      </p:sp>
      <p:pic>
        <p:nvPicPr>
          <p:cNvPr id="7" name="Picture 6">
            <a:extLst>
              <a:ext uri="{FF2B5EF4-FFF2-40B4-BE49-F238E27FC236}">
                <a16:creationId xmlns:a16="http://schemas.microsoft.com/office/drawing/2014/main" id="{EF76AA26-89E4-1F63-918A-7E8EA7FA5973}"/>
              </a:ext>
            </a:extLst>
          </p:cNvPr>
          <p:cNvPicPr>
            <a:picLocks noChangeAspect="1"/>
          </p:cNvPicPr>
          <p:nvPr/>
        </p:nvPicPr>
        <p:blipFill>
          <a:blip r:embed="rId4"/>
          <a:stretch>
            <a:fillRect/>
          </a:stretch>
        </p:blipFill>
        <p:spPr>
          <a:xfrm>
            <a:off x="5820224" y="1090247"/>
            <a:ext cx="5973714" cy="4665785"/>
          </a:xfrm>
          <a:prstGeom prst="rect">
            <a:avLst/>
          </a:prstGeom>
        </p:spPr>
      </p:pic>
    </p:spTree>
    <p:extLst>
      <p:ext uri="{BB962C8B-B14F-4D97-AF65-F5344CB8AC3E}">
        <p14:creationId xmlns:p14="http://schemas.microsoft.com/office/powerpoint/2010/main" val="109049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8031265-ECA3-81DA-2A1B-3D0FDDB1347B}"/>
              </a:ext>
            </a:extLst>
          </p:cNvPr>
          <p:cNvPicPr>
            <a:picLocks noChangeAspect="1"/>
          </p:cNvPicPr>
          <p:nvPr/>
        </p:nvPicPr>
        <p:blipFill>
          <a:blip r:embed="rId2"/>
          <a:stretch>
            <a:fillRect/>
          </a:stretch>
        </p:blipFill>
        <p:spPr>
          <a:xfrm>
            <a:off x="741480" y="1100153"/>
            <a:ext cx="10336067" cy="5410955"/>
          </a:xfrm>
          <a:prstGeom prst="rect">
            <a:avLst/>
          </a:prstGeom>
        </p:spPr>
      </p:pic>
      <p:sp>
        <p:nvSpPr>
          <p:cNvPr id="14" name="Text Placeholder 1">
            <a:extLst>
              <a:ext uri="{FF2B5EF4-FFF2-40B4-BE49-F238E27FC236}">
                <a16:creationId xmlns:a16="http://schemas.microsoft.com/office/drawing/2014/main" id="{08656AE4-EF58-44DA-8AE1-EF472EFB98B0}"/>
              </a:ext>
            </a:extLst>
          </p:cNvPr>
          <p:cNvSpPr>
            <a:spLocks noGrp="1"/>
          </p:cNvSpPr>
          <p:nvPr>
            <p:ph type="body" sz="quarter" idx="30"/>
          </p:nvPr>
        </p:nvSpPr>
        <p:spPr>
          <a:xfrm>
            <a:off x="-123355" y="346892"/>
            <a:ext cx="12438707" cy="722624"/>
          </a:xfrm>
        </p:spPr>
        <p:txBody>
          <a:bodyPr/>
          <a:lstStyle/>
          <a:p>
            <a:pPr algn="ctr"/>
            <a:r>
              <a:rPr lang="en-US" sz="2400" dirty="0"/>
              <a:t>Build  an agent that’s specialized in doing a job</a:t>
            </a:r>
          </a:p>
        </p:txBody>
      </p:sp>
      <p:sp>
        <p:nvSpPr>
          <p:cNvPr id="15" name="Text Placeholder 1">
            <a:extLst>
              <a:ext uri="{FF2B5EF4-FFF2-40B4-BE49-F238E27FC236}">
                <a16:creationId xmlns:a16="http://schemas.microsoft.com/office/drawing/2014/main" id="{11D69C07-D38E-52EA-5126-EC5952771F4E}"/>
              </a:ext>
            </a:extLst>
          </p:cNvPr>
          <p:cNvSpPr txBox="1">
            <a:spLocks/>
          </p:cNvSpPr>
          <p:nvPr/>
        </p:nvSpPr>
        <p:spPr>
          <a:xfrm>
            <a:off x="4034786" y="5788484"/>
            <a:ext cx="2600476"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Orchestrator Agent</a:t>
            </a:r>
          </a:p>
        </p:txBody>
      </p:sp>
      <p:sp>
        <p:nvSpPr>
          <p:cNvPr id="16" name="Text Placeholder 1">
            <a:extLst>
              <a:ext uri="{FF2B5EF4-FFF2-40B4-BE49-F238E27FC236}">
                <a16:creationId xmlns:a16="http://schemas.microsoft.com/office/drawing/2014/main" id="{5FC6BA07-D9AB-A414-6C1F-A07A0D9C2100}"/>
              </a:ext>
            </a:extLst>
          </p:cNvPr>
          <p:cNvSpPr txBox="1">
            <a:spLocks/>
          </p:cNvSpPr>
          <p:nvPr/>
        </p:nvSpPr>
        <p:spPr>
          <a:xfrm>
            <a:off x="1114453" y="5920721"/>
            <a:ext cx="2600476"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Planner Agent</a:t>
            </a:r>
          </a:p>
        </p:txBody>
      </p:sp>
      <p:sp>
        <p:nvSpPr>
          <p:cNvPr id="17" name="Text Placeholder 1">
            <a:extLst>
              <a:ext uri="{FF2B5EF4-FFF2-40B4-BE49-F238E27FC236}">
                <a16:creationId xmlns:a16="http://schemas.microsoft.com/office/drawing/2014/main" id="{EC9494C2-59F6-4EF5-DCC5-0D60A9D13A4E}"/>
              </a:ext>
            </a:extLst>
          </p:cNvPr>
          <p:cNvSpPr txBox="1">
            <a:spLocks/>
          </p:cNvSpPr>
          <p:nvPr/>
        </p:nvSpPr>
        <p:spPr>
          <a:xfrm>
            <a:off x="6635262" y="5427172"/>
            <a:ext cx="2600476"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Security Agent</a:t>
            </a:r>
          </a:p>
        </p:txBody>
      </p:sp>
      <p:sp>
        <p:nvSpPr>
          <p:cNvPr id="18" name="Text Placeholder 1">
            <a:extLst>
              <a:ext uri="{FF2B5EF4-FFF2-40B4-BE49-F238E27FC236}">
                <a16:creationId xmlns:a16="http://schemas.microsoft.com/office/drawing/2014/main" id="{DAF94F63-874C-BA28-883A-ADF1FF6DA13F}"/>
              </a:ext>
            </a:extLst>
          </p:cNvPr>
          <p:cNvSpPr txBox="1">
            <a:spLocks/>
          </p:cNvSpPr>
          <p:nvPr/>
        </p:nvSpPr>
        <p:spPr>
          <a:xfrm>
            <a:off x="8956853" y="5844383"/>
            <a:ext cx="2600476"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Review Agent</a:t>
            </a:r>
          </a:p>
        </p:txBody>
      </p:sp>
      <p:sp>
        <p:nvSpPr>
          <p:cNvPr id="22" name="Text Placeholder 1">
            <a:extLst>
              <a:ext uri="{FF2B5EF4-FFF2-40B4-BE49-F238E27FC236}">
                <a16:creationId xmlns:a16="http://schemas.microsoft.com/office/drawing/2014/main" id="{B63C8213-54D6-4174-4059-7AA6488E5E5A}"/>
              </a:ext>
            </a:extLst>
          </p:cNvPr>
          <p:cNvSpPr txBox="1">
            <a:spLocks/>
          </p:cNvSpPr>
          <p:nvPr/>
        </p:nvSpPr>
        <p:spPr>
          <a:xfrm>
            <a:off x="9109253" y="5996783"/>
            <a:ext cx="2600476"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400" dirty="0"/>
          </a:p>
        </p:txBody>
      </p:sp>
      <p:sp>
        <p:nvSpPr>
          <p:cNvPr id="23" name="Rectangle 22">
            <a:extLst>
              <a:ext uri="{FF2B5EF4-FFF2-40B4-BE49-F238E27FC236}">
                <a16:creationId xmlns:a16="http://schemas.microsoft.com/office/drawing/2014/main" id="{5440DA63-2E5D-8AD5-2E45-941EFB069046}"/>
              </a:ext>
            </a:extLst>
          </p:cNvPr>
          <p:cNvSpPr/>
          <p:nvPr/>
        </p:nvSpPr>
        <p:spPr>
          <a:xfrm>
            <a:off x="8956853" y="5169877"/>
            <a:ext cx="1089824" cy="31319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62658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6BA64-0E17-DF6B-1437-CA2D332BB6C9}"/>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C28F0DEE-7656-1510-61D2-6F86C628910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673969" y="498232"/>
            <a:ext cx="6260122" cy="5920153"/>
          </a:xfrm>
          <a:prstGeom prst="roundRect">
            <a:avLst>
              <a:gd name="adj" fmla="val 2500"/>
            </a:avLst>
          </a:prstGeom>
          <a:solidFill>
            <a:schemeClr val="bg1"/>
          </a:solidFill>
          <a:ln>
            <a:solidFill>
              <a:schemeClr val="tx2"/>
            </a:solidFill>
          </a:ln>
        </p:spPr>
      </p:pic>
      <p:sp>
        <p:nvSpPr>
          <p:cNvPr id="2" name="Text Placeholder 1">
            <a:extLst>
              <a:ext uri="{FF2B5EF4-FFF2-40B4-BE49-F238E27FC236}">
                <a16:creationId xmlns:a16="http://schemas.microsoft.com/office/drawing/2014/main" id="{ED6BDD09-D98C-5367-2538-DCE09C23DD27}"/>
              </a:ext>
            </a:extLst>
          </p:cNvPr>
          <p:cNvSpPr>
            <a:spLocks noGrp="1"/>
          </p:cNvSpPr>
          <p:nvPr>
            <p:ph type="body" sz="quarter" idx="30"/>
          </p:nvPr>
        </p:nvSpPr>
        <p:spPr>
          <a:xfrm>
            <a:off x="381158" y="424391"/>
            <a:ext cx="5628123" cy="912040"/>
          </a:xfrm>
        </p:spPr>
        <p:txBody>
          <a:bodyPr/>
          <a:lstStyle/>
          <a:p>
            <a:r>
              <a:rPr lang="en-IN" dirty="0"/>
              <a:t>Agent Skills: Teaching Copilot new Capabilities</a:t>
            </a:r>
            <a:endParaRPr lang="en-US" dirty="0"/>
          </a:p>
        </p:txBody>
      </p:sp>
      <p:sp>
        <p:nvSpPr>
          <p:cNvPr id="5" name="Text Placeholder 4">
            <a:extLst>
              <a:ext uri="{FF2B5EF4-FFF2-40B4-BE49-F238E27FC236}">
                <a16:creationId xmlns:a16="http://schemas.microsoft.com/office/drawing/2014/main" id="{AFD5B847-09BE-378A-752E-0CAC3AB36E92}"/>
              </a:ext>
            </a:extLst>
          </p:cNvPr>
          <p:cNvSpPr>
            <a:spLocks noGrp="1"/>
          </p:cNvSpPr>
          <p:nvPr>
            <p:ph type="body" sz="quarter" idx="32"/>
          </p:nvPr>
        </p:nvSpPr>
        <p:spPr>
          <a:xfrm>
            <a:off x="7184254" y="5902568"/>
            <a:ext cx="3239551" cy="457200"/>
          </a:xfrm>
        </p:spPr>
        <p:txBody>
          <a:bodyPr/>
          <a:lstStyle/>
          <a:p>
            <a:r>
              <a:rPr lang="en-US" dirty="0"/>
              <a:t>Let the agent learn from skills </a:t>
            </a:r>
          </a:p>
        </p:txBody>
      </p:sp>
      <p:sp>
        <p:nvSpPr>
          <p:cNvPr id="11" name="Text Placeholder 10">
            <a:extLst>
              <a:ext uri="{FF2B5EF4-FFF2-40B4-BE49-F238E27FC236}">
                <a16:creationId xmlns:a16="http://schemas.microsoft.com/office/drawing/2014/main" id="{F645938A-CEEE-385B-566B-C37BC4EA9D86}"/>
              </a:ext>
            </a:extLst>
          </p:cNvPr>
          <p:cNvSpPr>
            <a:spLocks noGrp="1"/>
          </p:cNvSpPr>
          <p:nvPr>
            <p:ph type="body" sz="quarter" idx="31"/>
          </p:nvPr>
        </p:nvSpPr>
        <p:spPr>
          <a:xfrm>
            <a:off x="466885" y="1203101"/>
            <a:ext cx="5036348" cy="4618839"/>
          </a:xfrm>
        </p:spPr>
        <p:txBody>
          <a:bodyPr/>
          <a:lstStyle/>
          <a:p>
            <a:r>
              <a:rPr lang="en-US" sz="1800" dirty="0"/>
              <a:t>If instructions are </a:t>
            </a:r>
            <a:r>
              <a:rPr lang="en-US" sz="1800" b="1" dirty="0"/>
              <a:t>rules, Skills are competencies</a:t>
            </a:r>
            <a:r>
              <a:rPr lang="en-US" sz="1800" dirty="0"/>
              <a:t>. They are modular, reusable, and follow an open standard across the AI ecosystem.</a:t>
            </a:r>
          </a:p>
          <a:p>
            <a:pPr marL="285750" indent="-285750">
              <a:buFont typeface="Arial" panose="020B0604020202020204" pitchFamily="34" charset="0"/>
              <a:buChar char="•"/>
            </a:pPr>
            <a:r>
              <a:rPr lang="en-IN" sz="1800" dirty="0"/>
              <a:t>Resides in </a:t>
            </a:r>
            <a:r>
              <a:rPr lang="en-IN" b="1" dirty="0"/>
              <a:t>.</a:t>
            </a:r>
            <a:r>
              <a:rPr lang="en-IN" b="1" dirty="0" err="1"/>
              <a:t>github</a:t>
            </a:r>
            <a:r>
              <a:rPr lang="en-IN" b="1" dirty="0"/>
              <a:t>/skills</a:t>
            </a:r>
            <a:r>
              <a:rPr lang="en-IN" dirty="0"/>
              <a:t>/</a:t>
            </a:r>
            <a:r>
              <a:rPr lang="en-IN" sz="1800" dirty="0"/>
              <a:t> in </a:t>
            </a:r>
            <a:r>
              <a:rPr lang="en-IN" dirty="0"/>
              <a:t>SKILL.md</a:t>
            </a:r>
            <a:r>
              <a:rPr lang="en-IN" sz="1800" dirty="0"/>
              <a:t> files.</a:t>
            </a:r>
          </a:p>
          <a:p>
            <a:pPr marL="285750" indent="-285750">
              <a:buFont typeface="Arial" panose="020B0604020202020204" pitchFamily="34" charset="0"/>
              <a:buChar char="•"/>
            </a:pPr>
            <a:r>
              <a:rPr lang="en-US" sz="1800" dirty="0"/>
              <a:t>Contains capabilities, specific step-by-step instructions for a single outcome (e.g., "Deploy to Staging" or "Generate API Docs").</a:t>
            </a:r>
          </a:p>
          <a:p>
            <a:pPr marL="285750" indent="-285750">
              <a:buFont typeface="Arial" panose="020B0604020202020204" pitchFamily="34" charset="0"/>
              <a:buChar char="•"/>
            </a:pPr>
            <a:r>
              <a:rPr lang="en-US" sz="1800" b="1" dirty="0"/>
              <a:t>Semantic Triggering</a:t>
            </a:r>
            <a:r>
              <a:rPr lang="en-US" sz="1800" dirty="0"/>
              <a:t>: Copilot "decides" to use a skill when your prompt matches the skill's described purpose.</a:t>
            </a:r>
          </a:p>
          <a:p>
            <a:pPr marL="285750" indent="-285750">
              <a:buFont typeface="Arial" panose="020B0604020202020204" pitchFamily="34" charset="0"/>
              <a:buChar char="•"/>
            </a:pPr>
            <a:r>
              <a:rPr lang="en-US" sz="1800" b="1" dirty="0"/>
              <a:t>Explicit Invocation</a:t>
            </a:r>
            <a:r>
              <a:rPr lang="en-US" sz="1800" dirty="0"/>
              <a:t>: You can force a skill using @agent /command.</a:t>
            </a:r>
          </a:p>
          <a:p>
            <a:pPr marL="285750" indent="-285750">
              <a:buFont typeface="Arial" panose="020B0604020202020204" pitchFamily="34" charset="0"/>
              <a:buChar char="•"/>
            </a:pPr>
            <a:r>
              <a:rPr lang="en-US" sz="1800" dirty="0"/>
              <a:t>Example: Frontend design skill, MongoDB Skill, </a:t>
            </a:r>
            <a:r>
              <a:rPr lang="en-US" sz="1800" dirty="0" err="1"/>
              <a:t>PPTx</a:t>
            </a:r>
            <a:r>
              <a:rPr lang="en-US" sz="1800" dirty="0"/>
              <a:t> skill, </a:t>
            </a:r>
            <a:r>
              <a:rPr lang="en-US" sz="1800" dirty="0" err="1"/>
              <a:t>etc</a:t>
            </a:r>
            <a:endParaRPr lang="en-US" sz="1800" dirty="0"/>
          </a:p>
        </p:txBody>
      </p:sp>
      <p:pic>
        <p:nvPicPr>
          <p:cNvPr id="8" name="Picture 7">
            <a:extLst>
              <a:ext uri="{FF2B5EF4-FFF2-40B4-BE49-F238E27FC236}">
                <a16:creationId xmlns:a16="http://schemas.microsoft.com/office/drawing/2014/main" id="{1E969B82-9297-6168-772C-245857D7C2C1}"/>
              </a:ext>
            </a:extLst>
          </p:cNvPr>
          <p:cNvPicPr>
            <a:picLocks noChangeAspect="1"/>
          </p:cNvPicPr>
          <p:nvPr/>
        </p:nvPicPr>
        <p:blipFill>
          <a:blip r:embed="rId4"/>
          <a:srcRect r="17648"/>
          <a:stretch>
            <a:fillRect/>
          </a:stretch>
        </p:blipFill>
        <p:spPr>
          <a:xfrm>
            <a:off x="5901346" y="623836"/>
            <a:ext cx="5805368" cy="5211746"/>
          </a:xfrm>
          <a:prstGeom prst="rect">
            <a:avLst/>
          </a:prstGeom>
        </p:spPr>
      </p:pic>
    </p:spTree>
    <p:extLst>
      <p:ext uri="{BB962C8B-B14F-4D97-AF65-F5344CB8AC3E}">
        <p14:creationId xmlns:p14="http://schemas.microsoft.com/office/powerpoint/2010/main" val="2120061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170_190__ROBO (Telugu) - O Maramanishi 4K Upscaled Version - Rajnikanth, Aishwarya Rai">
            <a:hlinkClick r:id="" action="ppaction://media"/>
            <a:extLst>
              <a:ext uri="{FF2B5EF4-FFF2-40B4-BE49-F238E27FC236}">
                <a16:creationId xmlns:a16="http://schemas.microsoft.com/office/drawing/2014/main" id="{FEC8FB85-42C0-A29D-F703-D5621CD150B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13" name="Text Placeholder 1">
            <a:extLst>
              <a:ext uri="{FF2B5EF4-FFF2-40B4-BE49-F238E27FC236}">
                <a16:creationId xmlns:a16="http://schemas.microsoft.com/office/drawing/2014/main" id="{821389E1-0F37-BDA8-9C74-D1E2D89534B1}"/>
              </a:ext>
            </a:extLst>
          </p:cNvPr>
          <p:cNvSpPr txBox="1">
            <a:spLocks/>
          </p:cNvSpPr>
          <p:nvPr/>
        </p:nvSpPr>
        <p:spPr>
          <a:xfrm>
            <a:off x="3281938" y="292629"/>
            <a:ext cx="5628123"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Give Skills to Agent for better results</a:t>
            </a:r>
          </a:p>
        </p:txBody>
      </p:sp>
    </p:spTree>
    <p:extLst>
      <p:ext uri="{BB962C8B-B14F-4D97-AF65-F5344CB8AC3E}">
        <p14:creationId xmlns:p14="http://schemas.microsoft.com/office/powerpoint/2010/main" val="390345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12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B9DC1-FA9B-C092-F434-A1EFE951D4B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E2B772E-C819-D596-D2CC-A71ED9CBD17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557691" y="1226359"/>
            <a:ext cx="5458464" cy="5083687"/>
          </a:xfrm>
          <a:prstGeom prst="roundRect">
            <a:avLst>
              <a:gd name="adj" fmla="val 2500"/>
            </a:avLst>
          </a:prstGeom>
          <a:solidFill>
            <a:schemeClr val="bg1"/>
          </a:solidFill>
          <a:ln>
            <a:solidFill>
              <a:schemeClr val="tx2"/>
            </a:solidFill>
          </a:ln>
        </p:spPr>
      </p:pic>
      <p:sp>
        <p:nvSpPr>
          <p:cNvPr id="2" name="Text Placeholder 1">
            <a:extLst>
              <a:ext uri="{FF2B5EF4-FFF2-40B4-BE49-F238E27FC236}">
                <a16:creationId xmlns:a16="http://schemas.microsoft.com/office/drawing/2014/main" id="{3DEFA113-780B-39A5-9665-6165B1BE24CD}"/>
              </a:ext>
            </a:extLst>
          </p:cNvPr>
          <p:cNvSpPr>
            <a:spLocks noGrp="1"/>
          </p:cNvSpPr>
          <p:nvPr>
            <p:ph type="body" sz="quarter" idx="30"/>
          </p:nvPr>
        </p:nvSpPr>
        <p:spPr>
          <a:xfrm>
            <a:off x="321552" y="340031"/>
            <a:ext cx="5458463" cy="1453725"/>
          </a:xfrm>
        </p:spPr>
        <p:txBody>
          <a:bodyPr/>
          <a:lstStyle/>
          <a:p>
            <a:r>
              <a:rPr lang="en-US" dirty="0"/>
              <a:t>Lifecycle Hooks: Deterministic AI Automation</a:t>
            </a:r>
          </a:p>
        </p:txBody>
      </p:sp>
      <p:sp>
        <p:nvSpPr>
          <p:cNvPr id="11" name="Text Placeholder 10">
            <a:extLst>
              <a:ext uri="{FF2B5EF4-FFF2-40B4-BE49-F238E27FC236}">
                <a16:creationId xmlns:a16="http://schemas.microsoft.com/office/drawing/2014/main" id="{A0EBFAB3-3739-D44F-FF91-4534315B632B}"/>
              </a:ext>
            </a:extLst>
          </p:cNvPr>
          <p:cNvSpPr>
            <a:spLocks noGrp="1"/>
          </p:cNvSpPr>
          <p:nvPr>
            <p:ph type="body" sz="quarter" idx="31"/>
          </p:nvPr>
        </p:nvSpPr>
        <p:spPr>
          <a:xfrm>
            <a:off x="318435" y="1793756"/>
            <a:ext cx="6239256" cy="4207034"/>
          </a:xfrm>
        </p:spPr>
        <p:txBody>
          <a:bodyPr/>
          <a:lstStyle/>
          <a:p>
            <a:r>
              <a:rPr lang="en-US" sz="1800" dirty="0"/>
              <a:t>Hooks are "event listeners" </a:t>
            </a:r>
            <a:r>
              <a:rPr lang="en-US" sz="1800" b="1" dirty="0"/>
              <a:t>that allow you to intercept, modify, or validate Copilot's behavio</a:t>
            </a:r>
            <a:r>
              <a:rPr lang="en-US" sz="1800" dirty="0"/>
              <a:t>r at specific stages of the developer workflow.</a:t>
            </a:r>
          </a:p>
          <a:p>
            <a:r>
              <a:rPr lang="en-US" sz="1800" b="1" dirty="0"/>
              <a:t>Safety: </a:t>
            </a:r>
            <a:r>
              <a:rPr lang="en-US" sz="1800" dirty="0"/>
              <a:t>Prevents the execution of destructive commands (e.g., rm -rf).</a:t>
            </a:r>
          </a:p>
          <a:p>
            <a:r>
              <a:rPr lang="en-US" sz="1800" b="1" dirty="0"/>
              <a:t>Consistency: </a:t>
            </a:r>
            <a:r>
              <a:rPr lang="en-US" sz="1800" dirty="0"/>
              <a:t>Ensures every piece of AI-generated code automatically adheres to your project's formatting standards.</a:t>
            </a:r>
          </a:p>
          <a:p>
            <a:r>
              <a:rPr lang="en-US" sz="1800" b="1" dirty="0"/>
              <a:t>Context Enrichment: </a:t>
            </a:r>
            <a:r>
              <a:rPr lang="en-US" sz="1800" dirty="0"/>
              <a:t>Automatically fetches relevant logs or Jira tickets based on what the user is asking.</a:t>
            </a:r>
          </a:p>
          <a:p>
            <a:r>
              <a:rPr lang="en-US" sz="1800" dirty="0"/>
              <a:t>Primary hooks: </a:t>
            </a:r>
            <a:r>
              <a:rPr lang="en-US" sz="1800" i="1" dirty="0" err="1"/>
              <a:t>on_prompt</a:t>
            </a:r>
            <a:r>
              <a:rPr lang="en-US" sz="1800" i="1" dirty="0"/>
              <a:t>, </a:t>
            </a:r>
            <a:r>
              <a:rPr lang="en-US" sz="1800" i="1" dirty="0" err="1"/>
              <a:t>pre_action</a:t>
            </a:r>
            <a:r>
              <a:rPr lang="en-US" sz="1800" i="1" dirty="0"/>
              <a:t>, </a:t>
            </a:r>
            <a:r>
              <a:rPr lang="en-US" sz="1800" i="1" dirty="0" err="1"/>
              <a:t>post_action</a:t>
            </a:r>
            <a:endParaRPr lang="en-US" sz="1800" i="1" dirty="0"/>
          </a:p>
          <a:p>
            <a:endParaRPr lang="en-US" sz="1800" i="1" dirty="0"/>
          </a:p>
          <a:p>
            <a:r>
              <a:rPr lang="en-US" sz="1800" i="1" dirty="0"/>
              <a:t>While Instructions guide the mind, Hooks control the hands, ensuring every action is safe, formatted, and verified.</a:t>
            </a:r>
          </a:p>
        </p:txBody>
      </p:sp>
      <p:pic>
        <p:nvPicPr>
          <p:cNvPr id="3" name="Picture 2" descr="Screenshot showing hook configuration Quick Pick.">
            <a:extLst>
              <a:ext uri="{FF2B5EF4-FFF2-40B4-BE49-F238E27FC236}">
                <a16:creationId xmlns:a16="http://schemas.microsoft.com/office/drawing/2014/main" id="{DC403DC1-9228-C7BC-4AE0-189BBD40F61D}"/>
              </a:ext>
            </a:extLst>
          </p:cNvPr>
          <p:cNvPicPr>
            <a:picLocks noChangeAspect="1"/>
          </p:cNvPicPr>
          <p:nvPr/>
        </p:nvPicPr>
        <p:blipFill>
          <a:blip r:embed="rId4"/>
          <a:srcRect l="20357" r="38676"/>
          <a:stretch>
            <a:fillRect/>
          </a:stretch>
        </p:blipFill>
        <p:spPr>
          <a:xfrm>
            <a:off x="6789575" y="1406097"/>
            <a:ext cx="4994696" cy="4045806"/>
          </a:xfrm>
          <a:prstGeom prst="rect">
            <a:avLst/>
          </a:prstGeom>
        </p:spPr>
      </p:pic>
      <p:sp>
        <p:nvSpPr>
          <p:cNvPr id="5" name="Text Placeholder 4">
            <a:extLst>
              <a:ext uri="{FF2B5EF4-FFF2-40B4-BE49-F238E27FC236}">
                <a16:creationId xmlns:a16="http://schemas.microsoft.com/office/drawing/2014/main" id="{3270CA25-CA47-7831-0565-AB3D77E69CF1}"/>
              </a:ext>
            </a:extLst>
          </p:cNvPr>
          <p:cNvSpPr>
            <a:spLocks noGrp="1"/>
          </p:cNvSpPr>
          <p:nvPr>
            <p:ph type="body" sz="quarter" idx="32"/>
          </p:nvPr>
        </p:nvSpPr>
        <p:spPr>
          <a:xfrm>
            <a:off x="7969701" y="5652374"/>
            <a:ext cx="3239551" cy="457200"/>
          </a:xfrm>
        </p:spPr>
        <p:txBody>
          <a:bodyPr/>
          <a:lstStyle/>
          <a:p>
            <a:r>
              <a:rPr lang="en-US" dirty="0"/>
              <a:t>Control your copilot actions</a:t>
            </a:r>
          </a:p>
        </p:txBody>
      </p:sp>
    </p:spTree>
    <p:extLst>
      <p:ext uri="{BB962C8B-B14F-4D97-AF65-F5344CB8AC3E}">
        <p14:creationId xmlns:p14="http://schemas.microsoft.com/office/powerpoint/2010/main" val="1499613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20260417-0600-35.1564390">
            <a:hlinkClick r:id="" action="ppaction://media"/>
            <a:extLst>
              <a:ext uri="{FF2B5EF4-FFF2-40B4-BE49-F238E27FC236}">
                <a16:creationId xmlns:a16="http://schemas.microsoft.com/office/drawing/2014/main" id="{386256B7-1B90-B4E8-63D3-AA8D8EA750B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491" y="0"/>
            <a:ext cx="12202492" cy="6823887"/>
          </a:xfrm>
          <a:prstGeom prst="rect">
            <a:avLst/>
          </a:prstGeom>
        </p:spPr>
      </p:pic>
      <p:sp>
        <p:nvSpPr>
          <p:cNvPr id="15" name="Text Placeholder 1">
            <a:extLst>
              <a:ext uri="{FF2B5EF4-FFF2-40B4-BE49-F238E27FC236}">
                <a16:creationId xmlns:a16="http://schemas.microsoft.com/office/drawing/2014/main" id="{DD43A5B4-4B83-2FFC-5897-3B16F04A65B7}"/>
              </a:ext>
            </a:extLst>
          </p:cNvPr>
          <p:cNvSpPr txBox="1">
            <a:spLocks/>
          </p:cNvSpPr>
          <p:nvPr/>
        </p:nvSpPr>
        <p:spPr>
          <a:xfrm>
            <a:off x="2390555" y="163675"/>
            <a:ext cx="7400399" cy="722624"/>
          </a:xfrm>
          <a:prstGeom prst="rect">
            <a:avLst/>
          </a:prstGeom>
        </p:spPr>
        <p:txBody>
          <a:bodyPr vert="horz" lIns="91440" tIns="45720" rIns="91440" bIns="45720" rtlCol="0" anchor="t" anchorCtr="0">
            <a:noAutofit/>
          </a:bodyPr>
          <a:lstStyle>
            <a:lvl1pPr marL="0" indent="0" algn="l" defTabSz="914400" rtl="0" eaLnBrk="1" latinLnBrk="0" hangingPunct="1">
              <a:lnSpc>
                <a:spcPct val="80000"/>
              </a:lnSpc>
              <a:spcBef>
                <a:spcPts val="1000"/>
              </a:spcBef>
              <a:buFont typeface="Arial" panose="020B0604020202020204" pitchFamily="34" charset="0"/>
              <a:buNone/>
              <a:defRPr sz="3600" b="1"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t>Hooks prevent these unauthorized actions</a:t>
            </a:r>
          </a:p>
        </p:txBody>
      </p:sp>
      <p:sp>
        <p:nvSpPr>
          <p:cNvPr id="16" name="Rectangle 15">
            <a:extLst>
              <a:ext uri="{FF2B5EF4-FFF2-40B4-BE49-F238E27FC236}">
                <a16:creationId xmlns:a16="http://schemas.microsoft.com/office/drawing/2014/main" id="{84954167-384C-6B51-64A1-30C9E95DCC76}"/>
              </a:ext>
            </a:extLst>
          </p:cNvPr>
          <p:cNvSpPr/>
          <p:nvPr/>
        </p:nvSpPr>
        <p:spPr>
          <a:xfrm>
            <a:off x="10398369" y="5298831"/>
            <a:ext cx="1277816" cy="38686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79295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41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A1B08-7B00-BE9E-5E13-BB846C30C7C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64F271F-EF79-0AFB-7BC6-E1312E8F07D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009281" y="887157"/>
            <a:ext cx="5263744" cy="5083686"/>
          </a:xfrm>
          <a:prstGeom prst="roundRect">
            <a:avLst>
              <a:gd name="adj" fmla="val 2500"/>
            </a:avLst>
          </a:prstGeom>
          <a:solidFill>
            <a:schemeClr val="bg1"/>
          </a:solidFill>
          <a:ln>
            <a:solidFill>
              <a:schemeClr val="tx2"/>
            </a:solidFill>
          </a:ln>
        </p:spPr>
      </p:pic>
      <p:sp>
        <p:nvSpPr>
          <p:cNvPr id="2" name="Text Placeholder 2">
            <a:extLst>
              <a:ext uri="{FF2B5EF4-FFF2-40B4-BE49-F238E27FC236}">
                <a16:creationId xmlns:a16="http://schemas.microsoft.com/office/drawing/2014/main" id="{B5AF2A28-BADE-F92E-2E30-C552083ED043}"/>
              </a:ext>
            </a:extLst>
          </p:cNvPr>
          <p:cNvSpPr txBox="1">
            <a:spLocks/>
          </p:cNvSpPr>
          <p:nvPr/>
        </p:nvSpPr>
        <p:spPr>
          <a:xfrm>
            <a:off x="461976" y="1452309"/>
            <a:ext cx="4764542" cy="1619507"/>
          </a:xfrm>
          <a:prstGeom prst="rect">
            <a:avLst/>
          </a:prstGeom>
        </p:spPr>
        <p:txBody>
          <a:bodyPr lIns="91440" tIns="45720" rIns="91440" bIns="4572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rPr>
              <a:t>Extend agent mode with Model Context Protocol (MCP)</a:t>
            </a:r>
            <a:endParaRPr kumimoji="0" lang="en-US" sz="22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a:t>
            </a:r>
          </a:p>
        </p:txBody>
      </p:sp>
      <p:grpSp>
        <p:nvGrpSpPr>
          <p:cNvPr id="11" name="Group 10">
            <a:extLst>
              <a:ext uri="{FF2B5EF4-FFF2-40B4-BE49-F238E27FC236}">
                <a16:creationId xmlns:a16="http://schemas.microsoft.com/office/drawing/2014/main" id="{C8EF837D-4165-159C-83D1-51A301FA751A}"/>
              </a:ext>
            </a:extLst>
          </p:cNvPr>
          <p:cNvGrpSpPr/>
          <p:nvPr/>
        </p:nvGrpSpPr>
        <p:grpSpPr>
          <a:xfrm>
            <a:off x="344544" y="679189"/>
            <a:ext cx="2119647" cy="415936"/>
            <a:chOff x="768032" y="5970843"/>
            <a:chExt cx="2119647" cy="415936"/>
          </a:xfrm>
        </p:grpSpPr>
        <p:sp>
          <p:nvSpPr>
            <p:cNvPr id="12" name="Rounded Rectangle 11">
              <a:extLst>
                <a:ext uri="{FF2B5EF4-FFF2-40B4-BE49-F238E27FC236}">
                  <a16:creationId xmlns:a16="http://schemas.microsoft.com/office/drawing/2014/main" id="{13B2D785-53A7-2704-D829-3AAAA8CE385B}"/>
                </a:ext>
              </a:extLst>
            </p:cNvPr>
            <p:cNvSpPr/>
            <p:nvPr/>
          </p:nvSpPr>
          <p:spPr>
            <a:xfrm>
              <a:off x="768032" y="5970843"/>
              <a:ext cx="2119647"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rPr>
                <a:t>       MCP Extensibility</a:t>
              </a:r>
              <a:endParaRPr kumimoji="0" lang="en-US" sz="1600"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nvGrpSpPr>
            <p:cNvPr id="13" name="Google Shape;1693;p69">
              <a:extLst>
                <a:ext uri="{FF2B5EF4-FFF2-40B4-BE49-F238E27FC236}">
                  <a16:creationId xmlns:a16="http://schemas.microsoft.com/office/drawing/2014/main" id="{412FA1D1-6D4A-0826-78F3-68FF8801C809}"/>
                </a:ext>
              </a:extLst>
            </p:cNvPr>
            <p:cNvGrpSpPr/>
            <p:nvPr/>
          </p:nvGrpSpPr>
          <p:grpSpPr>
            <a:xfrm>
              <a:off x="918288" y="6094225"/>
              <a:ext cx="192384" cy="160586"/>
              <a:chOff x="690700" y="246575"/>
              <a:chExt cx="6228425" cy="5199000"/>
            </a:xfrm>
          </p:grpSpPr>
          <p:sp>
            <p:nvSpPr>
              <p:cNvPr id="14" name="Google Shape;1694;p69">
                <a:extLst>
                  <a:ext uri="{FF2B5EF4-FFF2-40B4-BE49-F238E27FC236}">
                    <a16:creationId xmlns:a16="http://schemas.microsoft.com/office/drawing/2014/main" id="{4E5C0DD1-3554-4C17-65E0-177BFE586F57}"/>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15" name="Google Shape;1695;p69">
                <a:extLst>
                  <a:ext uri="{FF2B5EF4-FFF2-40B4-BE49-F238E27FC236}">
                    <a16:creationId xmlns:a16="http://schemas.microsoft.com/office/drawing/2014/main" id="{006B5CA3-27D7-3AAE-E9C0-6D4F2572E97F}"/>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16" name="Google Shape;1696;p69">
                <a:extLst>
                  <a:ext uri="{FF2B5EF4-FFF2-40B4-BE49-F238E27FC236}">
                    <a16:creationId xmlns:a16="http://schemas.microsoft.com/office/drawing/2014/main" id="{9323B0B9-2E0E-0E9B-00CD-349CB784B95F}"/>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grpSp>
      <p:sp>
        <p:nvSpPr>
          <p:cNvPr id="3" name="TextBox 2">
            <a:extLst>
              <a:ext uri="{FF2B5EF4-FFF2-40B4-BE49-F238E27FC236}">
                <a16:creationId xmlns:a16="http://schemas.microsoft.com/office/drawing/2014/main" id="{376D5F61-2834-E48E-84F3-F810129CA4DC}"/>
              </a:ext>
            </a:extLst>
          </p:cNvPr>
          <p:cNvSpPr txBox="1"/>
          <p:nvPr/>
        </p:nvSpPr>
        <p:spPr>
          <a:xfrm>
            <a:off x="494800" y="3101124"/>
            <a:ext cx="4929580" cy="2062103"/>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Make agent mode your own by adding tools contributed by MCP servers like Figma, GitHub, or Perplexity.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VS Code is the </a:t>
            </a:r>
            <a:r>
              <a:rPr kumimoji="0" lang="en-US" sz="1600" b="0" i="1"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only</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editor to support the full MCP specification, including OAuth, prompts, sampling, resources, and MCP Apps.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FFFFFE"/>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CF842C7C-59A7-70B5-84CE-EC3E0DBBE37A}"/>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009281" y="1178386"/>
            <a:ext cx="5263744" cy="4630066"/>
          </a:xfrm>
          <a:prstGeom prst="rect">
            <a:avLst/>
          </a:prstGeom>
        </p:spPr>
      </p:pic>
    </p:spTree>
    <p:extLst>
      <p:ext uri="{BB962C8B-B14F-4D97-AF65-F5344CB8AC3E}">
        <p14:creationId xmlns:p14="http://schemas.microsoft.com/office/powerpoint/2010/main" val="3388770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D0FF-9C2B-70DB-8504-E27C58FA490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E69B893-16AE-0A43-6705-17D0CD775579}"/>
              </a:ext>
            </a:extLst>
          </p:cNvPr>
          <p:cNvPicPr>
            <a:picLocks noChangeAspect="1"/>
          </p:cNvPicPr>
          <p:nvPr/>
        </p:nvPicPr>
        <p:blipFill>
          <a:blip r:embed="rId3" cstate="screen">
            <a:extLst>
              <a:ext uri="{28A0092B-C50C-407E-A947-70E740481C1C}">
                <a14:useLocalDpi xmlns:a14="http://schemas.microsoft.com/office/drawing/2010/main"/>
              </a:ext>
            </a:extLst>
          </a:blip>
          <a:srcRect t="53698"/>
          <a:stretch>
            <a:fillRect/>
          </a:stretch>
        </p:blipFill>
        <p:spPr>
          <a:xfrm>
            <a:off x="679270" y="808876"/>
            <a:ext cx="10593756" cy="5779566"/>
          </a:xfrm>
          <a:prstGeom prst="roundRect">
            <a:avLst>
              <a:gd name="adj" fmla="val 2500"/>
            </a:avLst>
          </a:prstGeom>
          <a:solidFill>
            <a:schemeClr val="bg1"/>
          </a:solidFill>
          <a:ln>
            <a:solidFill>
              <a:schemeClr val="tx2"/>
            </a:solidFill>
          </a:ln>
        </p:spPr>
      </p:pic>
      <p:grpSp>
        <p:nvGrpSpPr>
          <p:cNvPr id="11" name="Group 10">
            <a:extLst>
              <a:ext uri="{FF2B5EF4-FFF2-40B4-BE49-F238E27FC236}">
                <a16:creationId xmlns:a16="http://schemas.microsoft.com/office/drawing/2014/main" id="{7796796C-C0DE-9031-700D-157FE39ED184}"/>
              </a:ext>
            </a:extLst>
          </p:cNvPr>
          <p:cNvGrpSpPr/>
          <p:nvPr/>
        </p:nvGrpSpPr>
        <p:grpSpPr>
          <a:xfrm>
            <a:off x="590729" y="269558"/>
            <a:ext cx="2119647" cy="415936"/>
            <a:chOff x="768032" y="5970843"/>
            <a:chExt cx="2119647" cy="415936"/>
          </a:xfrm>
        </p:grpSpPr>
        <p:sp>
          <p:nvSpPr>
            <p:cNvPr id="12" name="Rounded Rectangle 11">
              <a:extLst>
                <a:ext uri="{FF2B5EF4-FFF2-40B4-BE49-F238E27FC236}">
                  <a16:creationId xmlns:a16="http://schemas.microsoft.com/office/drawing/2014/main" id="{DE5B3532-4D67-FA13-2229-56D8D2DD67D6}"/>
                </a:ext>
              </a:extLst>
            </p:cNvPr>
            <p:cNvSpPr/>
            <p:nvPr/>
          </p:nvSpPr>
          <p:spPr>
            <a:xfrm>
              <a:off x="768032" y="5970843"/>
              <a:ext cx="2119647"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rPr>
                <a:t>       MCP Extensibility</a:t>
              </a:r>
              <a:endParaRPr kumimoji="0" lang="en-US" sz="1600"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nvGrpSpPr>
            <p:cNvPr id="13" name="Google Shape;1693;p69">
              <a:extLst>
                <a:ext uri="{FF2B5EF4-FFF2-40B4-BE49-F238E27FC236}">
                  <a16:creationId xmlns:a16="http://schemas.microsoft.com/office/drawing/2014/main" id="{3773CF60-2D77-5BEB-B12E-BAFA279A9748}"/>
                </a:ext>
              </a:extLst>
            </p:cNvPr>
            <p:cNvGrpSpPr/>
            <p:nvPr/>
          </p:nvGrpSpPr>
          <p:grpSpPr>
            <a:xfrm>
              <a:off x="918288" y="6094225"/>
              <a:ext cx="192384" cy="160586"/>
              <a:chOff x="690700" y="246575"/>
              <a:chExt cx="6228425" cy="5199000"/>
            </a:xfrm>
          </p:grpSpPr>
          <p:sp>
            <p:nvSpPr>
              <p:cNvPr id="14" name="Google Shape;1694;p69">
                <a:extLst>
                  <a:ext uri="{FF2B5EF4-FFF2-40B4-BE49-F238E27FC236}">
                    <a16:creationId xmlns:a16="http://schemas.microsoft.com/office/drawing/2014/main" id="{34BEDDAC-92A3-5DE3-6861-AFE5A384BF10}"/>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15" name="Google Shape;1695;p69">
                <a:extLst>
                  <a:ext uri="{FF2B5EF4-FFF2-40B4-BE49-F238E27FC236}">
                    <a16:creationId xmlns:a16="http://schemas.microsoft.com/office/drawing/2014/main" id="{75B0DC95-CB97-1997-191C-0F2615AEDE79}"/>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16" name="Google Shape;1696;p69">
                <a:extLst>
                  <a:ext uri="{FF2B5EF4-FFF2-40B4-BE49-F238E27FC236}">
                    <a16:creationId xmlns:a16="http://schemas.microsoft.com/office/drawing/2014/main" id="{6437A136-8D1F-FF34-2F82-E2B0C4A24BCE}"/>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grpSp>
      <p:pic>
        <p:nvPicPr>
          <p:cNvPr id="5" name="Picture 4">
            <a:extLst>
              <a:ext uri="{FF2B5EF4-FFF2-40B4-BE49-F238E27FC236}">
                <a16:creationId xmlns:a16="http://schemas.microsoft.com/office/drawing/2014/main" id="{10929394-DB55-EECC-4399-B7067ABB0969}"/>
              </a:ext>
            </a:extLst>
          </p:cNvPr>
          <p:cNvPicPr>
            <a:picLocks noChangeAspect="1"/>
          </p:cNvPicPr>
          <p:nvPr/>
        </p:nvPicPr>
        <p:blipFill>
          <a:blip r:embed="rId4"/>
          <a:stretch>
            <a:fillRect/>
          </a:stretch>
        </p:blipFill>
        <p:spPr>
          <a:xfrm>
            <a:off x="776780" y="951564"/>
            <a:ext cx="10398736" cy="5513496"/>
          </a:xfrm>
          <a:prstGeom prst="rect">
            <a:avLst/>
          </a:prstGeom>
        </p:spPr>
      </p:pic>
    </p:spTree>
    <p:extLst>
      <p:ext uri="{BB962C8B-B14F-4D97-AF65-F5344CB8AC3E}">
        <p14:creationId xmlns:p14="http://schemas.microsoft.com/office/powerpoint/2010/main" val="482894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A3CF-89B8-B56D-49FC-5C5C99874BF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5889B8A-D2E7-2148-0375-526336E536DD}"/>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243985" y="1015343"/>
            <a:ext cx="7718547" cy="5083687"/>
          </a:xfrm>
          <a:prstGeom prst="roundRect">
            <a:avLst>
              <a:gd name="adj" fmla="val 2500"/>
            </a:avLst>
          </a:prstGeom>
          <a:solidFill>
            <a:schemeClr val="bg1"/>
          </a:solidFill>
          <a:ln>
            <a:solidFill>
              <a:schemeClr val="tx2"/>
            </a:solidFill>
          </a:ln>
        </p:spPr>
      </p:pic>
      <p:sp>
        <p:nvSpPr>
          <p:cNvPr id="2" name="Text Placeholder 1">
            <a:extLst>
              <a:ext uri="{FF2B5EF4-FFF2-40B4-BE49-F238E27FC236}">
                <a16:creationId xmlns:a16="http://schemas.microsoft.com/office/drawing/2014/main" id="{55587DFB-5E66-02B9-5FD6-F21AFBAC2A37}"/>
              </a:ext>
            </a:extLst>
          </p:cNvPr>
          <p:cNvSpPr>
            <a:spLocks noGrp="1"/>
          </p:cNvSpPr>
          <p:nvPr>
            <p:ph type="body" sz="quarter" idx="30"/>
          </p:nvPr>
        </p:nvSpPr>
        <p:spPr>
          <a:xfrm>
            <a:off x="229468" y="1101906"/>
            <a:ext cx="3255601" cy="3953765"/>
          </a:xfrm>
        </p:spPr>
        <p:txBody>
          <a:bodyPr/>
          <a:lstStyle/>
          <a:p>
            <a:r>
              <a:rPr lang="en-US" dirty="0"/>
              <a:t>/Plugins</a:t>
            </a:r>
          </a:p>
        </p:txBody>
      </p:sp>
      <p:sp>
        <p:nvSpPr>
          <p:cNvPr id="11" name="Text Placeholder 10">
            <a:extLst>
              <a:ext uri="{FF2B5EF4-FFF2-40B4-BE49-F238E27FC236}">
                <a16:creationId xmlns:a16="http://schemas.microsoft.com/office/drawing/2014/main" id="{F1387FE7-711A-F095-4E59-DC62BC743656}"/>
              </a:ext>
            </a:extLst>
          </p:cNvPr>
          <p:cNvSpPr>
            <a:spLocks noGrp="1"/>
          </p:cNvSpPr>
          <p:nvPr>
            <p:ph type="body" sz="quarter" idx="31"/>
          </p:nvPr>
        </p:nvSpPr>
        <p:spPr>
          <a:xfrm>
            <a:off x="485137" y="1604624"/>
            <a:ext cx="3255602" cy="1115466"/>
          </a:xfrm>
        </p:spPr>
        <p:txBody>
          <a:bodyPr/>
          <a:lstStyle/>
          <a:p>
            <a:r>
              <a:rPr lang="en-US" dirty="0"/>
              <a:t>Prepackaged bundles of chat customizations. Plugins can contain skills, commands, agents, MCP servers, and hooks.</a:t>
            </a:r>
          </a:p>
        </p:txBody>
      </p:sp>
      <p:pic>
        <p:nvPicPr>
          <p:cNvPr id="4" name="Picture 3" descr="Screenshot showing the Agent Plugins view in VS Code.">
            <a:extLst>
              <a:ext uri="{FF2B5EF4-FFF2-40B4-BE49-F238E27FC236}">
                <a16:creationId xmlns:a16="http://schemas.microsoft.com/office/drawing/2014/main" id="{2CD2DA1E-9D41-6F71-4C98-28941B3590B1}"/>
              </a:ext>
            </a:extLst>
          </p:cNvPr>
          <p:cNvPicPr>
            <a:picLocks noChangeAspect="1"/>
          </p:cNvPicPr>
          <p:nvPr/>
        </p:nvPicPr>
        <p:blipFill>
          <a:blip r:embed="rId4"/>
          <a:srcRect r="13307"/>
          <a:stretch>
            <a:fillRect/>
          </a:stretch>
        </p:blipFill>
        <p:spPr>
          <a:xfrm>
            <a:off x="4369802" y="1101906"/>
            <a:ext cx="7337062" cy="4890779"/>
          </a:xfrm>
          <a:prstGeom prst="rect">
            <a:avLst/>
          </a:prstGeom>
        </p:spPr>
      </p:pic>
    </p:spTree>
    <p:extLst>
      <p:ext uri="{BB962C8B-B14F-4D97-AF65-F5344CB8AC3E}">
        <p14:creationId xmlns:p14="http://schemas.microsoft.com/office/powerpoint/2010/main" val="2275152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5DC0-E99D-D691-10CD-353EF5F6FD1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8F447E0-17EB-A9E2-5199-A52B4E11914D}"/>
              </a:ext>
            </a:extLst>
          </p:cNvPr>
          <p:cNvGrpSpPr/>
          <p:nvPr/>
        </p:nvGrpSpPr>
        <p:grpSpPr>
          <a:xfrm>
            <a:off x="756379" y="1278711"/>
            <a:ext cx="2560753" cy="415936"/>
            <a:chOff x="768033" y="5970843"/>
            <a:chExt cx="2560753" cy="415936"/>
          </a:xfrm>
        </p:grpSpPr>
        <p:sp>
          <p:nvSpPr>
            <p:cNvPr id="4" name="Rounded Rectangle 3">
              <a:extLst>
                <a:ext uri="{FF2B5EF4-FFF2-40B4-BE49-F238E27FC236}">
                  <a16:creationId xmlns:a16="http://schemas.microsoft.com/office/drawing/2014/main" id="{BA91FFBC-45C2-35AE-164D-3E5C2244FB31}"/>
                </a:ext>
              </a:extLst>
            </p:cNvPr>
            <p:cNvSpPr/>
            <p:nvPr/>
          </p:nvSpPr>
          <p:spPr>
            <a:xfrm>
              <a:off x="768033" y="5970843"/>
              <a:ext cx="2560753"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FFFFFE"/>
                  </a:solidFill>
                  <a:latin typeface="Segoe UI" panose="020B0502040204020203" pitchFamily="34" charset="0"/>
                  <a:cs typeface="Segoe UI" panose="020B0502040204020203" pitchFamily="34" charset="0"/>
                </a:rPr>
                <a:t>     Awesome Copilot</a:t>
              </a:r>
              <a:endPar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nvGrpSpPr>
            <p:cNvPr id="5" name="Google Shape;1693;p69">
              <a:extLst>
                <a:ext uri="{FF2B5EF4-FFF2-40B4-BE49-F238E27FC236}">
                  <a16:creationId xmlns:a16="http://schemas.microsoft.com/office/drawing/2014/main" id="{333D0242-5AA9-757E-9BFB-2708A947E39B}"/>
                </a:ext>
              </a:extLst>
            </p:cNvPr>
            <p:cNvGrpSpPr/>
            <p:nvPr/>
          </p:nvGrpSpPr>
          <p:grpSpPr>
            <a:xfrm>
              <a:off x="918288" y="6094225"/>
              <a:ext cx="192384" cy="160586"/>
              <a:chOff x="690700" y="246575"/>
              <a:chExt cx="6228425" cy="5199000"/>
            </a:xfrm>
          </p:grpSpPr>
          <p:sp>
            <p:nvSpPr>
              <p:cNvPr id="6" name="Google Shape;1694;p69">
                <a:extLst>
                  <a:ext uri="{FF2B5EF4-FFF2-40B4-BE49-F238E27FC236}">
                    <a16:creationId xmlns:a16="http://schemas.microsoft.com/office/drawing/2014/main" id="{4551E363-C360-EEF6-1315-3A455ACB1551}"/>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7" name="Google Shape;1695;p69">
                <a:extLst>
                  <a:ext uri="{FF2B5EF4-FFF2-40B4-BE49-F238E27FC236}">
                    <a16:creationId xmlns:a16="http://schemas.microsoft.com/office/drawing/2014/main" id="{A0BCCD2C-A132-CF13-B670-EDA2451DC46E}"/>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8" name="Google Shape;1696;p69">
                <a:extLst>
                  <a:ext uri="{FF2B5EF4-FFF2-40B4-BE49-F238E27FC236}">
                    <a16:creationId xmlns:a16="http://schemas.microsoft.com/office/drawing/2014/main" id="{E029732A-B860-E620-555D-C80B9CB5AC91}"/>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grpSp>
      <p:sp>
        <p:nvSpPr>
          <p:cNvPr id="12" name="Text Placeholder 2">
            <a:extLst>
              <a:ext uri="{FF2B5EF4-FFF2-40B4-BE49-F238E27FC236}">
                <a16:creationId xmlns:a16="http://schemas.microsoft.com/office/drawing/2014/main" id="{CDFA880D-D6EB-CE9E-61D7-6267B714D80A}"/>
              </a:ext>
            </a:extLst>
          </p:cNvPr>
          <p:cNvSpPr txBox="1">
            <a:spLocks/>
          </p:cNvSpPr>
          <p:nvPr/>
        </p:nvSpPr>
        <p:spPr>
          <a:xfrm>
            <a:off x="710622" y="1930465"/>
            <a:ext cx="4462269" cy="1366560"/>
          </a:xfrm>
          <a:prstGeom prst="rect">
            <a:avLst/>
          </a:prstGeom>
        </p:spPr>
        <p:txBody>
          <a:bodyPr lIns="91440" tIns="45720" rIns="91440" bIns="4572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Community powered agents, instructions, skills, hooks, workflows, and more!</a:t>
            </a:r>
          </a:p>
        </p:txBody>
      </p:sp>
      <p:pic>
        <p:nvPicPr>
          <p:cNvPr id="13" name="Picture 12">
            <a:extLst>
              <a:ext uri="{FF2B5EF4-FFF2-40B4-BE49-F238E27FC236}">
                <a16:creationId xmlns:a16="http://schemas.microsoft.com/office/drawing/2014/main" id="{7E89681F-50BF-6D6B-5008-7225C0AB206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965926" y="887156"/>
            <a:ext cx="7038505" cy="5083687"/>
          </a:xfrm>
          <a:prstGeom prst="roundRect">
            <a:avLst>
              <a:gd name="adj" fmla="val 2500"/>
            </a:avLst>
          </a:prstGeom>
          <a:solidFill>
            <a:schemeClr val="bg1"/>
          </a:solidFill>
          <a:ln>
            <a:solidFill>
              <a:schemeClr val="tx2"/>
            </a:solidFill>
          </a:ln>
        </p:spPr>
      </p:pic>
      <p:pic>
        <p:nvPicPr>
          <p:cNvPr id="10" name="Picture 9">
            <a:extLst>
              <a:ext uri="{FF2B5EF4-FFF2-40B4-BE49-F238E27FC236}">
                <a16:creationId xmlns:a16="http://schemas.microsoft.com/office/drawing/2014/main" id="{BCA9110A-D8F7-E7E0-01E0-6B544D4B2657}"/>
              </a:ext>
            </a:extLst>
          </p:cNvPr>
          <p:cNvPicPr>
            <a:picLocks noChangeAspect="1"/>
          </p:cNvPicPr>
          <p:nvPr/>
        </p:nvPicPr>
        <p:blipFill>
          <a:blip r:embed="rId4"/>
          <a:stretch>
            <a:fillRect/>
          </a:stretch>
        </p:blipFill>
        <p:spPr>
          <a:xfrm>
            <a:off x="5323146" y="1016254"/>
            <a:ext cx="6280233" cy="4825489"/>
          </a:xfrm>
          <a:prstGeom prst="rect">
            <a:avLst/>
          </a:prstGeom>
        </p:spPr>
      </p:pic>
    </p:spTree>
    <p:extLst>
      <p:ext uri="{BB962C8B-B14F-4D97-AF65-F5344CB8AC3E}">
        <p14:creationId xmlns:p14="http://schemas.microsoft.com/office/powerpoint/2010/main" val="3941543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BC410-9081-50EF-0516-CC620262BBB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3F8A3BF-7896-A5B2-F43A-1248C6E776E5}"/>
              </a:ext>
            </a:extLst>
          </p:cNvPr>
          <p:cNvGrpSpPr/>
          <p:nvPr/>
        </p:nvGrpSpPr>
        <p:grpSpPr>
          <a:xfrm>
            <a:off x="313257" y="417629"/>
            <a:ext cx="2875419" cy="415936"/>
            <a:chOff x="768032" y="5970843"/>
            <a:chExt cx="2875419" cy="415936"/>
          </a:xfrm>
        </p:grpSpPr>
        <p:sp>
          <p:nvSpPr>
            <p:cNvPr id="4" name="Rounded Rectangle 3">
              <a:extLst>
                <a:ext uri="{FF2B5EF4-FFF2-40B4-BE49-F238E27FC236}">
                  <a16:creationId xmlns:a16="http://schemas.microsoft.com/office/drawing/2014/main" id="{3ADE26F0-55C9-1C71-7C4E-3BE043DC35BE}"/>
                </a:ext>
              </a:extLst>
            </p:cNvPr>
            <p:cNvSpPr/>
            <p:nvPr/>
          </p:nvSpPr>
          <p:spPr>
            <a:xfrm>
              <a:off x="768032" y="5970843"/>
              <a:ext cx="2875419"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VS Code &amp; Copilot CLI</a:t>
              </a:r>
            </a:p>
          </p:txBody>
        </p:sp>
        <p:grpSp>
          <p:nvGrpSpPr>
            <p:cNvPr id="5" name="Google Shape;1693;p69">
              <a:extLst>
                <a:ext uri="{FF2B5EF4-FFF2-40B4-BE49-F238E27FC236}">
                  <a16:creationId xmlns:a16="http://schemas.microsoft.com/office/drawing/2014/main" id="{10DEAE9F-4A7A-6872-BF98-83E493D0A353}"/>
                </a:ext>
              </a:extLst>
            </p:cNvPr>
            <p:cNvGrpSpPr/>
            <p:nvPr/>
          </p:nvGrpSpPr>
          <p:grpSpPr>
            <a:xfrm>
              <a:off x="918288" y="6094225"/>
              <a:ext cx="192384" cy="160586"/>
              <a:chOff x="690700" y="246575"/>
              <a:chExt cx="6228425" cy="5199000"/>
            </a:xfrm>
          </p:grpSpPr>
          <p:sp>
            <p:nvSpPr>
              <p:cNvPr id="6" name="Google Shape;1694;p69">
                <a:extLst>
                  <a:ext uri="{FF2B5EF4-FFF2-40B4-BE49-F238E27FC236}">
                    <a16:creationId xmlns:a16="http://schemas.microsoft.com/office/drawing/2014/main" id="{F68B633C-576B-2CF8-7D1D-41D48EBC2185}"/>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7" name="Google Shape;1695;p69">
                <a:extLst>
                  <a:ext uri="{FF2B5EF4-FFF2-40B4-BE49-F238E27FC236}">
                    <a16:creationId xmlns:a16="http://schemas.microsoft.com/office/drawing/2014/main" id="{5C68BDCA-B23F-5177-E564-DAF5AE921DF8}"/>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8" name="Google Shape;1696;p69">
                <a:extLst>
                  <a:ext uri="{FF2B5EF4-FFF2-40B4-BE49-F238E27FC236}">
                    <a16:creationId xmlns:a16="http://schemas.microsoft.com/office/drawing/2014/main" id="{19EADC64-D99B-6DC3-4E56-023A6B6490C5}"/>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grpSp>
      <p:sp>
        <p:nvSpPr>
          <p:cNvPr id="12" name="Text Placeholder 2">
            <a:extLst>
              <a:ext uri="{FF2B5EF4-FFF2-40B4-BE49-F238E27FC236}">
                <a16:creationId xmlns:a16="http://schemas.microsoft.com/office/drawing/2014/main" id="{4408EACB-5AB3-226A-4D52-17682184F406}"/>
              </a:ext>
            </a:extLst>
          </p:cNvPr>
          <p:cNvSpPr txBox="1">
            <a:spLocks/>
          </p:cNvSpPr>
          <p:nvPr/>
        </p:nvSpPr>
        <p:spPr>
          <a:xfrm>
            <a:off x="313257" y="1065888"/>
            <a:ext cx="4496015" cy="1366560"/>
          </a:xfrm>
          <a:prstGeom prst="rect">
            <a:avLst/>
          </a:prstGeom>
        </p:spPr>
        <p:txBody>
          <a:bodyPr lIns="91440" tIns="45720" rIns="91440" bIns="4572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Hand off tasks to background agents</a:t>
            </a:r>
          </a:p>
        </p:txBody>
      </p:sp>
      <p:sp>
        <p:nvSpPr>
          <p:cNvPr id="3" name="TextBox 2">
            <a:extLst>
              <a:ext uri="{FF2B5EF4-FFF2-40B4-BE49-F238E27FC236}">
                <a16:creationId xmlns:a16="http://schemas.microsoft.com/office/drawing/2014/main" id="{77339F90-5106-0A7D-4233-BDD2374E4658}"/>
              </a:ext>
            </a:extLst>
          </p:cNvPr>
          <p:cNvSpPr txBox="1"/>
          <p:nvPr/>
        </p:nvSpPr>
        <p:spPr>
          <a:xfrm>
            <a:off x="463513" y="2193054"/>
            <a:ext cx="4425856" cy="4247317"/>
          </a:xfrm>
          <a:prstGeom prst="rect">
            <a:avLst/>
          </a:prstGeom>
          <a:noFill/>
        </p:spPr>
        <p:txBody>
          <a:bodyPr wrap="square">
            <a:spAutoFit/>
          </a:bodyPr>
          <a:lstStyle/>
          <a:p>
            <a:pPr lvl="0">
              <a:defRPr/>
            </a:pPr>
            <a:r>
              <a:rPr lang="en-US" dirty="0">
                <a:solidFill>
                  <a:srgbClr val="FFFFFE"/>
                </a:solidFill>
                <a:latin typeface="Segoe UI" panose="020B0502040204020203" pitchFamily="34" charset="0"/>
                <a:cs typeface="Segoe UI" panose="020B0502040204020203" pitchFamily="34" charset="0"/>
              </a:rPr>
              <a:t>Delegate to a </a:t>
            </a:r>
            <a:r>
              <a:rPr lang="en-US" dirty="0" err="1">
                <a:solidFill>
                  <a:srgbClr val="FFFFFE"/>
                </a:solidFill>
                <a:latin typeface="Segoe UI" panose="020B0502040204020203" pitchFamily="34" charset="0"/>
                <a:cs typeface="Segoe UI" panose="020B0502040204020203" pitchFamily="34" charset="0"/>
              </a:rPr>
              <a:t>worktree</a:t>
            </a:r>
            <a:r>
              <a:rPr lang="en-US" dirty="0">
                <a:solidFill>
                  <a:srgbClr val="FFFFFE"/>
                </a:solidFill>
                <a:latin typeface="Segoe UI" panose="020B0502040204020203" pitchFamily="34" charset="0"/>
                <a:cs typeface="Segoe UI" panose="020B0502040204020203" pitchFamily="34" charset="0"/>
              </a:rPr>
              <a:t> using a </a:t>
            </a:r>
            <a:r>
              <a:rPr lang="en-US" b="1" dirty="0">
                <a:solidFill>
                  <a:srgbClr val="FFFFFE"/>
                </a:solidFill>
                <a:latin typeface="Segoe UI" panose="020B0502040204020203" pitchFamily="34" charset="0"/>
                <a:cs typeface="Segoe UI" panose="020B0502040204020203" pitchFamily="34" charset="0"/>
              </a:rPr>
              <a:t>background </a:t>
            </a:r>
            <a:r>
              <a:rPr lang="en-US" dirty="0">
                <a:solidFill>
                  <a:srgbClr val="FFFFFE"/>
                </a:solidFill>
                <a:latin typeface="Segoe UI" panose="020B0502040204020203" pitchFamily="34" charset="0"/>
                <a:cs typeface="Segoe UI" panose="020B0502040204020203" pitchFamily="34" charset="0"/>
              </a:rPr>
              <a:t>agent while you work on another feature.</a:t>
            </a:r>
          </a:p>
          <a:p>
            <a:pPr lvl="0">
              <a:defRPr/>
            </a:pPr>
            <a:endParaRPr lang="en-US" dirty="0">
              <a:solidFill>
                <a:srgbClr val="FFFFFE"/>
              </a:solidFill>
              <a:latin typeface="Segoe UI" panose="020B0502040204020203" pitchFamily="34" charset="0"/>
              <a:cs typeface="Segoe UI" panose="020B0502040204020203" pitchFamily="34" charset="0"/>
            </a:endParaRPr>
          </a:p>
          <a:p>
            <a:pPr lvl="0">
              <a:defRPr/>
            </a:pPr>
            <a:r>
              <a:rPr lang="en-US" b="1" dirty="0"/>
              <a:t>Git </a:t>
            </a:r>
            <a:r>
              <a:rPr lang="en-US" b="1" dirty="0" err="1"/>
              <a:t>Worktree</a:t>
            </a:r>
            <a:r>
              <a:rPr lang="en-US" dirty="0"/>
              <a:t> allows you to have multiple working directories linked to the same repository, enabling you to check out multiple branches simultaneously without repeated branch switching or cloning. </a:t>
            </a:r>
          </a:p>
          <a:p>
            <a:pPr lvl="0">
              <a:defRPr/>
            </a:pPr>
            <a:endParaRPr lang="en-US" dirty="0"/>
          </a:p>
          <a:p>
            <a:pPr lvl="0">
              <a:defRPr/>
            </a:pPr>
            <a:r>
              <a:rPr lang="en-US" dirty="0"/>
              <a:t>This is ideal for </a:t>
            </a:r>
            <a:r>
              <a:rPr lang="en-US" b="1" dirty="0"/>
              <a:t>parallel development</a:t>
            </a:r>
            <a:r>
              <a:rPr lang="en-US" dirty="0"/>
              <a:t>, </a:t>
            </a:r>
            <a:r>
              <a:rPr lang="en-US" b="1" dirty="0"/>
              <a:t>hotfixes</a:t>
            </a:r>
            <a:r>
              <a:rPr lang="en-US" dirty="0"/>
              <a:t>, and </a:t>
            </a:r>
            <a:r>
              <a:rPr lang="en-US" b="1" dirty="0"/>
              <a:t>isolated testing</a:t>
            </a:r>
            <a:r>
              <a:rPr lang="en-US" dirty="0"/>
              <a:t>.</a:t>
            </a:r>
            <a:endParaRPr lang="en-US" dirty="0">
              <a:solidFill>
                <a:srgbClr val="FFFFFE"/>
              </a:solidFill>
              <a:latin typeface="Segoe UI" panose="020B0502040204020203" pitchFamily="34" charset="0"/>
              <a:cs typeface="Segoe UI" panose="020B0502040204020203" pitchFamily="34" charset="0"/>
            </a:endParaRPr>
          </a:p>
          <a:p>
            <a:pPr lvl="0">
              <a:defRPr/>
            </a:pPr>
            <a:endParaRPr lang="en-US" dirty="0">
              <a:solidFill>
                <a:srgbClr val="FFFFFE"/>
              </a:solidFill>
              <a:latin typeface="Segoe UI" panose="020B0502040204020203" pitchFamily="34" charset="0"/>
              <a:cs typeface="Segoe UI" panose="020B0502040204020203" pitchFamily="34" charset="0"/>
            </a:endParaRPr>
          </a:p>
          <a:p>
            <a:pPr lvl="0">
              <a:defRPr/>
            </a:pPr>
            <a:r>
              <a:rPr lang="en-US" dirty="0">
                <a:solidFill>
                  <a:srgbClr val="FFFFFE"/>
                </a:solidFill>
                <a:latin typeface="Segoe UI" panose="020B0502040204020203" pitchFamily="34" charset="0"/>
                <a:cs typeface="Segoe UI" panose="020B0502040204020203" pitchFamily="34" charset="0"/>
              </a:rPr>
              <a:t>Powered by the GitHub Copilot CLI</a:t>
            </a:r>
          </a:p>
        </p:txBody>
      </p:sp>
      <p:pic>
        <p:nvPicPr>
          <p:cNvPr id="13" name="Picture 12">
            <a:extLst>
              <a:ext uri="{FF2B5EF4-FFF2-40B4-BE49-F238E27FC236}">
                <a16:creationId xmlns:a16="http://schemas.microsoft.com/office/drawing/2014/main" id="{C37E16AF-79A3-31F2-8714-310F4CD4D89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009281" y="887158"/>
            <a:ext cx="5263744" cy="5083687"/>
          </a:xfrm>
          <a:prstGeom prst="roundRect">
            <a:avLst>
              <a:gd name="adj" fmla="val 2500"/>
            </a:avLst>
          </a:prstGeom>
          <a:solidFill>
            <a:schemeClr val="bg1"/>
          </a:solidFill>
          <a:ln>
            <a:solidFill>
              <a:schemeClr val="tx2"/>
            </a:solidFill>
          </a:ln>
        </p:spPr>
      </p:pic>
      <p:pic>
        <p:nvPicPr>
          <p:cNvPr id="9" name="Picture 8" descr="Screenshot showing the &quot;Delegate Sessions&quot; dropdown in VS Code chat interface.">
            <a:extLst>
              <a:ext uri="{FF2B5EF4-FFF2-40B4-BE49-F238E27FC236}">
                <a16:creationId xmlns:a16="http://schemas.microsoft.com/office/drawing/2014/main" id="{B7BB61BD-7CAC-41A9-8F56-626F32B6E521}"/>
              </a:ext>
            </a:extLst>
          </p:cNvPr>
          <p:cNvPicPr>
            <a:picLocks noChangeAspect="1"/>
          </p:cNvPicPr>
          <p:nvPr/>
        </p:nvPicPr>
        <p:blipFill>
          <a:blip r:embed="rId4"/>
          <a:stretch>
            <a:fillRect/>
          </a:stretch>
        </p:blipFill>
        <p:spPr>
          <a:xfrm>
            <a:off x="6430599" y="1295978"/>
            <a:ext cx="6378014" cy="4477805"/>
          </a:xfrm>
          <a:prstGeom prst="rect">
            <a:avLst/>
          </a:prstGeom>
        </p:spPr>
      </p:pic>
    </p:spTree>
    <p:extLst>
      <p:ext uri="{BB962C8B-B14F-4D97-AF65-F5344CB8AC3E}">
        <p14:creationId xmlns:p14="http://schemas.microsoft.com/office/powerpoint/2010/main" val="3121308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BF0F9-34EE-8B62-903D-D83E71ED409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33B613DA-377A-78D3-5DD4-E58639DAADE2}"/>
              </a:ext>
            </a:extLst>
          </p:cNvPr>
          <p:cNvGrpSpPr/>
          <p:nvPr/>
        </p:nvGrpSpPr>
        <p:grpSpPr>
          <a:xfrm>
            <a:off x="782181" y="1012010"/>
            <a:ext cx="2875419" cy="415936"/>
            <a:chOff x="768032" y="5970843"/>
            <a:chExt cx="2875419" cy="415936"/>
          </a:xfrm>
        </p:grpSpPr>
        <p:sp>
          <p:nvSpPr>
            <p:cNvPr id="4" name="Rounded Rectangle 3">
              <a:extLst>
                <a:ext uri="{FF2B5EF4-FFF2-40B4-BE49-F238E27FC236}">
                  <a16:creationId xmlns:a16="http://schemas.microsoft.com/office/drawing/2014/main" id="{19272B85-73F4-D70B-83A9-D85F5A11EF7D}"/>
                </a:ext>
              </a:extLst>
            </p:cNvPr>
            <p:cNvSpPr/>
            <p:nvPr/>
          </p:nvSpPr>
          <p:spPr>
            <a:xfrm>
              <a:off x="768032" y="5970843"/>
              <a:ext cx="2875419"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rPr>
                <a:t>     VS Code &amp; Coding Agent</a:t>
              </a:r>
            </a:p>
          </p:txBody>
        </p:sp>
        <p:grpSp>
          <p:nvGrpSpPr>
            <p:cNvPr id="5" name="Google Shape;1693;p69">
              <a:extLst>
                <a:ext uri="{FF2B5EF4-FFF2-40B4-BE49-F238E27FC236}">
                  <a16:creationId xmlns:a16="http://schemas.microsoft.com/office/drawing/2014/main" id="{74D31B1B-D6D7-20D4-C442-92B3CA71AC0C}"/>
                </a:ext>
              </a:extLst>
            </p:cNvPr>
            <p:cNvGrpSpPr/>
            <p:nvPr/>
          </p:nvGrpSpPr>
          <p:grpSpPr>
            <a:xfrm>
              <a:off x="918288" y="6094225"/>
              <a:ext cx="192384" cy="160586"/>
              <a:chOff x="690700" y="246575"/>
              <a:chExt cx="6228425" cy="5199000"/>
            </a:xfrm>
          </p:grpSpPr>
          <p:sp>
            <p:nvSpPr>
              <p:cNvPr id="6" name="Google Shape;1694;p69">
                <a:extLst>
                  <a:ext uri="{FF2B5EF4-FFF2-40B4-BE49-F238E27FC236}">
                    <a16:creationId xmlns:a16="http://schemas.microsoft.com/office/drawing/2014/main" id="{7A75B277-44E7-FB0C-CB1A-97BEA5DA7873}"/>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7" name="Google Shape;1695;p69">
                <a:extLst>
                  <a:ext uri="{FF2B5EF4-FFF2-40B4-BE49-F238E27FC236}">
                    <a16:creationId xmlns:a16="http://schemas.microsoft.com/office/drawing/2014/main" id="{E489D480-9330-7692-9E84-B1E9A8AF9261}"/>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sp>
            <p:nvSpPr>
              <p:cNvPr id="8" name="Google Shape;1696;p69">
                <a:extLst>
                  <a:ext uri="{FF2B5EF4-FFF2-40B4-BE49-F238E27FC236}">
                    <a16:creationId xmlns:a16="http://schemas.microsoft.com/office/drawing/2014/main" id="{2479D2DD-2CF0-C683-4B97-4D8BB1084097}"/>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991" b="0"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endParaRPr>
              </a:p>
            </p:txBody>
          </p:sp>
        </p:grpSp>
      </p:grpSp>
      <p:sp>
        <p:nvSpPr>
          <p:cNvPr id="12" name="Text Placeholder 2">
            <a:extLst>
              <a:ext uri="{FF2B5EF4-FFF2-40B4-BE49-F238E27FC236}">
                <a16:creationId xmlns:a16="http://schemas.microsoft.com/office/drawing/2014/main" id="{C0A9A107-2D7A-10A5-5E28-B71B5223D297}"/>
              </a:ext>
            </a:extLst>
          </p:cNvPr>
          <p:cNvSpPr txBox="1">
            <a:spLocks/>
          </p:cNvSpPr>
          <p:nvPr/>
        </p:nvSpPr>
        <p:spPr>
          <a:xfrm>
            <a:off x="736425" y="1663765"/>
            <a:ext cx="4496015" cy="1366560"/>
          </a:xfrm>
          <a:prstGeom prst="rect">
            <a:avLst/>
          </a:prstGeom>
        </p:spPr>
        <p:txBody>
          <a:bodyPr lIns="91440" tIns="45720" rIns="91440" bIns="4572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a:ln>
                  <a:noFill/>
                </a:ln>
                <a:solidFill>
                  <a:srgbClr val="FFFFFE"/>
                </a:solidFill>
                <a:effectLst/>
                <a:uLnTx/>
                <a:uFillTx/>
                <a:latin typeface="Segoe UI" panose="020B0502040204020203" pitchFamily="34" charset="0"/>
                <a:ea typeface="+mn-ea"/>
                <a:cs typeface="Segoe UI" panose="020B0502040204020203" pitchFamily="34" charset="0"/>
              </a:rPr>
              <a:t>Hand off tasks to async agents</a:t>
            </a:r>
          </a:p>
        </p:txBody>
      </p:sp>
      <p:sp>
        <p:nvSpPr>
          <p:cNvPr id="3" name="TextBox 2">
            <a:extLst>
              <a:ext uri="{FF2B5EF4-FFF2-40B4-BE49-F238E27FC236}">
                <a16:creationId xmlns:a16="http://schemas.microsoft.com/office/drawing/2014/main" id="{ADFCF821-7954-E963-5284-3FDA07021991}"/>
              </a:ext>
            </a:extLst>
          </p:cNvPr>
          <p:cNvSpPr txBox="1"/>
          <p:nvPr/>
        </p:nvSpPr>
        <p:spPr>
          <a:xfrm>
            <a:off x="736425" y="2853746"/>
            <a:ext cx="4425856" cy="30469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Developers can </a:t>
            </a:r>
            <a:r>
              <a:rPr kumimoji="0" lang="en-US" sz="1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achieve even more with agent mode by delegating tasks to coding agent</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in VS Code.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Coding agent </a:t>
            </a:r>
            <a:r>
              <a:rPr kumimoji="0" lang="en-US" sz="1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works just like any other team member</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  by creating issues and submitting PRs.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Builds on </a:t>
            </a:r>
            <a:r>
              <a:rPr kumimoji="0" lang="en-US" sz="1600" b="1"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deep integration with GitHub platform across IDEs </a:t>
            </a:r>
            <a:r>
              <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rPr>
              <a:t>developers love.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E"/>
              </a:solidFill>
              <a:effectLst/>
              <a:uLnTx/>
              <a:uFillTx/>
              <a:latin typeface="Segoe UI" panose="020B0502040204020203" pitchFamily="34" charset="0"/>
              <a:ea typeface="+mn-ea"/>
              <a:cs typeface="Segoe UI" panose="020B0502040204020203" pitchFamily="34" charset="0"/>
            </a:endParaRPr>
          </a:p>
        </p:txBody>
      </p:sp>
      <p:pic>
        <p:nvPicPr>
          <p:cNvPr id="13" name="Picture 12">
            <a:extLst>
              <a:ext uri="{FF2B5EF4-FFF2-40B4-BE49-F238E27FC236}">
                <a16:creationId xmlns:a16="http://schemas.microsoft.com/office/drawing/2014/main" id="{6E1BABBB-95E3-4493-F647-AFC7D7DAE0E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009281" y="887158"/>
            <a:ext cx="5263744" cy="5083687"/>
          </a:xfrm>
          <a:prstGeom prst="roundRect">
            <a:avLst>
              <a:gd name="adj" fmla="val 2500"/>
            </a:avLst>
          </a:prstGeom>
          <a:solidFill>
            <a:schemeClr val="bg1"/>
          </a:solidFill>
          <a:ln>
            <a:solidFill>
              <a:schemeClr val="tx2"/>
            </a:solidFill>
          </a:ln>
        </p:spPr>
      </p:pic>
      <p:pic>
        <p:nvPicPr>
          <p:cNvPr id="2" name="Picture 1">
            <a:extLst>
              <a:ext uri="{FF2B5EF4-FFF2-40B4-BE49-F238E27FC236}">
                <a16:creationId xmlns:a16="http://schemas.microsoft.com/office/drawing/2014/main" id="{2AADC9E1-1749-66FB-A9FB-4F25B12056A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301043" y="1223157"/>
            <a:ext cx="4628077" cy="4411687"/>
          </a:xfrm>
          <a:prstGeom prst="rect">
            <a:avLst/>
          </a:prstGeom>
        </p:spPr>
      </p:pic>
    </p:spTree>
    <p:extLst>
      <p:ext uri="{BB962C8B-B14F-4D97-AF65-F5344CB8AC3E}">
        <p14:creationId xmlns:p14="http://schemas.microsoft.com/office/powerpoint/2010/main" val="226170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20260417-0629-38.8544326">
            <a:hlinkClick r:id="" action="ppaction://media"/>
            <a:extLst>
              <a:ext uri="{FF2B5EF4-FFF2-40B4-BE49-F238E27FC236}">
                <a16:creationId xmlns:a16="http://schemas.microsoft.com/office/drawing/2014/main" id="{15E6C005-BF32-502D-09E6-A8A5E98FDC2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8424" y="98425"/>
            <a:ext cx="11988067" cy="6576023"/>
          </a:xfrm>
          <a:prstGeom prst="rect">
            <a:avLst/>
          </a:prstGeom>
        </p:spPr>
      </p:pic>
      <p:sp>
        <p:nvSpPr>
          <p:cNvPr id="3" name="Title 3">
            <a:extLst>
              <a:ext uri="{FF2B5EF4-FFF2-40B4-BE49-F238E27FC236}">
                <a16:creationId xmlns:a16="http://schemas.microsoft.com/office/drawing/2014/main" id="{257396B1-6706-18D8-D33E-201ACE4B79B2}"/>
              </a:ext>
            </a:extLst>
          </p:cNvPr>
          <p:cNvSpPr txBox="1">
            <a:spLocks/>
          </p:cNvSpPr>
          <p:nvPr/>
        </p:nvSpPr>
        <p:spPr>
          <a:xfrm>
            <a:off x="333575" y="394128"/>
            <a:ext cx="2961548" cy="990019"/>
          </a:xfrm>
          <a:prstGeom prst="rect">
            <a:avLst/>
          </a:prstGeom>
        </p:spPr>
        <p:txBody>
          <a:bodyPr/>
          <a:lst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a:lstStyle>
          <a:p>
            <a:r>
              <a:rPr lang="en-US"/>
              <a:t>Demo</a:t>
            </a:r>
            <a:endParaRPr lang="en-US" dirty="0"/>
          </a:p>
        </p:txBody>
      </p:sp>
      <p:sp>
        <p:nvSpPr>
          <p:cNvPr id="4" name="Rectangle 3">
            <a:extLst>
              <a:ext uri="{FF2B5EF4-FFF2-40B4-BE49-F238E27FC236}">
                <a16:creationId xmlns:a16="http://schemas.microsoft.com/office/drawing/2014/main" id="{60C6C191-DA0F-127B-8D45-DB539D045219}"/>
              </a:ext>
            </a:extLst>
          </p:cNvPr>
          <p:cNvSpPr/>
          <p:nvPr/>
        </p:nvSpPr>
        <p:spPr>
          <a:xfrm>
            <a:off x="10257692" y="5181600"/>
            <a:ext cx="1277816" cy="38686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501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2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ow GitHub Copilot really influences the efficiency of software development  – q.beyond ibérica">
            <a:extLst>
              <a:ext uri="{FF2B5EF4-FFF2-40B4-BE49-F238E27FC236}">
                <a16:creationId xmlns:a16="http://schemas.microsoft.com/office/drawing/2014/main" id="{F44D229A-6080-EF8B-BC85-2B892699B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1984" y="1224542"/>
            <a:ext cx="7315200" cy="4114800"/>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419786FE-ADD3-EF01-8FDE-873E3CDF6791}"/>
              </a:ext>
            </a:extLst>
          </p:cNvPr>
          <p:cNvSpPr>
            <a:spLocks noGrp="1"/>
          </p:cNvSpPr>
          <p:nvPr>
            <p:ph type="body" sz="quarter" idx="32"/>
          </p:nvPr>
        </p:nvSpPr>
        <p:spPr/>
        <p:txBody>
          <a:bodyPr/>
          <a:lstStyle/>
          <a:p>
            <a:r>
              <a:rPr lang="en-US" dirty="0"/>
              <a:t>GitHub Copilot Dev Days</a:t>
            </a:r>
          </a:p>
        </p:txBody>
      </p:sp>
      <p:sp>
        <p:nvSpPr>
          <p:cNvPr id="4" name="Title 3">
            <a:extLst>
              <a:ext uri="{FF2B5EF4-FFF2-40B4-BE49-F238E27FC236}">
                <a16:creationId xmlns:a16="http://schemas.microsoft.com/office/drawing/2014/main" id="{CA33CD2B-DF6C-03B3-882B-52D3FA756CBB}"/>
              </a:ext>
            </a:extLst>
          </p:cNvPr>
          <p:cNvSpPr>
            <a:spLocks noGrp="1"/>
          </p:cNvSpPr>
          <p:nvPr>
            <p:ph type="ctrTitle"/>
          </p:nvPr>
        </p:nvSpPr>
        <p:spPr>
          <a:xfrm>
            <a:off x="720436" y="1273358"/>
            <a:ext cx="2961548" cy="990019"/>
          </a:xfrm>
        </p:spPr>
        <p:txBody>
          <a:bodyPr/>
          <a:lstStyle/>
          <a:p>
            <a:r>
              <a:rPr lang="en-US" dirty="0"/>
              <a:t>Demo</a:t>
            </a:r>
          </a:p>
        </p:txBody>
      </p:sp>
      <p:sp>
        <p:nvSpPr>
          <p:cNvPr id="6" name="Text Placeholder 5">
            <a:extLst>
              <a:ext uri="{FF2B5EF4-FFF2-40B4-BE49-F238E27FC236}">
                <a16:creationId xmlns:a16="http://schemas.microsoft.com/office/drawing/2014/main" id="{37B9AA1B-92D8-6453-840C-1C4BC32A64B5}"/>
              </a:ext>
            </a:extLst>
          </p:cNvPr>
          <p:cNvSpPr>
            <a:spLocks noGrp="1"/>
          </p:cNvSpPr>
          <p:nvPr>
            <p:ph type="body" sz="quarter" idx="22"/>
          </p:nvPr>
        </p:nvSpPr>
        <p:spPr>
          <a:xfrm>
            <a:off x="4978786" y="5486400"/>
            <a:ext cx="4721595" cy="990019"/>
          </a:xfrm>
        </p:spPr>
        <p:txBody>
          <a:bodyPr/>
          <a:lstStyle/>
          <a:p>
            <a:pPr algn="ctr"/>
            <a:r>
              <a:rPr lang="en-IN" sz="6000" dirty="0">
                <a:latin typeface="Felix Titling" panose="04060505060202020A04" pitchFamily="82" charset="0"/>
              </a:rPr>
              <a:t>Let’s Cook</a:t>
            </a:r>
          </a:p>
        </p:txBody>
      </p:sp>
    </p:spTree>
    <p:extLst>
      <p:ext uri="{BB962C8B-B14F-4D97-AF65-F5344CB8AC3E}">
        <p14:creationId xmlns:p14="http://schemas.microsoft.com/office/powerpoint/2010/main" val="37646520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FE06C0-3974-339D-E1D9-4C2043F3D98D}"/>
              </a:ext>
            </a:extLst>
          </p:cNvPr>
          <p:cNvSpPr>
            <a:spLocks noGrp="1"/>
          </p:cNvSpPr>
          <p:nvPr>
            <p:ph type="body" sz="quarter" idx="32"/>
          </p:nvPr>
        </p:nvSpPr>
        <p:spPr/>
        <p:txBody>
          <a:bodyPr/>
          <a:lstStyle/>
          <a:p>
            <a:r>
              <a:rPr lang="en-IN" dirty="0"/>
              <a:t>Connect with me</a:t>
            </a:r>
          </a:p>
        </p:txBody>
      </p:sp>
      <p:pic>
        <p:nvPicPr>
          <p:cNvPr id="7" name="Picture 6" descr="A blue and purple helmet with a yellow center">
            <a:extLst>
              <a:ext uri="{FF2B5EF4-FFF2-40B4-BE49-F238E27FC236}">
                <a16:creationId xmlns:a16="http://schemas.microsoft.com/office/drawing/2014/main" id="{ADD2A8E1-689C-5FF6-2EEA-77B8E56E0A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20194762" flipH="1">
            <a:off x="9965483" y="-13447"/>
            <a:ext cx="2245385" cy="2181861"/>
          </a:xfrm>
          <a:prstGeom prst="rect">
            <a:avLst/>
          </a:prstGeom>
        </p:spPr>
      </p:pic>
      <p:pic>
        <p:nvPicPr>
          <p:cNvPr id="8" name="Picture 7">
            <a:extLst>
              <a:ext uri="{FF2B5EF4-FFF2-40B4-BE49-F238E27FC236}">
                <a16:creationId xmlns:a16="http://schemas.microsoft.com/office/drawing/2014/main" id="{1C00777C-ED37-BBDF-AD41-6D0DB136B866}"/>
              </a:ext>
            </a:extLst>
          </p:cNvPr>
          <p:cNvPicPr>
            <a:picLocks noChangeAspect="1"/>
          </p:cNvPicPr>
          <p:nvPr/>
        </p:nvPicPr>
        <p:blipFill>
          <a:blip r:embed="rId4"/>
          <a:stretch>
            <a:fillRect/>
          </a:stretch>
        </p:blipFill>
        <p:spPr>
          <a:xfrm>
            <a:off x="715720" y="2357437"/>
            <a:ext cx="2143125" cy="2143125"/>
          </a:xfrm>
          <a:prstGeom prst="rect">
            <a:avLst/>
          </a:prstGeom>
        </p:spPr>
      </p:pic>
      <p:pic>
        <p:nvPicPr>
          <p:cNvPr id="12" name="Picture 11">
            <a:extLst>
              <a:ext uri="{FF2B5EF4-FFF2-40B4-BE49-F238E27FC236}">
                <a16:creationId xmlns:a16="http://schemas.microsoft.com/office/drawing/2014/main" id="{CC175F6B-3F77-7AAA-25C2-683F6A1EACEB}"/>
              </a:ext>
            </a:extLst>
          </p:cNvPr>
          <p:cNvPicPr>
            <a:picLocks noChangeAspect="1"/>
          </p:cNvPicPr>
          <p:nvPr/>
        </p:nvPicPr>
        <p:blipFill>
          <a:blip r:embed="rId5"/>
          <a:stretch>
            <a:fillRect/>
          </a:stretch>
        </p:blipFill>
        <p:spPr>
          <a:xfrm>
            <a:off x="3504990" y="2357437"/>
            <a:ext cx="2143125" cy="2143125"/>
          </a:xfrm>
          <a:prstGeom prst="rect">
            <a:avLst/>
          </a:prstGeom>
        </p:spPr>
      </p:pic>
      <p:sp>
        <p:nvSpPr>
          <p:cNvPr id="13" name="TextBox 12">
            <a:extLst>
              <a:ext uri="{FF2B5EF4-FFF2-40B4-BE49-F238E27FC236}">
                <a16:creationId xmlns:a16="http://schemas.microsoft.com/office/drawing/2014/main" id="{8460C308-A2EC-00D6-F456-CC5B48D4AFDD}"/>
              </a:ext>
            </a:extLst>
          </p:cNvPr>
          <p:cNvSpPr txBox="1"/>
          <p:nvPr/>
        </p:nvSpPr>
        <p:spPr>
          <a:xfrm>
            <a:off x="-2602155" y="1077484"/>
            <a:ext cx="10922000" cy="677108"/>
          </a:xfrm>
          <a:prstGeom prst="rect">
            <a:avLst/>
          </a:prstGeom>
          <a:noFill/>
        </p:spPr>
        <p:txBody>
          <a:bodyPr vert="horz" rtlCol="0">
            <a:spAutoFit/>
          </a:bodyPr>
          <a:lstStyle/>
          <a:p>
            <a:pPr algn="ctr"/>
            <a:r>
              <a:rPr lang="en-US" sz="3800" b="1" dirty="0">
                <a:solidFill>
                  <a:schemeClr val="accent3"/>
                </a:solidFill>
              </a:rPr>
              <a:t>@SriSatyaLokesh</a:t>
            </a:r>
          </a:p>
        </p:txBody>
      </p:sp>
      <p:pic>
        <p:nvPicPr>
          <p:cNvPr id="16" name="Picture 15">
            <a:extLst>
              <a:ext uri="{FF2B5EF4-FFF2-40B4-BE49-F238E27FC236}">
                <a16:creationId xmlns:a16="http://schemas.microsoft.com/office/drawing/2014/main" id="{B6FA48BE-BE2F-F840-575E-F00699E690CB}"/>
              </a:ext>
            </a:extLst>
          </p:cNvPr>
          <p:cNvPicPr>
            <a:picLocks noChangeAspect="1"/>
          </p:cNvPicPr>
          <p:nvPr/>
        </p:nvPicPr>
        <p:blipFill>
          <a:blip r:embed="rId6"/>
          <a:stretch>
            <a:fillRect/>
          </a:stretch>
        </p:blipFill>
        <p:spPr>
          <a:xfrm>
            <a:off x="6294260" y="2357437"/>
            <a:ext cx="2143125" cy="2143125"/>
          </a:xfrm>
          <a:prstGeom prst="rect">
            <a:avLst/>
          </a:prstGeom>
        </p:spPr>
      </p:pic>
      <p:pic>
        <p:nvPicPr>
          <p:cNvPr id="18" name="Picture 17">
            <a:extLst>
              <a:ext uri="{FF2B5EF4-FFF2-40B4-BE49-F238E27FC236}">
                <a16:creationId xmlns:a16="http://schemas.microsoft.com/office/drawing/2014/main" id="{4CBA09F9-D034-3B5A-E3A6-6C6344274D09}"/>
              </a:ext>
            </a:extLst>
          </p:cNvPr>
          <p:cNvPicPr>
            <a:picLocks noChangeAspect="1"/>
          </p:cNvPicPr>
          <p:nvPr/>
        </p:nvPicPr>
        <p:blipFill>
          <a:blip r:embed="rId7"/>
          <a:stretch>
            <a:fillRect/>
          </a:stretch>
        </p:blipFill>
        <p:spPr>
          <a:xfrm>
            <a:off x="9083530" y="2357437"/>
            <a:ext cx="2143126" cy="2143126"/>
          </a:xfrm>
          <a:prstGeom prst="rect">
            <a:avLst/>
          </a:prstGeom>
        </p:spPr>
      </p:pic>
      <p:sp>
        <p:nvSpPr>
          <p:cNvPr id="19" name="Text Placeholder 2">
            <a:extLst>
              <a:ext uri="{FF2B5EF4-FFF2-40B4-BE49-F238E27FC236}">
                <a16:creationId xmlns:a16="http://schemas.microsoft.com/office/drawing/2014/main" id="{8D52A538-0CBC-5F92-3B51-51A873227196}"/>
              </a:ext>
            </a:extLst>
          </p:cNvPr>
          <p:cNvSpPr txBox="1">
            <a:spLocks/>
          </p:cNvSpPr>
          <p:nvPr/>
        </p:nvSpPr>
        <p:spPr>
          <a:xfrm>
            <a:off x="640864" y="4630102"/>
            <a:ext cx="2292835" cy="602845"/>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Consolas" panose="02000009000000000000" pitchFamily="49"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dirty="0">
                <a:solidFill>
                  <a:schemeClr val="accent3"/>
                </a:solidFill>
              </a:rPr>
              <a:t>LinkedIn</a:t>
            </a:r>
          </a:p>
          <a:p>
            <a:pPr algn="ctr"/>
            <a:r>
              <a:rPr lang="en-IN" dirty="0">
                <a:solidFill>
                  <a:schemeClr val="accent3"/>
                </a:solidFill>
              </a:rPr>
              <a:t>for quick doubts</a:t>
            </a:r>
          </a:p>
        </p:txBody>
      </p:sp>
      <p:sp>
        <p:nvSpPr>
          <p:cNvPr id="20" name="Text Placeholder 2">
            <a:extLst>
              <a:ext uri="{FF2B5EF4-FFF2-40B4-BE49-F238E27FC236}">
                <a16:creationId xmlns:a16="http://schemas.microsoft.com/office/drawing/2014/main" id="{DFF008C5-9274-DB36-1E2F-D64693280B44}"/>
              </a:ext>
            </a:extLst>
          </p:cNvPr>
          <p:cNvSpPr txBox="1">
            <a:spLocks/>
          </p:cNvSpPr>
          <p:nvPr/>
        </p:nvSpPr>
        <p:spPr>
          <a:xfrm>
            <a:off x="3430134" y="4630101"/>
            <a:ext cx="2292835" cy="602845"/>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Consolas" panose="02000009000000000000" pitchFamily="49"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dirty="0">
                <a:solidFill>
                  <a:schemeClr val="accent3"/>
                </a:solidFill>
              </a:rPr>
              <a:t>GitHub</a:t>
            </a:r>
          </a:p>
          <a:p>
            <a:pPr algn="ctr"/>
            <a:r>
              <a:rPr lang="en-IN" dirty="0">
                <a:solidFill>
                  <a:schemeClr val="accent3"/>
                </a:solidFill>
              </a:rPr>
              <a:t>For projects</a:t>
            </a:r>
          </a:p>
        </p:txBody>
      </p:sp>
      <p:sp>
        <p:nvSpPr>
          <p:cNvPr id="21" name="Text Placeholder 2">
            <a:extLst>
              <a:ext uri="{FF2B5EF4-FFF2-40B4-BE49-F238E27FC236}">
                <a16:creationId xmlns:a16="http://schemas.microsoft.com/office/drawing/2014/main" id="{23CAF2C0-911A-7813-AA2E-4284F9565E8B}"/>
              </a:ext>
            </a:extLst>
          </p:cNvPr>
          <p:cNvSpPr txBox="1">
            <a:spLocks/>
          </p:cNvSpPr>
          <p:nvPr/>
        </p:nvSpPr>
        <p:spPr>
          <a:xfrm>
            <a:off x="6219404" y="4630100"/>
            <a:ext cx="2292835" cy="602845"/>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Consolas" panose="02000009000000000000" pitchFamily="49"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dirty="0">
                <a:solidFill>
                  <a:schemeClr val="accent3"/>
                </a:solidFill>
              </a:rPr>
              <a:t>Portfolio</a:t>
            </a:r>
          </a:p>
          <a:p>
            <a:pPr algn="ctr"/>
            <a:r>
              <a:rPr lang="en-IN" dirty="0">
                <a:solidFill>
                  <a:schemeClr val="accent3"/>
                </a:solidFill>
              </a:rPr>
              <a:t>to know more</a:t>
            </a:r>
          </a:p>
        </p:txBody>
      </p:sp>
      <p:sp>
        <p:nvSpPr>
          <p:cNvPr id="22" name="Text Placeholder 2">
            <a:extLst>
              <a:ext uri="{FF2B5EF4-FFF2-40B4-BE49-F238E27FC236}">
                <a16:creationId xmlns:a16="http://schemas.microsoft.com/office/drawing/2014/main" id="{29FE1F0D-EEF3-DA73-3D17-5B6AA633E92A}"/>
              </a:ext>
            </a:extLst>
          </p:cNvPr>
          <p:cNvSpPr txBox="1">
            <a:spLocks/>
          </p:cNvSpPr>
          <p:nvPr/>
        </p:nvSpPr>
        <p:spPr>
          <a:xfrm>
            <a:off x="8821068" y="4619620"/>
            <a:ext cx="2668050" cy="602845"/>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Consolas" panose="02000009000000000000" pitchFamily="49"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dirty="0" err="1">
                <a:solidFill>
                  <a:schemeClr val="accent3"/>
                </a:solidFill>
              </a:rPr>
              <a:t>theProFile</a:t>
            </a:r>
            <a:endParaRPr lang="en-IN" dirty="0">
              <a:solidFill>
                <a:schemeClr val="accent3"/>
              </a:solidFill>
            </a:endParaRPr>
          </a:p>
          <a:p>
            <a:pPr algn="ctr"/>
            <a:r>
              <a:rPr lang="en-IN" dirty="0">
                <a:solidFill>
                  <a:schemeClr val="accent3"/>
                </a:solidFill>
              </a:rPr>
              <a:t>to build your website</a:t>
            </a:r>
          </a:p>
        </p:txBody>
      </p:sp>
    </p:spTree>
    <p:extLst>
      <p:ext uri="{BB962C8B-B14F-4D97-AF65-F5344CB8AC3E}">
        <p14:creationId xmlns:p14="http://schemas.microsoft.com/office/powerpoint/2010/main" val="1400312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38E33C-068A-4597-D18E-4D2F734FCBBE}"/>
              </a:ext>
            </a:extLst>
          </p:cNvPr>
          <p:cNvSpPr txBox="1"/>
          <p:nvPr/>
        </p:nvSpPr>
        <p:spPr>
          <a:xfrm>
            <a:off x="635000" y="355600"/>
            <a:ext cx="10922000" cy="677108"/>
          </a:xfrm>
          <a:prstGeom prst="rect">
            <a:avLst/>
          </a:prstGeom>
          <a:noFill/>
        </p:spPr>
        <p:txBody>
          <a:bodyPr vert="horz" rtlCol="0">
            <a:spAutoFit/>
          </a:bodyPr>
          <a:lstStyle/>
          <a:p>
            <a:pPr algn="ctr"/>
            <a:r>
              <a:rPr lang="en-US" sz="3800" b="1"/>
              <a:t>GitHub Copilot Dev Days Sweepstake</a:t>
            </a:r>
          </a:p>
        </p:txBody>
      </p:sp>
      <p:sp>
        <p:nvSpPr>
          <p:cNvPr id="3" name="TextBox 2">
            <a:extLst>
              <a:ext uri="{FF2B5EF4-FFF2-40B4-BE49-F238E27FC236}">
                <a16:creationId xmlns:a16="http://schemas.microsoft.com/office/drawing/2014/main" id="{955C3C44-BC85-AFB4-60B3-347F66010AE5}"/>
              </a:ext>
            </a:extLst>
          </p:cNvPr>
          <p:cNvSpPr txBox="1"/>
          <p:nvPr/>
        </p:nvSpPr>
        <p:spPr>
          <a:xfrm>
            <a:off x="1905000" y="1211867"/>
            <a:ext cx="8382000" cy="769441"/>
          </a:xfrm>
          <a:prstGeom prst="rect">
            <a:avLst/>
          </a:prstGeom>
          <a:noFill/>
        </p:spPr>
        <p:txBody>
          <a:bodyPr vert="horz" wrap="square" rtlCol="0">
            <a:spAutoFit/>
          </a:bodyPr>
          <a:lstStyle/>
          <a:p>
            <a:pPr algn="ctr"/>
            <a:r>
              <a:rPr lang="en-US" sz="2200" dirty="0"/>
              <a:t>All completed surveys are eligible for our sweepstakes to win a GitHub Copilot Pro+ one-year subscription.</a:t>
            </a:r>
          </a:p>
        </p:txBody>
      </p:sp>
      <p:pic>
        <p:nvPicPr>
          <p:cNvPr id="5" name="Picture 4">
            <a:extLst>
              <a:ext uri="{FF2B5EF4-FFF2-40B4-BE49-F238E27FC236}">
                <a16:creationId xmlns:a16="http://schemas.microsoft.com/office/drawing/2014/main" id="{5EE6183A-2FA5-8407-1C12-7BCBF1AF60A5}"/>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4450080" y="2160467"/>
            <a:ext cx="3291840" cy="3291840"/>
          </a:xfrm>
          <a:prstGeom prst="rect">
            <a:avLst/>
          </a:prstGeom>
        </p:spPr>
      </p:pic>
      <p:sp>
        <p:nvSpPr>
          <p:cNvPr id="6" name="TextBox 5">
            <a:extLst>
              <a:ext uri="{FF2B5EF4-FFF2-40B4-BE49-F238E27FC236}">
                <a16:creationId xmlns:a16="http://schemas.microsoft.com/office/drawing/2014/main" id="{27B12961-7168-3649-E820-26BC690871A4}"/>
              </a:ext>
            </a:extLst>
          </p:cNvPr>
          <p:cNvSpPr txBox="1"/>
          <p:nvPr/>
        </p:nvSpPr>
        <p:spPr>
          <a:xfrm>
            <a:off x="889000" y="5943600"/>
            <a:ext cx="10414000" cy="369332"/>
          </a:xfrm>
          <a:prstGeom prst="rect">
            <a:avLst/>
          </a:prstGeom>
          <a:noFill/>
        </p:spPr>
        <p:txBody>
          <a:bodyPr vert="horz" rtlCol="0">
            <a:spAutoFit/>
          </a:bodyPr>
          <a:lstStyle/>
          <a:p>
            <a:pPr algn="ctr"/>
            <a:r>
              <a:rPr lang="en-US" u="sng">
                <a:hlinkClick r:id="rId3"/>
              </a:rPr>
              <a:t>https://aka.ms/githubcopilotdevdays/sweepstakes</a:t>
            </a:r>
            <a:endParaRPr lang="en-US" u="sng"/>
          </a:p>
        </p:txBody>
      </p:sp>
      <p:pic>
        <p:nvPicPr>
          <p:cNvPr id="4" name="Picture 3" descr="A blue and purple helmet with a yellow center&#10;&#10;AI-generated content may be incorrect.">
            <a:extLst>
              <a:ext uri="{FF2B5EF4-FFF2-40B4-BE49-F238E27FC236}">
                <a16:creationId xmlns:a16="http://schemas.microsoft.com/office/drawing/2014/main" id="{06CFF05D-4A1D-78B0-E362-CFBF6982775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20194762">
            <a:off x="1040885" y="2878486"/>
            <a:ext cx="2576311" cy="2576313"/>
          </a:xfrm>
          <a:prstGeom prst="rect">
            <a:avLst/>
          </a:prstGeom>
        </p:spPr>
      </p:pic>
    </p:spTree>
    <p:extLst>
      <p:ext uri="{BB962C8B-B14F-4D97-AF65-F5344CB8AC3E}">
        <p14:creationId xmlns:p14="http://schemas.microsoft.com/office/powerpoint/2010/main" val="200242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C8FB-EDBE-47A3-2DA8-EE2795092B51}"/>
            </a:ext>
          </a:extLst>
        </p:cNvPr>
        <p:cNvGrpSpPr/>
        <p:nvPr/>
      </p:nvGrpSpPr>
      <p:grpSpPr>
        <a:xfrm>
          <a:off x="0" y="0"/>
          <a:ext cx="0" cy="0"/>
          <a:chOff x="0" y="0"/>
          <a:chExt cx="0" cy="0"/>
        </a:xfrm>
      </p:grpSpPr>
    </p:spTree>
    <p:extLst>
      <p:ext uri="{BB962C8B-B14F-4D97-AF65-F5344CB8AC3E}">
        <p14:creationId xmlns:p14="http://schemas.microsoft.com/office/powerpoint/2010/main" val="322331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e 25">
  <a:themeElements>
    <a:clrScheme name="Universe 2025">
      <a:dk1>
        <a:srgbClr val="000000"/>
      </a:dk1>
      <a:lt1>
        <a:srgbClr val="FFFFFF"/>
      </a:lt1>
      <a:dk2>
        <a:srgbClr val="E4EBE5"/>
      </a:dk2>
      <a:lt2>
        <a:srgbClr val="232824"/>
      </a:lt2>
      <a:accent1>
        <a:srgbClr val="BEFFD0"/>
      </a:accent1>
      <a:accent2>
        <a:srgbClr val="8BF1A6"/>
      </a:accent2>
      <a:accent3>
        <a:srgbClr val="5EEC83"/>
      </a:accent3>
      <a:accent4>
        <a:srgbClr val="087827"/>
      </a:accent4>
      <a:accent5>
        <a:srgbClr val="DBFF95"/>
      </a:accent5>
      <a:accent6>
        <a:srgbClr val="D3FA36"/>
      </a:accent6>
      <a:hlink>
        <a:srgbClr val="EEF6FC"/>
      </a:hlink>
      <a:folHlink>
        <a:srgbClr val="56CC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e 25" id="{EBCFF90B-FE23-4DF3-892D-7952A198CC3A}" vid="{44FF69D1-5BFF-4CF0-AEC7-1C55AA229D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370</TotalTime>
  <Words>2220</Words>
  <Application>Microsoft Office PowerPoint</Application>
  <PresentationFormat>Widescreen</PresentationFormat>
  <Paragraphs>154</Paragraphs>
  <Slides>26</Slides>
  <Notes>18</Notes>
  <HiddenSlides>0</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Aptos</vt:lpstr>
      <vt:lpstr>Arial</vt:lpstr>
      <vt:lpstr>Calibri</vt:lpstr>
      <vt:lpstr>Consolas</vt:lpstr>
      <vt:lpstr>Felix Titling</vt:lpstr>
      <vt:lpstr>Segoe UI</vt:lpstr>
      <vt:lpstr>Segoe UI Semibold</vt:lpstr>
      <vt:lpstr>Segoe UI Variable Display Semibold</vt:lpstr>
      <vt:lpstr>SF Mono</vt:lpstr>
      <vt:lpstr>Universe 25</vt:lpstr>
      <vt:lpstr>GitHub Copilot  Dev Days Hyderabad April 18th, 2026</vt:lpstr>
      <vt:lpstr>Customizing GitHub Copilot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Satya K</cp:lastModifiedBy>
  <cp:revision>1</cp:revision>
  <dcterms:created xsi:type="dcterms:W3CDTF">2026-03-03T18:56:24Z</dcterms:created>
  <dcterms:modified xsi:type="dcterms:W3CDTF">2026-04-19T09:14:05Z</dcterms:modified>
</cp:coreProperties>
</file>